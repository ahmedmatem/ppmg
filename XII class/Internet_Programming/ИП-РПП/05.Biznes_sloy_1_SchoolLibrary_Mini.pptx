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403D204-6DC8-4565-9C4C-3D58010DD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71A373A-138E-4471-8658-772DAE05D3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1D2CB7A-3573-4220-81F6-FB419ED97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C85D1E8-0484-4F3E-9147-7966F849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93F13C3-2267-4299-AE53-296FF2CA0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810B323-0882-42D5-B784-C3C011E93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C3395A2-E471-4CED-9E1C-432F2A709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4363C94-6788-48E9-A5E3-CA2D4815975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39FCA35-0E4E-4327-BEA0-CE6ADA13E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C47210-A3D2-4DE7-B26F-551BF90CB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3E0869-7F8E-42A7-BF5D-2392641B10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7CE162-55E3-4C95-9758-64D23A2A9A80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6FFFE9"/>
                </a:solidFill>
              </a:defRPr>
            </a:defPPr>
          </a:lstStyle>
          <a:p>
            <a:pPr algn="l">
              <a:defRPr sz="1200" b="1">
                <a:solidFill>
                  <a:srgbClr val="6FFFE9"/>
                </a:solidFill>
              </a:defRPr>
            </a:pPr>
            <a:r>
              <a:rPr sz="1200" b="1">
                <a:solidFill>
                  <a:srgbClr val="6FFFE9"/>
                </a:solidFill>
              </a:rPr>
              <a:t>ИП–РПП · 12. клас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47057A-AB6B-4DD6-896D-1258FDEEB1FF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57225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900" b="1">
                <a:solidFill>
                  <a:srgbClr val="FFFFFF"/>
                </a:solidFill>
              </a:defRPr>
            </a:defPPr>
          </a:lstStyle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Създаване на</a:t>
            </a:r>
          </a:p>
          <a:p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бизнес слоя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F743C7-FBE8-4152-B164-EE71DBDED6BE}"/>
              </a:ext>
            </a:extLst>
          </p:cNvPr>
          <p:cNvSpPr>
            <a:spLocks noGrp="1"/>
          </p:cNvSpPr>
          <p:nvPr/>
        </p:nvSpPr>
        <p:spPr>
          <a:xfrm>
            <a:off x="723900" y="30289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0">
                <a:solidFill>
                  <a:srgbClr val="F7F4EA"/>
                </a:solidFill>
              </a:defRPr>
            </a:defPPr>
          </a:lstStyle>
          <a:p>
            <a:pPr algn="l">
              <a:defRPr sz="1650" b="0">
                <a:solidFill>
                  <a:srgbClr val="F7F4EA"/>
                </a:solidFill>
              </a:defRPr>
            </a:pPr>
            <a:r>
              <a:rPr sz="1650" b="0">
                <a:solidFill>
                  <a:srgbClr val="F7F4EA"/>
                </a:solidFill>
              </a:rPr>
              <a:t>Част 1 от 3 · Домейнът на SchoolLibrary Mini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36AC43D-4479-4D4E-ABB5-F950C9B1BF71}"/>
              </a:ext>
            </a:extLst>
          </p:cNvPr>
          <p:cNvSpPr>
            <a:spLocks noGrp="1"/>
          </p:cNvSpPr>
          <p:nvPr/>
        </p:nvSpPr>
        <p:spPr>
          <a:xfrm>
            <a:off x="7953375" y="1066800"/>
            <a:ext cx="3238500" cy="3905250"/>
          </a:xfrm>
          <a:prstGeom prst="roundRect">
            <a:avLst>
              <a:gd name="adj" fmla="val 2353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335404-0DA0-4556-A204-E6B5F2F34ADC}"/>
              </a:ext>
            </a:extLst>
          </p:cNvPr>
          <p:cNvSpPr>
            <a:spLocks noGrp="1"/>
          </p:cNvSpPr>
          <p:nvPr/>
        </p:nvSpPr>
        <p:spPr>
          <a:xfrm>
            <a:off x="8124825" y="1162050"/>
            <a:ext cx="2895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ДНЕС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85194C-20AC-4C0A-B4BD-310618C23EF3}"/>
              </a:ext>
            </a:extLst>
          </p:cNvPr>
          <p:cNvSpPr>
            <a:spLocks noGrp="1"/>
          </p:cNvSpPr>
          <p:nvPr/>
        </p:nvSpPr>
        <p:spPr>
          <a:xfrm>
            <a:off x="8124825" y="1419225"/>
            <a:ext cx="2895600" cy="3448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SchoolLibrary.Business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Book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Category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Author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Reader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Loan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7175C1-CB54-4EBE-9303-753026B44D2D}"/>
              </a:ext>
            </a:extLst>
          </p:cNvPr>
          <p:cNvSpPr>
            <a:spLocks noGrp="1"/>
          </p:cNvSpPr>
          <p:nvPr/>
        </p:nvSpPr>
        <p:spPr>
          <a:xfrm>
            <a:off x="723900" y="590550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F4A261"/>
                </a:solidFill>
              </a:defRPr>
            </a:defPPr>
          </a:lstStyle>
          <a:p>
            <a:pPr algn="l">
              <a:defRPr sz="1200" b="1">
                <a:solidFill>
                  <a:srgbClr val="F4A261"/>
                </a:solidFill>
              </a:defRPr>
            </a:pPr>
            <a:r>
              <a:rPr sz="1200" b="1">
                <a:solidFill>
                  <a:srgbClr val="F4A261"/>
                </a:solidFill>
              </a:rPr>
              <a:t>1 учебен час · 45 минути</a:t>
            </a:r>
          </a:p>
        </p:txBody>
      </p:sp>
    </p:spTree>
    <p:extLst>
      <p:ext uri="{BB962C8B-B14F-4D97-AF65-F5344CB8AC3E}">
        <p14:creationId xmlns:p14="http://schemas.microsoft.com/office/powerpoint/2010/main" val="1471478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7FD5E86-6860-412E-B79F-B11C662547A5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7A25C1-C8D0-46FE-96A6-12BF9A215C1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Трите часа за бизнес слоя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DA9B13C-329E-442A-AE47-47147DA29F4F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29F157-97DF-4EF8-BCCF-3A2BDBB56AE1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DFF5F1"/>
          </a:solidFill>
          <a:ln w="9525">
            <a:solidFill>
              <a:srgbClr val="159A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C2BFE1-45B5-4BBD-B246-57FCB9F013C6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159A9C"/>
                </a:solidFill>
              </a:defRPr>
            </a:defPPr>
          </a:lstStyle>
          <a:p>
            <a:pPr algn="l">
              <a:defRPr sz="1725" b="1">
                <a:solidFill>
                  <a:srgbClr val="159A9C"/>
                </a:solidFill>
              </a:defRPr>
            </a:pPr>
            <a:r>
              <a:rPr sz="1725" b="1">
                <a:solidFill>
                  <a:srgbClr val="159A9C"/>
                </a:solidFill>
              </a:rPr>
              <a:t>Част 1 · днес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2DFA42-44CF-467F-8197-93E878DBCDBD}"/>
              </a:ext>
            </a:extLst>
          </p:cNvPr>
          <p:cNvSpPr>
            <a:spLocks noGrp="1"/>
          </p:cNvSpPr>
          <p:nvPr/>
        </p:nvSpPr>
        <p:spPr>
          <a:xfrm>
            <a:off x="904875" y="2476500"/>
            <a:ext cx="2667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Отделен Business проект, домейн модел и Book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B1D0CA-4CAE-4680-8F80-6E639D2CA3BF}"/>
              </a:ext>
            </a:extLst>
          </p:cNvPr>
          <p:cNvSpPr>
            <a:spLocks noGrp="1"/>
          </p:cNvSpPr>
          <p:nvPr/>
        </p:nvSpPr>
        <p:spPr>
          <a:xfrm>
            <a:off x="904875" y="409575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6770"/>
                </a:solidFill>
              </a:defRPr>
            </a:defPPr>
          </a:lstStyle>
          <a:p>
            <a:pPr algn="l"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Резултат: работещ бизнес проект и клас Book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5850C30-9A1D-4524-93C6-B6D7527A6FC7}"/>
              </a:ext>
            </a:extLst>
          </p:cNvPr>
          <p:cNvSpPr>
            <a:spLocks noGrp="1"/>
          </p:cNvSpPr>
          <p:nvPr/>
        </p:nvSpPr>
        <p:spPr>
          <a:xfrm>
            <a:off x="4238625" y="169545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693FA2-A075-4B6A-B301-B251F07C2369}"/>
              </a:ext>
            </a:extLst>
          </p:cNvPr>
          <p:cNvSpPr>
            <a:spLocks noGrp="1"/>
          </p:cNvSpPr>
          <p:nvPr/>
        </p:nvSpPr>
        <p:spPr>
          <a:xfrm>
            <a:off x="4476750" y="1952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0B132B"/>
                </a:solidFill>
              </a:defRPr>
            </a:defPPr>
          </a:lstStyle>
          <a:p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Част 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2A7BA7-E8BB-4F58-B03C-85C483250DA7}"/>
              </a:ext>
            </a:extLst>
          </p:cNvPr>
          <p:cNvSpPr>
            <a:spLocks noGrp="1"/>
          </p:cNvSpPr>
          <p:nvPr/>
        </p:nvSpPr>
        <p:spPr>
          <a:xfrm>
            <a:off x="4476750" y="2476500"/>
            <a:ext cx="2667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Връзки между обектите, Loan и правилата за заемане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0AAC1D-902B-4657-A16B-E409D46C00C1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6770"/>
                </a:solidFill>
              </a:defRPr>
            </a:defPPr>
          </a:lstStyle>
          <a:p>
            <a:pPr algn="l"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Надгражда същия домейн модел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D60290E-A0EB-4D3C-B074-EB5F70F3A881}"/>
              </a:ext>
            </a:extLst>
          </p:cNvPr>
          <p:cNvSpPr>
            <a:spLocks noGrp="1"/>
          </p:cNvSpPr>
          <p:nvPr/>
        </p:nvSpPr>
        <p:spPr>
          <a:xfrm>
            <a:off x="7810500" y="1695450"/>
            <a:ext cx="31432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56C45D-D3E0-4CAC-B0CC-8B537DFAD2E6}"/>
              </a:ext>
            </a:extLst>
          </p:cNvPr>
          <p:cNvSpPr>
            <a:spLocks noGrp="1"/>
          </p:cNvSpPr>
          <p:nvPr/>
        </p:nvSpPr>
        <p:spPr>
          <a:xfrm>
            <a:off x="8048625" y="1952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0B132B"/>
                </a:solidFill>
              </a:defRPr>
            </a:defPPr>
          </a:lstStyle>
          <a:p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Част 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431E3B-87FC-4D04-90EA-3529B004487C}"/>
              </a:ext>
            </a:extLst>
          </p:cNvPr>
          <p:cNvSpPr>
            <a:spLocks noGrp="1"/>
          </p:cNvSpPr>
          <p:nvPr/>
        </p:nvSpPr>
        <p:spPr>
          <a:xfrm>
            <a:off x="8048625" y="2476500"/>
            <a:ext cx="2667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Инварианти, домейн методи и подготовка за data слоя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524F9-A352-43B5-8AD5-E105FDD8454D}"/>
              </a:ext>
            </a:extLst>
          </p:cNvPr>
          <p:cNvSpPr>
            <a:spLocks noGrp="1"/>
          </p:cNvSpPr>
          <p:nvPr/>
        </p:nvSpPr>
        <p:spPr>
          <a:xfrm>
            <a:off x="8048625" y="4095750"/>
            <a:ext cx="2667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5B6770"/>
                </a:solidFill>
              </a:defRPr>
            </a:defPPr>
          </a:lstStyle>
          <a:p>
            <a:pPr algn="l">
              <a:defRPr sz="1125" b="0">
                <a:solidFill>
                  <a:srgbClr val="5B6770"/>
                </a:solidFill>
              </a:defRPr>
            </a:pPr>
            <a:r>
              <a:rPr sz="1125" b="0">
                <a:solidFill>
                  <a:srgbClr val="5B6770"/>
                </a:solidFill>
              </a:rPr>
              <a:t>Надгражда същия домейн модел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B85CEA-35CD-490B-A383-6B4FBC86964E}"/>
              </a:ext>
            </a:extLst>
          </p:cNvPr>
          <p:cNvSpPr>
            <a:spLocks noGrp="1"/>
          </p:cNvSpPr>
          <p:nvPr/>
        </p:nvSpPr>
        <p:spPr>
          <a:xfrm>
            <a:off x="666750" y="5286375"/>
            <a:ext cx="1028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650" b="1">
                <a:solidFill>
                  <a:srgbClr val="0B132B"/>
                </a:solidFill>
              </a:defRPr>
            </a:defPPr>
          </a:lstStyle>
          <a:p>
            <a:pPr algn="ctr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Сървис слоят ще използва тези класове на по-късен етап.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389F4B-1B84-4CFF-A54C-6D83F0BF43B8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0B48E70-7442-42A4-BD61-3E9E2259B531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922554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DC920CA-5A45-4CDB-91C9-A4F7376473EC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10FC09-5D8C-48D9-B75A-23C1EF0ACBA9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Какво вече имаме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70755A-BC37-40BC-B71B-A3D1D274B083}"/>
              </a:ext>
            </a:extLst>
          </p:cNvPr>
          <p:cNvSpPr>
            <a:spLocks noGrp="1"/>
          </p:cNvSpPr>
          <p:nvPr/>
        </p:nvSpPr>
        <p:spPr>
          <a:xfrm>
            <a:off x="1143000" y="7334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Активиране на предишни знания · 4 минути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39E479-A902-4955-8A0C-330AA1BB58F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728B9C-B1F2-4F53-BD39-4EA4DBB85964}"/>
              </a:ext>
            </a:extLst>
          </p:cNvPr>
          <p:cNvSpPr>
            <a:spLocks noGrp="1"/>
          </p:cNvSpPr>
          <p:nvPr/>
        </p:nvSpPr>
        <p:spPr>
          <a:xfrm>
            <a:off x="762000" y="150495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F56268-672F-415F-97B3-72BB0E224E35}"/>
              </a:ext>
            </a:extLst>
          </p:cNvPr>
          <p:cNvSpPr>
            <a:spLocks noGrp="1"/>
          </p:cNvSpPr>
          <p:nvPr/>
        </p:nvSpPr>
        <p:spPr>
          <a:xfrm>
            <a:off x="990600" y="15049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ASP.NET Core MVC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2C8374-B407-41EE-B63E-906BA4C99929}"/>
              </a:ext>
            </a:extLst>
          </p:cNvPr>
          <p:cNvSpPr>
            <a:spLocks noGrp="1"/>
          </p:cNvSpPr>
          <p:nvPr/>
        </p:nvSpPr>
        <p:spPr>
          <a:xfrm>
            <a:off x="990600" y="17907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Controllers, Razor Views, ViewModels и routing.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81A92-6E9E-4C67-AB1A-79EE0F854156}"/>
              </a:ext>
            </a:extLst>
          </p:cNvPr>
          <p:cNvSpPr>
            <a:spLocks noGrp="1"/>
          </p:cNvSpPr>
          <p:nvPr/>
        </p:nvSpPr>
        <p:spPr>
          <a:xfrm>
            <a:off x="762000" y="245745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8D1C47-430C-408D-8360-E8F0DEEC4C0E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Каталог в паметта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4E1C64-B22F-49D8-89FF-6F1F430052E5}"/>
              </a:ext>
            </a:extLst>
          </p:cNvPr>
          <p:cNvSpPr>
            <a:spLocks noGrp="1"/>
          </p:cNvSpPr>
          <p:nvPr/>
        </p:nvSpPr>
        <p:spPr>
          <a:xfrm>
            <a:off x="990600" y="27432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Временен списък от книги, използван от уеб проекта.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53E924-8CD1-4F20-9CB7-30D1724A8D2A}"/>
              </a:ext>
            </a:extLst>
          </p:cNvPr>
          <p:cNvSpPr>
            <a:spLocks noGrp="1"/>
          </p:cNvSpPr>
          <p:nvPr/>
        </p:nvSpPr>
        <p:spPr>
          <a:xfrm>
            <a:off x="762000" y="340995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DC3905-B9D2-4941-9138-B349BE998400}"/>
              </a:ext>
            </a:extLst>
          </p:cNvPr>
          <p:cNvSpPr>
            <a:spLocks noGrp="1"/>
          </p:cNvSpPr>
          <p:nvPr/>
        </p:nvSpPr>
        <p:spPr>
          <a:xfrm>
            <a:off x="990600" y="34099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GET и POST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E879AE-CEBD-4968-856C-AB04DA0E817F}"/>
              </a:ext>
            </a:extLst>
          </p:cNvPr>
          <p:cNvSpPr>
            <a:spLocks noGrp="1"/>
          </p:cNvSpPr>
          <p:nvPr/>
        </p:nvSpPr>
        <p:spPr>
          <a:xfrm>
            <a:off x="990600" y="36957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Формата приема данни и връща потребителя към каталога.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44EE4B6-3176-4CE9-A3A8-BBAF22ACA247}"/>
              </a:ext>
            </a:extLst>
          </p:cNvPr>
          <p:cNvSpPr>
            <a:spLocks noGrp="1"/>
          </p:cNvSpPr>
          <p:nvPr/>
        </p:nvSpPr>
        <p:spPr>
          <a:xfrm>
            <a:off x="6334125" y="1524000"/>
            <a:ext cx="4667250" cy="3143250"/>
          </a:xfrm>
          <a:prstGeom prst="roundRect">
            <a:avLst>
              <a:gd name="adj" fmla="val 2424"/>
            </a:avLst>
          </a:prstGeom>
          <a:solidFill>
            <a:srgbClr val="0B132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601CAE-FF65-412D-A620-D76C11B13304}"/>
              </a:ext>
            </a:extLst>
          </p:cNvPr>
          <p:cNvSpPr>
            <a:spLocks noGrp="1"/>
          </p:cNvSpPr>
          <p:nvPr/>
        </p:nvSpPr>
        <p:spPr>
          <a:xfrm>
            <a:off x="6667500" y="1809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6FFFE9"/>
                </a:solidFill>
              </a:defRPr>
            </a:defPPr>
          </a:lstStyle>
          <a:p>
            <a:pPr algn="l">
              <a:defRPr sz="1725" b="1">
                <a:solidFill>
                  <a:srgbClr val="6FFFE9"/>
                </a:solidFill>
              </a:defRPr>
            </a:pPr>
            <a:r>
              <a:rPr sz="1725" b="1">
                <a:solidFill>
                  <a:srgbClr val="6FFFE9"/>
                </a:solidFill>
              </a:rPr>
              <a:t>Въпрос към класа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05E1AA-9C1C-407A-8DF1-A5ED395D873F}"/>
              </a:ext>
            </a:extLst>
          </p:cNvPr>
          <p:cNvSpPr>
            <a:spLocks noGrp="1"/>
          </p:cNvSpPr>
          <p:nvPr/>
        </p:nvSpPr>
        <p:spPr>
          <a:xfrm>
            <a:off x="6667500" y="2381250"/>
            <a:ext cx="3905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025" b="1">
                <a:solidFill>
                  <a:srgbClr val="FFFFFF"/>
                </a:solidFill>
              </a:defRPr>
            </a:defPPr>
          </a:lstStyle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Кои понятия принадлежат на библиотеката, дори ако няма уеб сайт?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F81397-84D5-4ACC-929F-E61DB0D0A16F}"/>
              </a:ext>
            </a:extLst>
          </p:cNvPr>
          <p:cNvSpPr>
            <a:spLocks noGrp="1"/>
          </p:cNvSpPr>
          <p:nvPr/>
        </p:nvSpPr>
        <p:spPr>
          <a:xfrm>
            <a:off x="6667500" y="3638550"/>
            <a:ext cx="3905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F7F4EA"/>
                </a:solidFill>
              </a:defRPr>
            </a:defPPr>
          </a:lstStyle>
          <a:p>
            <a:pPr algn="l">
              <a:defRPr sz="1500" b="1">
                <a:solidFill>
                  <a:srgbClr val="F7F4EA"/>
                </a:solidFill>
              </a:defRPr>
            </a:pPr>
            <a:r>
              <a:rPr sz="1500" b="1">
                <a:solidFill>
                  <a:srgbClr val="F7F4EA"/>
                </a:solidFill>
              </a:rPr>
              <a:t>Точно те образуват домейна.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F983AE-8789-4548-8A53-5A91233605D7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DEFF80-53C3-48BB-A9AF-F8C0C60CD417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723299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B26E8495-53D7-47DB-AA0C-159035E8575A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962D2C-FAF2-4C27-A47C-498A8251EECF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Бизнес слой и домейн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7F36B8-F3A2-4B86-BBD1-15AF0DE4BA14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81BE28-EB1B-49E1-A67D-7E765EB350D1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1047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2025" b="1">
                <a:solidFill>
                  <a:srgbClr val="0B132B"/>
                </a:solidFill>
              </a:defRPr>
            </a:defPPr>
          </a:lstStyle>
          <a:p>
            <a:pPr algn="ctr">
              <a:defRPr sz="2025" b="1">
                <a:solidFill>
                  <a:srgbClr val="0B132B"/>
                </a:solidFill>
              </a:defRPr>
            </a:pPr>
            <a:r>
              <a:rPr sz="2025" b="1">
                <a:solidFill>
                  <a:srgbClr val="0B132B"/>
                </a:solidFill>
              </a:rPr>
              <a:t>Бизнес слоят представя предметната област и правилата, които винаги трябва да са верни.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17A489-A59A-4A1C-99CA-EFC7A715125D}"/>
              </a:ext>
            </a:extLst>
          </p:cNvPr>
          <p:cNvSpPr>
            <a:spLocks noGrp="1"/>
          </p:cNvSpPr>
          <p:nvPr/>
        </p:nvSpPr>
        <p:spPr>
          <a:xfrm>
            <a:off x="952500" y="257175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DF98F-49C0-45E5-92CD-DBF68279E2A2}"/>
              </a:ext>
            </a:extLst>
          </p:cNvPr>
          <p:cNvSpPr>
            <a:spLocks noGrp="1"/>
          </p:cNvSpPr>
          <p:nvPr/>
        </p:nvSpPr>
        <p:spPr>
          <a:xfrm>
            <a:off x="1181100" y="25717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Домейн обекти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BFBB05-10E8-45BA-9DC7-782990B85A90}"/>
              </a:ext>
            </a:extLst>
          </p:cNvPr>
          <p:cNvSpPr>
            <a:spLocks noGrp="1"/>
          </p:cNvSpPr>
          <p:nvPr/>
        </p:nvSpPr>
        <p:spPr>
          <a:xfrm>
            <a:off x="1181100" y="28575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Book, Author, Reader, Loan и Category.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27AB17-B43E-4AEC-8867-3A0C8AB7CE48}"/>
              </a:ext>
            </a:extLst>
          </p:cNvPr>
          <p:cNvSpPr>
            <a:spLocks noGrp="1"/>
          </p:cNvSpPr>
          <p:nvPr/>
        </p:nvSpPr>
        <p:spPr>
          <a:xfrm>
            <a:off x="952500" y="3619500"/>
            <a:ext cx="76200" cy="723900"/>
          </a:xfrm>
          <a:prstGeom prst="rect">
            <a:avLst/>
          </a:prstGeom>
          <a:solidFill>
            <a:srgbClr val="1C5D9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91B4CD-07D4-47E1-A82D-E8786A5112CE}"/>
              </a:ext>
            </a:extLst>
          </p:cNvPr>
          <p:cNvSpPr>
            <a:spLocks noGrp="1"/>
          </p:cNvSpPr>
          <p:nvPr/>
        </p:nvSpPr>
        <p:spPr>
          <a:xfrm>
            <a:off x="1181100" y="36195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Състояние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74D95-39CE-4F8C-AD0E-E6636EC46846}"/>
              </a:ext>
            </a:extLst>
          </p:cNvPr>
          <p:cNvSpPr>
            <a:spLocks noGrp="1"/>
          </p:cNvSpPr>
          <p:nvPr/>
        </p:nvSpPr>
        <p:spPr>
          <a:xfrm>
            <a:off x="1181100" y="390525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Заглавие, ISBN, налични копия, дати.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AF0A82-FA1E-4506-B5E0-D622A6FDC549}"/>
              </a:ext>
            </a:extLst>
          </p:cNvPr>
          <p:cNvSpPr>
            <a:spLocks noGrp="1"/>
          </p:cNvSpPr>
          <p:nvPr/>
        </p:nvSpPr>
        <p:spPr>
          <a:xfrm>
            <a:off x="6477000" y="2571750"/>
            <a:ext cx="76200" cy="723900"/>
          </a:xfrm>
          <a:prstGeom prst="rect">
            <a:avLst/>
          </a:prstGeom>
          <a:solidFill>
            <a:srgbClr val="2A9D6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8FAF28-DC2F-448B-B271-E68BEFF83AAC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Правила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7C478D-AEE7-4674-B6DF-E63836BF4C32}"/>
              </a:ext>
            </a:extLst>
          </p:cNvPr>
          <p:cNvSpPr>
            <a:spLocks noGrp="1"/>
          </p:cNvSpPr>
          <p:nvPr/>
        </p:nvSpPr>
        <p:spPr>
          <a:xfrm>
            <a:off x="6705600" y="285750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Книга не може да има отрицателен брой копия.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928A90-7FD4-4962-853D-F75154B1B80B}"/>
              </a:ext>
            </a:extLst>
          </p:cNvPr>
          <p:cNvSpPr>
            <a:spLocks noGrp="1"/>
          </p:cNvSpPr>
          <p:nvPr/>
        </p:nvSpPr>
        <p:spPr>
          <a:xfrm>
            <a:off x="6477000" y="3619500"/>
            <a:ext cx="76200" cy="72390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0C4A0A-6BB2-4F57-9A75-99A68F7AF33C}"/>
              </a:ext>
            </a:extLst>
          </p:cNvPr>
          <p:cNvSpPr>
            <a:spLocks noGrp="1"/>
          </p:cNvSpPr>
          <p:nvPr/>
        </p:nvSpPr>
        <p:spPr>
          <a:xfrm>
            <a:off x="6705600" y="3619500"/>
            <a:ext cx="4533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Поведение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F1FFC3-265D-45DA-A1FE-ECB3BAC0C60C}"/>
              </a:ext>
            </a:extLst>
          </p:cNvPr>
          <p:cNvSpPr>
            <a:spLocks noGrp="1"/>
          </p:cNvSpPr>
          <p:nvPr/>
        </p:nvSpPr>
        <p:spPr>
          <a:xfrm>
            <a:off x="6705600" y="3905250"/>
            <a:ext cx="4533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Книгата увеличава или намалява броя на копията чрез метод.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809B73-D3AB-4811-A5D0-038B5227E6CB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AB535A-17F0-441C-BA21-8882EC6274BA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1806358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11E32FE-59DD-4314-BEA2-216C43B2FBB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1C6845-8ADE-4E15-8500-5136677E429F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Граници между слоевете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BA120BB-3B08-4332-9515-BCA2CF5BA3DC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B73796E-9247-499E-B9F1-44F2719734D2}"/>
              </a:ext>
            </a:extLst>
          </p:cNvPr>
          <p:cNvSpPr>
            <a:spLocks noGrp="1"/>
          </p:cNvSpPr>
          <p:nvPr/>
        </p:nvSpPr>
        <p:spPr>
          <a:xfrm>
            <a:off x="2190750" y="1428750"/>
            <a:ext cx="78105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C665D0-7E98-4435-BB6F-2CDC4F222F33}"/>
              </a:ext>
            </a:extLst>
          </p:cNvPr>
          <p:cNvSpPr>
            <a:spLocks noGrp="1"/>
          </p:cNvSpPr>
          <p:nvPr/>
        </p:nvSpPr>
        <p:spPr>
          <a:xfrm>
            <a:off x="2476500" y="15240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C5D99"/>
                </a:solidFill>
              </a:defRPr>
            </a:defPPr>
          </a:lstStyle>
          <a:p>
            <a:pPr algn="l">
              <a:defRPr sz="1425" b="1">
                <a:solidFill>
                  <a:srgbClr val="1C5D99"/>
                </a:solidFill>
              </a:defRPr>
            </a:pPr>
            <a:r>
              <a:rPr sz="1425" b="1">
                <a:solidFill>
                  <a:srgbClr val="1C5D99"/>
                </a:solidFill>
              </a:rPr>
              <a:t>WEB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96AE83-580D-413A-8F08-A706D28A285A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04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Controller, ViewModel, Razor 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C924F96-1486-40F8-83D6-2BA4FFD7A675}"/>
              </a:ext>
            </a:extLst>
          </p:cNvPr>
          <p:cNvSpPr>
            <a:spLocks noGrp="1"/>
          </p:cNvSpPr>
          <p:nvPr/>
        </p:nvSpPr>
        <p:spPr>
          <a:xfrm>
            <a:off x="2190750" y="2400300"/>
            <a:ext cx="78105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300790-1A9B-4F7C-8D2C-2A96DB822B70}"/>
              </a:ext>
            </a:extLst>
          </p:cNvPr>
          <p:cNvSpPr>
            <a:spLocks noGrp="1"/>
          </p:cNvSpPr>
          <p:nvPr/>
        </p:nvSpPr>
        <p:spPr>
          <a:xfrm>
            <a:off x="2476500" y="24955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C5D99"/>
                </a:solidFill>
              </a:defRPr>
            </a:defPPr>
          </a:lstStyle>
          <a:p>
            <a:pPr algn="l">
              <a:defRPr sz="1425" b="1">
                <a:solidFill>
                  <a:srgbClr val="1C5D99"/>
                </a:solidFill>
              </a:defRPr>
            </a:pPr>
            <a:r>
              <a:rPr sz="1425" b="1">
                <a:solidFill>
                  <a:srgbClr val="1C5D99"/>
                </a:solidFill>
              </a:rPr>
              <a:t>SERVICES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CCED03-BA24-4C92-9730-0AC7E5FECB1F}"/>
              </a:ext>
            </a:extLst>
          </p:cNvPr>
          <p:cNvSpPr>
            <a:spLocks noGrp="1"/>
          </p:cNvSpPr>
          <p:nvPr/>
        </p:nvSpPr>
        <p:spPr>
          <a:xfrm>
            <a:off x="4572000" y="2495550"/>
            <a:ext cx="504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Ще бъдат добавени на по-късен етап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AE74A8-04D0-423B-A222-474E96E94439}"/>
              </a:ext>
            </a:extLst>
          </p:cNvPr>
          <p:cNvSpPr>
            <a:spLocks noGrp="1"/>
          </p:cNvSpPr>
          <p:nvPr/>
        </p:nvSpPr>
        <p:spPr>
          <a:xfrm>
            <a:off x="2190750" y="3371850"/>
            <a:ext cx="7810500" cy="704850"/>
          </a:xfrm>
          <a:prstGeom prst="roundRect">
            <a:avLst>
              <a:gd name="adj" fmla="val 10811"/>
            </a:avLst>
          </a:prstGeom>
          <a:solidFill>
            <a:srgbClr val="DFF5F1"/>
          </a:solidFill>
          <a:ln w="9525">
            <a:solidFill>
              <a:srgbClr val="159A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43883D-E14A-4C47-A07F-CE045346C43B}"/>
              </a:ext>
            </a:extLst>
          </p:cNvPr>
          <p:cNvSpPr>
            <a:spLocks noGrp="1"/>
          </p:cNvSpPr>
          <p:nvPr/>
        </p:nvSpPr>
        <p:spPr>
          <a:xfrm>
            <a:off x="2476500" y="346710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59A9C"/>
                </a:solidFill>
              </a:defRPr>
            </a:defPPr>
          </a:lstStyle>
          <a:p>
            <a:pPr algn="l">
              <a:defRPr sz="1425" b="1">
                <a:solidFill>
                  <a:srgbClr val="159A9C"/>
                </a:solidFill>
              </a:defRPr>
            </a:pPr>
            <a:r>
              <a:rPr sz="1425" b="1">
                <a:solidFill>
                  <a:srgbClr val="159A9C"/>
                </a:solidFill>
              </a:rPr>
              <a:t>BUSINESS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F54855-9FCF-43DA-9385-2EF083A92C40}"/>
              </a:ext>
            </a:extLst>
          </p:cNvPr>
          <p:cNvSpPr>
            <a:spLocks noGrp="1"/>
          </p:cNvSpPr>
          <p:nvPr/>
        </p:nvSpPr>
        <p:spPr>
          <a:xfrm>
            <a:off x="4572000" y="3467100"/>
            <a:ext cx="504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Домейн модели и бизнес правила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909DB7F-A2A7-432B-AA6D-8ED129D3FC36}"/>
              </a:ext>
            </a:extLst>
          </p:cNvPr>
          <p:cNvSpPr>
            <a:spLocks noGrp="1"/>
          </p:cNvSpPr>
          <p:nvPr/>
        </p:nvSpPr>
        <p:spPr>
          <a:xfrm>
            <a:off x="2190750" y="4343400"/>
            <a:ext cx="7810500" cy="704850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E1EEDD-642D-4271-A935-31180B9AE4A5}"/>
              </a:ext>
            </a:extLst>
          </p:cNvPr>
          <p:cNvSpPr>
            <a:spLocks noGrp="1"/>
          </p:cNvSpPr>
          <p:nvPr/>
        </p:nvSpPr>
        <p:spPr>
          <a:xfrm>
            <a:off x="2476500" y="4438650"/>
            <a:ext cx="200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1C5D99"/>
                </a:solidFill>
              </a:defRPr>
            </a:defPPr>
          </a:lstStyle>
          <a:p>
            <a:pPr algn="l">
              <a:defRPr sz="1425" b="1">
                <a:solidFill>
                  <a:srgbClr val="1C5D99"/>
                </a:solidFill>
              </a:defRPr>
            </a:pPr>
            <a:r>
              <a:rPr sz="1425" b="1">
                <a:solidFill>
                  <a:srgbClr val="1C5D99"/>
                </a:solidFill>
              </a:rPr>
              <a:t>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9E1217-7E4F-44D4-AFA8-DE1816F7E449}"/>
              </a:ext>
            </a:extLst>
          </p:cNvPr>
          <p:cNvSpPr>
            <a:spLocks noGrp="1"/>
          </p:cNvSpPr>
          <p:nvPr/>
        </p:nvSpPr>
        <p:spPr>
          <a:xfrm>
            <a:off x="4572000" y="4438650"/>
            <a:ext cx="5048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02A"/>
                </a:solidFill>
              </a:defRPr>
            </a:defPPr>
          </a:lstStyle>
          <a:p>
            <a:pPr algn="l">
              <a:defRPr sz="1350" b="0">
                <a:solidFill>
                  <a:srgbClr val="17202A"/>
                </a:solidFill>
              </a:defRPr>
            </a:pPr>
            <a:r>
              <a:rPr sz="1350" b="0">
                <a:solidFill>
                  <a:srgbClr val="17202A"/>
                </a:solidFill>
              </a:rPr>
              <a:t>Ще съхранява обектите по-късно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E1A6A-2FB0-4A15-9DD0-73F502B30130}"/>
              </a:ext>
            </a:extLst>
          </p:cNvPr>
          <p:cNvSpPr>
            <a:spLocks noGrp="1"/>
          </p:cNvSpPr>
          <p:nvPr/>
        </p:nvSpPr>
        <p:spPr>
          <a:xfrm>
            <a:off x="2381250" y="552450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0B132B"/>
                </a:solidFill>
              </a:defRPr>
            </a:defPPr>
          </a:lstStyle>
          <a:p>
            <a:pPr algn="ctr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Днес работим само в BUSINESS.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36C9FD-AEB4-43AF-9893-06D6DC4CF29A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E9E9FC-6B6C-49A7-8FA4-B58788686873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271872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42E6B23-4746-4FE8-855F-448DDAD3698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C8E82D-F309-41F2-8179-9AC0329B8836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Структура на решението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21F51F-93D1-44D7-B90C-6B5ACE02A3AD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899F477-438E-4273-8F87-0149AB7BA1A3}"/>
              </a:ext>
            </a:extLst>
          </p:cNvPr>
          <p:cNvSpPr>
            <a:spLocks noGrp="1"/>
          </p:cNvSpPr>
          <p:nvPr/>
        </p:nvSpPr>
        <p:spPr>
          <a:xfrm>
            <a:off x="1047750" y="1381125"/>
            <a:ext cx="6191250" cy="4333875"/>
          </a:xfrm>
          <a:prstGeom prst="roundRect">
            <a:avLst>
              <a:gd name="adj" fmla="val 1758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563F3A-AFBF-41A1-AA89-E0CCF5723730}"/>
              </a:ext>
            </a:extLst>
          </p:cNvPr>
          <p:cNvSpPr>
            <a:spLocks noGrp="1"/>
          </p:cNvSpPr>
          <p:nvPr/>
        </p:nvSpPr>
        <p:spPr>
          <a:xfrm>
            <a:off x="1219200" y="1476375"/>
            <a:ext cx="584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Solution Explorer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A4EA5A-BDC0-489C-83D0-C00DBB3EBEFF}"/>
              </a:ext>
            </a:extLst>
          </p:cNvPr>
          <p:cNvSpPr>
            <a:spLocks noGrp="1"/>
          </p:cNvSpPr>
          <p:nvPr/>
        </p:nvSpPr>
        <p:spPr>
          <a:xfrm>
            <a:off x="1219200" y="1733550"/>
            <a:ext cx="5848350" cy="387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SchoolLibrary.sln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├── </a:t>
            </a:r>
            <a:r>
              <a:rPr sz="1125" b="0" dirty="0" err="1">
                <a:solidFill>
                  <a:srgbClr val="FFFFFF"/>
                </a:solidFill>
              </a:rPr>
              <a:t>SchoolLibrary.Web</a:t>
            </a:r>
            <a:endParaRPr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lang="en-GB" sz="1125" b="0" dirty="0">
                <a:solidFill>
                  <a:srgbClr val="FFFFFF"/>
                </a:solidFill>
              </a:rPr>
              <a:t>│   ├── Controllers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lang="en-GB" sz="1125" b="0" dirty="0">
                <a:solidFill>
                  <a:srgbClr val="FFFFFF"/>
                </a:solidFill>
              </a:rPr>
              <a:t>│   ├── </a:t>
            </a:r>
            <a:r>
              <a:rPr lang="en-GB" sz="1125" b="0" dirty="0" err="1">
                <a:solidFill>
                  <a:srgbClr val="FFFFFF"/>
                </a:solidFill>
              </a:rPr>
              <a:t>ViewModels</a:t>
            </a:r>
            <a:endParaRPr lang="en-GB"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lang="en-GB" sz="1125" b="0" dirty="0">
                <a:solidFill>
                  <a:srgbClr val="FFFFFF"/>
                </a:solidFill>
              </a:rPr>
              <a:t>│    └── Views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lang="en-GB" sz="1125" b="0" dirty="0">
                <a:solidFill>
                  <a:srgbClr val="FFFFFF"/>
                </a:solidFill>
              </a:rPr>
              <a:t>└── </a:t>
            </a:r>
            <a:r>
              <a:rPr lang="en-GB" sz="1125" b="0" dirty="0" err="1">
                <a:solidFill>
                  <a:srgbClr val="FFFFFF"/>
                </a:solidFill>
              </a:rPr>
              <a:t>SchoolLibrary.Business</a:t>
            </a:r>
            <a:endParaRPr lang="en-GB"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├── Models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│   ├── </a:t>
            </a:r>
            <a:r>
              <a:rPr sz="1125" b="0" dirty="0" err="1">
                <a:solidFill>
                  <a:srgbClr val="FFFFFF"/>
                </a:solidFill>
              </a:rPr>
              <a:t>Book.cs</a:t>
            </a:r>
            <a:endParaRPr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│   ├── </a:t>
            </a:r>
            <a:r>
              <a:rPr sz="1125" b="0" dirty="0" err="1">
                <a:solidFill>
                  <a:srgbClr val="FFFFFF"/>
                </a:solidFill>
              </a:rPr>
              <a:t>Author.cs</a:t>
            </a:r>
            <a:endParaRPr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│   ├── </a:t>
            </a:r>
            <a:r>
              <a:rPr sz="1125" b="0" dirty="0" err="1">
                <a:solidFill>
                  <a:srgbClr val="FFFFFF"/>
                </a:solidFill>
              </a:rPr>
              <a:t>Category.cs</a:t>
            </a:r>
            <a:endParaRPr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│   ├── </a:t>
            </a:r>
            <a:r>
              <a:rPr sz="1125" b="0" dirty="0" err="1">
                <a:solidFill>
                  <a:srgbClr val="FFFFFF"/>
                </a:solidFill>
              </a:rPr>
              <a:t>Reader.cs</a:t>
            </a:r>
            <a:endParaRPr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│   </a:t>
            </a:r>
            <a:r>
              <a:rPr lang="en-GB" sz="1125" b="0" dirty="0">
                <a:solidFill>
                  <a:srgbClr val="FFFFFF"/>
                </a:solidFill>
              </a:rPr>
              <a:t> </a:t>
            </a:r>
            <a:r>
              <a:rPr sz="1125" b="0" dirty="0">
                <a:solidFill>
                  <a:srgbClr val="FFFFFF"/>
                </a:solidFill>
              </a:rPr>
              <a:t>└── </a:t>
            </a:r>
            <a:r>
              <a:rPr sz="1125" b="0" dirty="0" err="1">
                <a:solidFill>
                  <a:srgbClr val="FFFFFF"/>
                </a:solidFill>
              </a:rPr>
              <a:t>Loan.cs</a:t>
            </a:r>
            <a:endParaRPr sz="1125" b="0" dirty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 dirty="0">
                <a:solidFill>
                  <a:srgbClr val="FFFFFF"/>
                </a:solidFill>
              </a:rPr>
              <a:t>    └── Enums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1C3A56-3883-4BBD-A47C-583A4B6C91F4}"/>
              </a:ext>
            </a:extLst>
          </p:cNvPr>
          <p:cNvSpPr>
            <a:spLocks noGrp="1"/>
          </p:cNvSpPr>
          <p:nvPr/>
        </p:nvSpPr>
        <p:spPr>
          <a:xfrm>
            <a:off x="7810500" y="180975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F7232E-9B8F-44A8-9165-9B03ECAB10FA}"/>
              </a:ext>
            </a:extLst>
          </p:cNvPr>
          <p:cNvSpPr>
            <a:spLocks noGrp="1"/>
          </p:cNvSpPr>
          <p:nvPr/>
        </p:nvSpPr>
        <p:spPr>
          <a:xfrm>
            <a:off x="8039100" y="180975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Независим проект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6778C-8566-46C1-88A8-A67987AB6BC1}"/>
              </a:ext>
            </a:extLst>
          </p:cNvPr>
          <p:cNvSpPr>
            <a:spLocks noGrp="1"/>
          </p:cNvSpPr>
          <p:nvPr/>
        </p:nvSpPr>
        <p:spPr>
          <a:xfrm>
            <a:off x="8039100" y="209550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Business не трябва да зависи от Web.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C8E1C8-38E0-4CDF-99C9-DA498EE79CCA}"/>
              </a:ext>
            </a:extLst>
          </p:cNvPr>
          <p:cNvSpPr>
            <a:spLocks noGrp="1"/>
          </p:cNvSpPr>
          <p:nvPr/>
        </p:nvSpPr>
        <p:spPr>
          <a:xfrm>
            <a:off x="7810500" y="2905125"/>
            <a:ext cx="76200" cy="723900"/>
          </a:xfrm>
          <a:prstGeom prst="rect">
            <a:avLst/>
          </a:prstGeom>
          <a:solidFill>
            <a:srgbClr val="1C5D9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A44952-16A6-4A13-B90D-287675E9B985}"/>
              </a:ext>
            </a:extLst>
          </p:cNvPr>
          <p:cNvSpPr>
            <a:spLocks noGrp="1"/>
          </p:cNvSpPr>
          <p:nvPr/>
        </p:nvSpPr>
        <p:spPr>
          <a:xfrm>
            <a:off x="8039100" y="2905125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Една посока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E0422E-41B7-4284-8D48-8D492AA9FB07}"/>
              </a:ext>
            </a:extLst>
          </p:cNvPr>
          <p:cNvSpPr>
            <a:spLocks noGrp="1"/>
          </p:cNvSpPr>
          <p:nvPr/>
        </p:nvSpPr>
        <p:spPr>
          <a:xfrm>
            <a:off x="8039100" y="3190875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Web добавя reference към Business.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0B037C-8D5F-45F9-820A-8144019DA55B}"/>
              </a:ext>
            </a:extLst>
          </p:cNvPr>
          <p:cNvSpPr>
            <a:spLocks noGrp="1"/>
          </p:cNvSpPr>
          <p:nvPr/>
        </p:nvSpPr>
        <p:spPr>
          <a:xfrm>
            <a:off x="7810500" y="4000500"/>
            <a:ext cx="76200" cy="72390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C5880B-1DEC-4CB6-BF05-EB9671B88F18}"/>
              </a:ext>
            </a:extLst>
          </p:cNvPr>
          <p:cNvSpPr>
            <a:spLocks noGrp="1"/>
          </p:cNvSpPr>
          <p:nvPr/>
        </p:nvSpPr>
        <p:spPr>
          <a:xfrm>
            <a:off x="8039100" y="4000500"/>
            <a:ext cx="3105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Подготовка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810145-0B41-4D51-B64F-7950F0C608E2}"/>
              </a:ext>
            </a:extLst>
          </p:cNvPr>
          <p:cNvSpPr>
            <a:spLocks noGrp="1"/>
          </p:cNvSpPr>
          <p:nvPr/>
        </p:nvSpPr>
        <p:spPr>
          <a:xfrm>
            <a:off x="8039100" y="4286250"/>
            <a:ext cx="3105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Data и Services ще се включат по-късно.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813591-68F3-464C-AB37-37E7568CC8F2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9B73F0-6274-4AC6-8A5D-7FC56075448D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95601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6CB0631-A656-4CEE-BFDE-4B3D23FBA5F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57DE705-4953-40D3-9D5D-469EDE3AC381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Създаване на SchoolLibrary.Business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A20BC5-EE90-4D5B-8CCF-7896A18DCC5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F21149-717F-410C-89F7-4672761955DF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0477500" cy="2000250"/>
          </a:xfrm>
          <a:prstGeom prst="roundRect">
            <a:avLst>
              <a:gd name="adj" fmla="val 3810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ECD865-9241-4E19-99BE-8D39F18C7259}"/>
              </a:ext>
            </a:extLst>
          </p:cNvPr>
          <p:cNvSpPr>
            <a:spLocks noGrp="1"/>
          </p:cNvSpPr>
          <p:nvPr/>
        </p:nvSpPr>
        <p:spPr>
          <a:xfrm>
            <a:off x="1028700" y="1714500"/>
            <a:ext cx="10134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TERMINAL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DBDAED-0A44-4923-B7B0-B41FA0C686AD}"/>
              </a:ext>
            </a:extLst>
          </p:cNvPr>
          <p:cNvSpPr>
            <a:spLocks noGrp="1"/>
          </p:cNvSpPr>
          <p:nvPr/>
        </p:nvSpPr>
        <p:spPr>
          <a:xfrm>
            <a:off x="1028700" y="1971675"/>
            <a:ext cx="10134600" cy="1543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dotnet new classlib -n SchoolLibrary.Business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dotnet sln add SchoolLibrary.Business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dotnet add SchoolLibrary.Web reference SchoolLibrary.Business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576921-E51D-4745-8DFB-70E06DFDAAA7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0B132B"/>
                </a:solidFill>
              </a:defRPr>
            </a:defPPr>
          </a:lstStyle>
          <a:p>
            <a:pPr algn="l">
              <a:defRPr sz="1650" b="1">
                <a:solidFill>
                  <a:srgbClr val="0B132B"/>
                </a:solidFill>
              </a:defRPr>
            </a:pPr>
            <a:r>
              <a:rPr sz="1650" b="1">
                <a:solidFill>
                  <a:srgbClr val="0B132B"/>
                </a:solidFill>
              </a:rPr>
              <a:t>Във Visual Studio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C3DB09-CABC-4CA7-B1F8-C145AE12CC58}"/>
              </a:ext>
            </a:extLst>
          </p:cNvPr>
          <p:cNvSpPr>
            <a:spLocks noGrp="1"/>
          </p:cNvSpPr>
          <p:nvPr/>
        </p:nvSpPr>
        <p:spPr>
          <a:xfrm>
            <a:off x="952500" y="4514850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0">
                <a:solidFill>
                  <a:srgbClr val="17202A"/>
                </a:solidFill>
              </a:defRPr>
            </a:defPPr>
          </a:lstStyle>
          <a:p>
            <a:pPr algn="l">
              <a:defRPr sz="1500" b="0">
                <a:solidFill>
                  <a:srgbClr val="17202A"/>
                </a:solidFill>
              </a:defRPr>
            </a:pPr>
            <a:r>
              <a:rPr sz="1500" b="0">
                <a:solidFill>
                  <a:srgbClr val="17202A"/>
                </a:solidFill>
              </a:rPr>
              <a:t>Add → New Project → Class Library → SchoolLibrary.Business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DC3A72E-3EA5-4626-9801-1AE2FF2909E2}"/>
              </a:ext>
            </a:extLst>
          </p:cNvPr>
          <p:cNvSpPr>
            <a:spLocks noGrp="1"/>
          </p:cNvSpPr>
          <p:nvPr/>
        </p:nvSpPr>
        <p:spPr>
          <a:xfrm>
            <a:off x="2000250" y="5286375"/>
            <a:ext cx="8191500" cy="457200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9E7EDF-4E27-4DC1-B502-F5020F57F22D}"/>
              </a:ext>
            </a:extLst>
          </p:cNvPr>
          <p:cNvSpPr>
            <a:spLocks noGrp="1"/>
          </p:cNvSpPr>
          <p:nvPr/>
        </p:nvSpPr>
        <p:spPr>
          <a:xfrm>
            <a:off x="2190750" y="533400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Проверка: Business не съдържа Controllers, Views или HTTP типове.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7C9521-EF44-4779-BA68-E8490ED44C74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F14FF6-1F4C-456A-97B1-581B6D30C121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1798498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7877C7-CC97-45F5-9FE1-1269FE6F5B63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88EEEF-E6FD-4771-9739-0B2CD0F20646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Езикът на мини библиотеката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CD143E-00B5-484D-93FB-6CF00CFD66A9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04C972-24B4-4F06-A479-1F361726F731}"/>
              </a:ext>
            </a:extLst>
          </p:cNvPr>
          <p:cNvSpPr>
            <a:spLocks noGrp="1"/>
          </p:cNvSpPr>
          <p:nvPr/>
        </p:nvSpPr>
        <p:spPr>
          <a:xfrm>
            <a:off x="809625" y="1476375"/>
            <a:ext cx="32385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7063FF-9390-4BB6-9AD3-120F6E0C4592}"/>
              </a:ext>
            </a:extLst>
          </p:cNvPr>
          <p:cNvSpPr>
            <a:spLocks noGrp="1"/>
          </p:cNvSpPr>
          <p:nvPr/>
        </p:nvSpPr>
        <p:spPr>
          <a:xfrm>
            <a:off x="1019175" y="16478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59A9C"/>
                </a:solidFill>
              </a:defRPr>
            </a:defPPr>
          </a:lstStyle>
          <a:p>
            <a:pPr algn="l">
              <a:defRPr sz="1650" b="1">
                <a:solidFill>
                  <a:srgbClr val="159A9C"/>
                </a:solidFill>
              </a:defRPr>
            </a:pPr>
            <a:r>
              <a:rPr sz="1650" b="1">
                <a:solidFill>
                  <a:srgbClr val="159A9C"/>
                </a:solidFill>
              </a:rPr>
              <a:t>Book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D76E9D-F076-4F89-9FAF-88BE8137C782}"/>
              </a:ext>
            </a:extLst>
          </p:cNvPr>
          <p:cNvSpPr>
            <a:spLocks noGrp="1"/>
          </p:cNvSpPr>
          <p:nvPr/>
        </p:nvSpPr>
        <p:spPr>
          <a:xfrm>
            <a:off x="1019175" y="2066925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книга в каталога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205096-16B4-4B12-8041-777A14111558}"/>
              </a:ext>
            </a:extLst>
          </p:cNvPr>
          <p:cNvSpPr>
            <a:spLocks noGrp="1"/>
          </p:cNvSpPr>
          <p:nvPr/>
        </p:nvSpPr>
        <p:spPr>
          <a:xfrm>
            <a:off x="4524375" y="1476375"/>
            <a:ext cx="32385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C95CA-DC50-4E10-9EA7-C1CD411650BF}"/>
              </a:ext>
            </a:extLst>
          </p:cNvPr>
          <p:cNvSpPr>
            <a:spLocks noGrp="1"/>
          </p:cNvSpPr>
          <p:nvPr/>
        </p:nvSpPr>
        <p:spPr>
          <a:xfrm>
            <a:off x="4733925" y="16478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59A9C"/>
                </a:solidFill>
              </a:defRPr>
            </a:defPPr>
          </a:lstStyle>
          <a:p>
            <a:pPr algn="l">
              <a:defRPr sz="1650" b="1">
                <a:solidFill>
                  <a:srgbClr val="159A9C"/>
                </a:solidFill>
              </a:defRPr>
            </a:pPr>
            <a:r>
              <a:rPr sz="1650" b="1">
                <a:solidFill>
                  <a:srgbClr val="159A9C"/>
                </a:solidFill>
              </a:rPr>
              <a:t>Author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6E9DF1-724D-42AD-9CCD-01853CB879D7}"/>
              </a:ext>
            </a:extLst>
          </p:cNvPr>
          <p:cNvSpPr>
            <a:spLocks noGrp="1"/>
          </p:cNvSpPr>
          <p:nvPr/>
        </p:nvSpPr>
        <p:spPr>
          <a:xfrm>
            <a:off x="4733925" y="2066925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автор на книги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25DA97F-300F-47B5-8E3B-A9C22EDC59EA}"/>
              </a:ext>
            </a:extLst>
          </p:cNvPr>
          <p:cNvSpPr>
            <a:spLocks noGrp="1"/>
          </p:cNvSpPr>
          <p:nvPr/>
        </p:nvSpPr>
        <p:spPr>
          <a:xfrm>
            <a:off x="8239125" y="1476375"/>
            <a:ext cx="32385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F441EB-6C63-4B7F-B13A-D5201D6F3CDB}"/>
              </a:ext>
            </a:extLst>
          </p:cNvPr>
          <p:cNvSpPr>
            <a:spLocks noGrp="1"/>
          </p:cNvSpPr>
          <p:nvPr/>
        </p:nvSpPr>
        <p:spPr>
          <a:xfrm>
            <a:off x="8448675" y="164782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59A9C"/>
                </a:solidFill>
              </a:defRPr>
            </a:defPPr>
          </a:lstStyle>
          <a:p>
            <a:pPr algn="l">
              <a:defRPr sz="1650" b="1">
                <a:solidFill>
                  <a:srgbClr val="159A9C"/>
                </a:solidFill>
              </a:defRPr>
            </a:pPr>
            <a:r>
              <a:rPr sz="1650" b="1">
                <a:solidFill>
                  <a:srgbClr val="159A9C"/>
                </a:solidFill>
              </a:rPr>
              <a:t>Category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A0B90A-296E-4DAA-8BB5-3A003DAB98C7}"/>
              </a:ext>
            </a:extLst>
          </p:cNvPr>
          <p:cNvSpPr>
            <a:spLocks noGrp="1"/>
          </p:cNvSpPr>
          <p:nvPr/>
        </p:nvSpPr>
        <p:spPr>
          <a:xfrm>
            <a:off x="8448675" y="2066925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жанр или тематична група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8A6266-5D63-4155-AB1E-20404C2B5655}"/>
              </a:ext>
            </a:extLst>
          </p:cNvPr>
          <p:cNvSpPr>
            <a:spLocks noGrp="1"/>
          </p:cNvSpPr>
          <p:nvPr/>
        </p:nvSpPr>
        <p:spPr>
          <a:xfrm>
            <a:off x="809625" y="3095625"/>
            <a:ext cx="32385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FD065C-2385-4C0F-A0FF-9BCC4F3E9B6E}"/>
              </a:ext>
            </a:extLst>
          </p:cNvPr>
          <p:cNvSpPr>
            <a:spLocks noGrp="1"/>
          </p:cNvSpPr>
          <p:nvPr/>
        </p:nvSpPr>
        <p:spPr>
          <a:xfrm>
            <a:off x="1019175" y="326707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59A9C"/>
                </a:solidFill>
              </a:defRPr>
            </a:defPPr>
          </a:lstStyle>
          <a:p>
            <a:pPr algn="l">
              <a:defRPr sz="1650" b="1">
                <a:solidFill>
                  <a:srgbClr val="159A9C"/>
                </a:solidFill>
              </a:defRPr>
            </a:pPr>
            <a:r>
              <a:rPr sz="1650" b="1">
                <a:solidFill>
                  <a:srgbClr val="159A9C"/>
                </a:solidFill>
              </a:rPr>
              <a:t>Reader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82A8BF-5410-4096-8E9F-E18D0CB626F0}"/>
              </a:ext>
            </a:extLst>
          </p:cNvPr>
          <p:cNvSpPr>
            <a:spLocks noGrp="1"/>
          </p:cNvSpPr>
          <p:nvPr/>
        </p:nvSpPr>
        <p:spPr>
          <a:xfrm>
            <a:off x="1019175" y="3686175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регистриран читател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82A63C-8D84-4758-A7DD-1AC23A9CB97F}"/>
              </a:ext>
            </a:extLst>
          </p:cNvPr>
          <p:cNvSpPr>
            <a:spLocks noGrp="1"/>
          </p:cNvSpPr>
          <p:nvPr/>
        </p:nvSpPr>
        <p:spPr>
          <a:xfrm>
            <a:off x="4524375" y="3095625"/>
            <a:ext cx="3238500" cy="1190625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CAD5D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3716B8-EEE3-4E7F-8857-648DA6A3E5C1}"/>
              </a:ext>
            </a:extLst>
          </p:cNvPr>
          <p:cNvSpPr>
            <a:spLocks noGrp="1"/>
          </p:cNvSpPr>
          <p:nvPr/>
        </p:nvSpPr>
        <p:spPr>
          <a:xfrm>
            <a:off x="4733925" y="3267075"/>
            <a:ext cx="2819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59A9C"/>
                </a:solidFill>
              </a:defRPr>
            </a:defPPr>
          </a:lstStyle>
          <a:p>
            <a:pPr algn="l">
              <a:defRPr sz="1650" b="1">
                <a:solidFill>
                  <a:srgbClr val="159A9C"/>
                </a:solidFill>
              </a:defRPr>
            </a:pPr>
            <a:r>
              <a:rPr sz="1650" b="1">
                <a:solidFill>
                  <a:srgbClr val="159A9C"/>
                </a:solidFill>
              </a:rPr>
              <a:t>Loan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17A90D-E4AE-452E-979D-2F183BF15BFE}"/>
              </a:ext>
            </a:extLst>
          </p:cNvPr>
          <p:cNvSpPr>
            <a:spLocks noGrp="1"/>
          </p:cNvSpPr>
          <p:nvPr/>
        </p:nvSpPr>
        <p:spPr>
          <a:xfrm>
            <a:off x="4733925" y="3686175"/>
            <a:ext cx="2819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заемане на книга от читател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6CDA0A-1AAA-4336-9B64-77C093CDCE44}"/>
              </a:ext>
            </a:extLst>
          </p:cNvPr>
          <p:cNvSpPr>
            <a:spLocks noGrp="1"/>
          </p:cNvSpPr>
          <p:nvPr/>
        </p:nvSpPr>
        <p:spPr>
          <a:xfrm>
            <a:off x="904875" y="5143500"/>
            <a:ext cx="1038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75" b="1">
                <a:solidFill>
                  <a:srgbClr val="0B132B"/>
                </a:solidFill>
              </a:defRPr>
            </a:defPPr>
          </a:lstStyle>
          <a:p>
            <a:pPr algn="ctr">
              <a:defRPr sz="1575" b="1">
                <a:solidFill>
                  <a:srgbClr val="0B132B"/>
                </a:solidFill>
              </a:defRPr>
            </a:pPr>
            <a:r>
              <a:rPr sz="1575" b="1">
                <a:solidFill>
                  <a:srgbClr val="0B132B"/>
                </a:solidFill>
              </a:rPr>
              <a:t>Имената на класовете идват от предметната област, а не от страниците на сайта.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BDD1D9-E2AD-4AA7-B3A0-026AB8A2D809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127903-0CD9-45EC-A21C-CF2472A58465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371142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A91170E-9C89-4233-964C-CF8840F414D1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47478-E044-4AE9-A170-8A6E77816C0D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Book като домейн обект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635BF9-1ADA-4045-8F13-57FED155585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9829AE0-308A-4596-9782-4B2A800965DC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7239000" cy="3714750"/>
          </a:xfrm>
          <a:prstGeom prst="roundRect">
            <a:avLst>
              <a:gd name="adj" fmla="val 2051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665B2F-50E1-41CE-91FD-37387915199D}"/>
              </a:ext>
            </a:extLst>
          </p:cNvPr>
          <p:cNvSpPr>
            <a:spLocks noGrp="1"/>
          </p:cNvSpPr>
          <p:nvPr/>
        </p:nvSpPr>
        <p:spPr>
          <a:xfrm>
            <a:off x="1076325" y="1524000"/>
            <a:ext cx="6896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Models/Book.cs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DDC875-BF9A-4524-90FE-5AC8FA5B6165}"/>
              </a:ext>
            </a:extLst>
          </p:cNvPr>
          <p:cNvSpPr>
            <a:spLocks noGrp="1"/>
          </p:cNvSpPr>
          <p:nvPr/>
        </p:nvSpPr>
        <p:spPr>
          <a:xfrm>
            <a:off x="1076325" y="1781175"/>
            <a:ext cx="6896100" cy="3257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namespace SchoolLibrary.Business.Models;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class Book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Id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string Title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string Isbn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PublicationYear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TotalCopies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3705BE-9920-48E8-8C5C-EBF545A65E17}"/>
              </a:ext>
            </a:extLst>
          </p:cNvPr>
          <p:cNvSpPr>
            <a:spLocks noGrp="1"/>
          </p:cNvSpPr>
          <p:nvPr/>
        </p:nvSpPr>
        <p:spPr>
          <a:xfrm>
            <a:off x="8572500" y="171450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BCE81E-68F8-4768-9ED8-4731D3FBA8E5}"/>
              </a:ext>
            </a:extLst>
          </p:cNvPr>
          <p:cNvSpPr>
            <a:spLocks noGrp="1"/>
          </p:cNvSpPr>
          <p:nvPr/>
        </p:nvSpPr>
        <p:spPr>
          <a:xfrm>
            <a:off x="8801100" y="171450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private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F9A6AA-5838-4536-8BBA-A5377A936B78}"/>
              </a:ext>
            </a:extLst>
          </p:cNvPr>
          <p:cNvSpPr>
            <a:spLocks noGrp="1"/>
          </p:cNvSpPr>
          <p:nvPr/>
        </p:nvSpPr>
        <p:spPr>
          <a:xfrm>
            <a:off x="8801100" y="200025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Друг код не променя свободно състоянието.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2A9964-89A5-45A8-BA8F-E5611C26A761}"/>
              </a:ext>
            </a:extLst>
          </p:cNvPr>
          <p:cNvSpPr>
            <a:spLocks noGrp="1"/>
          </p:cNvSpPr>
          <p:nvPr/>
        </p:nvSpPr>
        <p:spPr>
          <a:xfrm>
            <a:off x="8572500" y="2809875"/>
            <a:ext cx="76200" cy="723900"/>
          </a:xfrm>
          <a:prstGeom prst="rect">
            <a:avLst/>
          </a:prstGeom>
          <a:solidFill>
            <a:srgbClr val="1C5D9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50F7FF-D2D0-4648-98C8-79635B0BC1E1}"/>
              </a:ext>
            </a:extLst>
          </p:cNvPr>
          <p:cNvSpPr>
            <a:spLocks noGrp="1"/>
          </p:cNvSpPr>
          <p:nvPr/>
        </p:nvSpPr>
        <p:spPr>
          <a:xfrm>
            <a:off x="8801100" y="2809875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Смислени имена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4A64C-4C33-43F8-8B9B-F63E20ED4E9F}"/>
              </a:ext>
            </a:extLst>
          </p:cNvPr>
          <p:cNvSpPr>
            <a:spLocks noGrp="1"/>
          </p:cNvSpPr>
          <p:nvPr/>
        </p:nvSpPr>
        <p:spPr>
          <a:xfrm>
            <a:off x="8801100" y="3095625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PublicationYear е по-ясно от Year.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1B5335-4132-4119-94AD-A5906902B11F}"/>
              </a:ext>
            </a:extLst>
          </p:cNvPr>
          <p:cNvSpPr>
            <a:spLocks noGrp="1"/>
          </p:cNvSpPr>
          <p:nvPr/>
        </p:nvSpPr>
        <p:spPr>
          <a:xfrm>
            <a:off x="8572500" y="3905250"/>
            <a:ext cx="76200" cy="72390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FF7F62-4437-4590-A1FF-E74B4E833C83}"/>
              </a:ext>
            </a:extLst>
          </p:cNvPr>
          <p:cNvSpPr>
            <a:spLocks noGrp="1"/>
          </p:cNvSpPr>
          <p:nvPr/>
        </p:nvSpPr>
        <p:spPr>
          <a:xfrm>
            <a:off x="8801100" y="3905250"/>
            <a:ext cx="2628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Домейн модел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CE8696-7295-4F3A-BFDF-4E8E7E2CCEF1}"/>
              </a:ext>
            </a:extLst>
          </p:cNvPr>
          <p:cNvSpPr>
            <a:spLocks noGrp="1"/>
          </p:cNvSpPr>
          <p:nvPr/>
        </p:nvSpPr>
        <p:spPr>
          <a:xfrm>
            <a:off x="8801100" y="4191000"/>
            <a:ext cx="2628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Класът не съдържа HTML или ModelState.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717A0D-085F-4366-A8A4-BC6CD737AFD2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6DD211-7C71-4399-B57B-2DC41FA1CB9F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96073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DD2A44-6B5F-4C37-A5DA-E6E4925C0BA7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F848FF-2ABD-4696-906D-8B4EA7DB309D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Конструкторът пази валидно състояние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2BF2F-363A-46AA-AA54-98D525246551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FFBD2A7-2C30-4BC8-9094-8564FA2E04B6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7524750" cy="4619625"/>
          </a:xfrm>
          <a:prstGeom prst="roundRect">
            <a:avLst>
              <a:gd name="adj" fmla="val 1649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F9F355-4197-49E9-ACEF-BD4F6C1B3E5E}"/>
              </a:ext>
            </a:extLst>
          </p:cNvPr>
          <p:cNvSpPr>
            <a:spLocks noGrp="1"/>
          </p:cNvSpPr>
          <p:nvPr/>
        </p:nvSpPr>
        <p:spPr>
          <a:xfrm>
            <a:off x="790575" y="1381125"/>
            <a:ext cx="7181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Book.cs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601DE6-2336-428F-B56A-CE103E5B9090}"/>
              </a:ext>
            </a:extLst>
          </p:cNvPr>
          <p:cNvSpPr>
            <a:spLocks noGrp="1"/>
          </p:cNvSpPr>
          <p:nvPr/>
        </p:nvSpPr>
        <p:spPr>
          <a:xfrm>
            <a:off x="790575" y="1638300"/>
            <a:ext cx="7181850" cy="416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Book(string title, string isbn,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    int publicationYear, int totalCopies)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if (string.IsNullOrWhiteSpace(title))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throw new ArgumentException("Заглавието е задължително.");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if (totalCopies &lt; 1)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throw new ArgumentOutOfRangeException(nameof(totalCopies));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Title = title.Trim();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Isbn = isbn.Trim();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PublicationYear = publicationYear;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TotalCopies = totalCopies;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4E9AE5-A297-4FFC-8261-E0B493380BC6}"/>
              </a:ext>
            </a:extLst>
          </p:cNvPr>
          <p:cNvSpPr>
            <a:spLocks noGrp="1"/>
          </p:cNvSpPr>
          <p:nvPr/>
        </p:nvSpPr>
        <p:spPr>
          <a:xfrm>
            <a:off x="8572500" y="157162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725" b="1">
                <a:solidFill>
                  <a:srgbClr val="0B132B"/>
                </a:solidFill>
              </a:defRPr>
            </a:defPPr>
          </a:lstStyle>
          <a:p>
            <a:pPr algn="l">
              <a:defRPr sz="1725" b="1">
                <a:solidFill>
                  <a:srgbClr val="0B132B"/>
                </a:solidFill>
              </a:defRPr>
            </a:pPr>
            <a:r>
              <a:rPr sz="1725" b="1">
                <a:solidFill>
                  <a:srgbClr val="0B132B"/>
                </a:solidFill>
              </a:rPr>
              <a:t>Инвариант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5BAB6E-17CD-4D1D-B52E-1BC97A358926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667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02A"/>
                </a:solidFill>
              </a:defRPr>
            </a:defPPr>
          </a:lstStyle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Условие, което трябва да остава вярно през целия живот на обекта.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9C68AB7-9204-42BE-8708-8411ED91338B}"/>
              </a:ext>
            </a:extLst>
          </p:cNvPr>
          <p:cNvSpPr>
            <a:spLocks noGrp="1"/>
          </p:cNvSpPr>
          <p:nvPr/>
        </p:nvSpPr>
        <p:spPr>
          <a:xfrm>
            <a:off x="8572500" y="3429000"/>
            <a:ext cx="2667000" cy="1333500"/>
          </a:xfrm>
          <a:prstGeom prst="roundRect">
            <a:avLst>
              <a:gd name="adj" fmla="val 5714"/>
            </a:avLst>
          </a:prstGeom>
          <a:solidFill>
            <a:srgbClr val="DFF5F1"/>
          </a:solidFill>
          <a:ln w="9525">
            <a:solidFill>
              <a:srgbClr val="159A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8BC509-20F0-463F-89FE-06E14783ED94}"/>
              </a:ext>
            </a:extLst>
          </p:cNvPr>
          <p:cNvSpPr>
            <a:spLocks noGrp="1"/>
          </p:cNvSpPr>
          <p:nvPr/>
        </p:nvSpPr>
        <p:spPr>
          <a:xfrm>
            <a:off x="8810625" y="3619500"/>
            <a:ext cx="2190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159A9C"/>
                </a:solidFill>
              </a:defRPr>
            </a:defPPr>
          </a:lstStyle>
          <a:p>
            <a:pPr algn="ctr">
              <a:defRPr sz="1425" b="1">
                <a:solidFill>
                  <a:srgbClr val="159A9C"/>
                </a:solidFill>
              </a:defRPr>
            </a:pPr>
            <a:r>
              <a:rPr sz="1425" b="1">
                <a:solidFill>
                  <a:srgbClr val="159A9C"/>
                </a:solidFill>
              </a:rPr>
              <a:t>Book никога не се създава с празно заглавие или 0 копия.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4EDFD2-236F-4CC6-9F51-53D3914CAE01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C5EF01-B2E8-45F0-A087-DF6992EDF55B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839567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2C22C5-F8B1-4C1F-A6BC-F257056AAF3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A059A0-6352-4029-849D-CD7C059771FA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Правило за годината на издаване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C81ABF-D17E-4892-8503-B8CFD187324F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43E38FC-EDDD-476F-9C63-BB45AC0C5C39}"/>
              </a:ext>
            </a:extLst>
          </p:cNvPr>
          <p:cNvSpPr>
            <a:spLocks noGrp="1"/>
          </p:cNvSpPr>
          <p:nvPr/>
        </p:nvSpPr>
        <p:spPr>
          <a:xfrm>
            <a:off x="952500" y="1571625"/>
            <a:ext cx="6858000" cy="314325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043A4E-F057-4DB7-8DC2-9BE69F83F08E}"/>
              </a:ext>
            </a:extLst>
          </p:cNvPr>
          <p:cNvSpPr>
            <a:spLocks noGrp="1"/>
          </p:cNvSpPr>
          <p:nvPr/>
        </p:nvSpPr>
        <p:spPr>
          <a:xfrm>
            <a:off x="1123950" y="1666875"/>
            <a:ext cx="6515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Book.cs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A9E80C-5A99-4C36-92DC-8ECE42490D2D}"/>
              </a:ext>
            </a:extLst>
          </p:cNvPr>
          <p:cNvSpPr>
            <a:spLocks noGrp="1"/>
          </p:cNvSpPr>
          <p:nvPr/>
        </p:nvSpPr>
        <p:spPr>
          <a:xfrm>
            <a:off x="1123950" y="1924050"/>
            <a:ext cx="6515100" cy="268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private static void ValidateYear(int year)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if (year &lt; 1450 || year &gt; DateTime.Now.Year)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throw new ArgumentOutOfRangeException(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    nameof(year),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    "Невалидна година на издаване.");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C2A556-B4D1-47E4-A30C-F90D5CC8E201}"/>
              </a:ext>
            </a:extLst>
          </p:cNvPr>
          <p:cNvSpPr>
            <a:spLocks noGrp="1"/>
          </p:cNvSpPr>
          <p:nvPr/>
        </p:nvSpPr>
        <p:spPr>
          <a:xfrm>
            <a:off x="8286750" y="1714500"/>
            <a:ext cx="76200" cy="723900"/>
          </a:xfrm>
          <a:prstGeom prst="rect">
            <a:avLst/>
          </a:prstGeom>
          <a:solidFill>
            <a:srgbClr val="2A9D6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DFC6D-02F6-4CB5-8C36-0D24B5AE4B1B}"/>
              </a:ext>
            </a:extLst>
          </p:cNvPr>
          <p:cNvSpPr>
            <a:spLocks noGrp="1"/>
          </p:cNvSpPr>
          <p:nvPr/>
        </p:nvSpPr>
        <p:spPr>
          <a:xfrm>
            <a:off x="8515350" y="17145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Защо в Business?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E31887-3030-43EE-BA19-4D12F4D40E1F}"/>
              </a:ext>
            </a:extLst>
          </p:cNvPr>
          <p:cNvSpPr>
            <a:spLocks noGrp="1"/>
          </p:cNvSpPr>
          <p:nvPr/>
        </p:nvSpPr>
        <p:spPr>
          <a:xfrm>
            <a:off x="8515350" y="20002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Правилото важи независимо от начина на въвеждане.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DED87B-07FC-4604-A74A-40902123B196}"/>
              </a:ext>
            </a:extLst>
          </p:cNvPr>
          <p:cNvSpPr>
            <a:spLocks noGrp="1"/>
          </p:cNvSpPr>
          <p:nvPr/>
        </p:nvSpPr>
        <p:spPr>
          <a:xfrm>
            <a:off x="8286750" y="2857500"/>
            <a:ext cx="76200" cy="723900"/>
          </a:xfrm>
          <a:prstGeom prst="rect">
            <a:avLst/>
          </a:prstGeom>
          <a:solidFill>
            <a:srgbClr val="1C5D9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5084AB-2928-4864-8449-DEC80EDA1443}"/>
              </a:ext>
            </a:extLst>
          </p:cNvPr>
          <p:cNvSpPr>
            <a:spLocks noGrp="1"/>
          </p:cNvSpPr>
          <p:nvPr/>
        </p:nvSpPr>
        <p:spPr>
          <a:xfrm>
            <a:off x="8515350" y="2857500"/>
            <a:ext cx="2914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Къде се извиква?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B74418-70E6-4C4C-AC38-2A83572ADDFB}"/>
              </a:ext>
            </a:extLst>
          </p:cNvPr>
          <p:cNvSpPr>
            <a:spLocks noGrp="1"/>
          </p:cNvSpPr>
          <p:nvPr/>
        </p:nvSpPr>
        <p:spPr>
          <a:xfrm>
            <a:off x="8515350" y="3143250"/>
            <a:ext cx="2914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В конструктора, преди присвояване на стойността.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463A38-CFE6-4CFA-8900-8EBBFA5C99F8}"/>
              </a:ext>
            </a:extLst>
          </p:cNvPr>
          <p:cNvSpPr>
            <a:spLocks noGrp="1"/>
          </p:cNvSpPr>
          <p:nvPr/>
        </p:nvSpPr>
        <p:spPr>
          <a:xfrm>
            <a:off x="1047750" y="519112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0B132B"/>
                </a:solidFill>
              </a:defRPr>
            </a:defPPr>
          </a:lstStyle>
          <a:p>
            <a:pPr algn="ctr">
              <a:defRPr sz="1425" b="1">
                <a:solidFill>
                  <a:srgbClr val="0B132B"/>
                </a:solidFill>
              </a:defRPr>
            </a:pPr>
            <a:r>
              <a:rPr sz="1425" b="1">
                <a:solidFill>
                  <a:srgbClr val="0B132B"/>
                </a:solidFill>
              </a:rPr>
              <a:t>Data annotations във ViewModel могат да помогнат на формата, но не заменят домейн правилото.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A8654D-6C27-41BD-B5C3-51F14F8A26B0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E7ECB-D8CC-48FF-8C06-E86CE5773EC4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57193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3CF58DC-E484-4E04-BE43-D3879010C21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569338C-7AC2-4B6A-A6D9-7CC1E30C435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Поведение вместо свободна промяна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7D297B-DD32-4141-94B3-B55F046BDB23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929AFC-99C7-40BC-9A00-20C095BFE2F3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6572250" cy="4286250"/>
          </a:xfrm>
          <a:prstGeom prst="roundRect">
            <a:avLst>
              <a:gd name="adj" fmla="val 1778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3A751B-1F4A-48A4-8DC7-ADF5389136D4}"/>
              </a:ext>
            </a:extLst>
          </p:cNvPr>
          <p:cNvSpPr>
            <a:spLocks noGrp="1"/>
          </p:cNvSpPr>
          <p:nvPr/>
        </p:nvSpPr>
        <p:spPr>
          <a:xfrm>
            <a:off x="838200" y="1476375"/>
            <a:ext cx="6229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Book.cs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E4C467-10FE-4CC5-9814-E5AB85F2DA6A}"/>
              </a:ext>
            </a:extLst>
          </p:cNvPr>
          <p:cNvSpPr>
            <a:spLocks noGrp="1"/>
          </p:cNvSpPr>
          <p:nvPr/>
        </p:nvSpPr>
        <p:spPr>
          <a:xfrm>
            <a:off x="838200" y="1733550"/>
            <a:ext cx="6229350" cy="3829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void AddCopies(int count)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if (count &lt; 1)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throw new ArgumentOutOfRangeException(nameof(count));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TotalCopies += count;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void RemoveCopy()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if (TotalCopies == 0)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    throw new InvalidOperationException("Няма копия.");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TotalCopies--;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971AB8-97A6-440C-9459-34B264097307}"/>
              </a:ext>
            </a:extLst>
          </p:cNvPr>
          <p:cNvSpPr>
            <a:spLocks noGrp="1"/>
          </p:cNvSpPr>
          <p:nvPr/>
        </p:nvSpPr>
        <p:spPr>
          <a:xfrm>
            <a:off x="7715250" y="1619250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C8F852-B5DB-4356-881F-05BBBC615336}"/>
              </a:ext>
            </a:extLst>
          </p:cNvPr>
          <p:cNvSpPr>
            <a:spLocks noGrp="1"/>
          </p:cNvSpPr>
          <p:nvPr/>
        </p:nvSpPr>
        <p:spPr>
          <a:xfrm>
            <a:off x="7943850" y="1619250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Методът носи смисъл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0FAEB6-96CF-4284-9003-8AB788FD9C3E}"/>
              </a:ext>
            </a:extLst>
          </p:cNvPr>
          <p:cNvSpPr>
            <a:spLocks noGrp="1"/>
          </p:cNvSpPr>
          <p:nvPr/>
        </p:nvSpPr>
        <p:spPr>
          <a:xfrm>
            <a:off x="7943850" y="19050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AddCopies описва действие от библиотеката.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45C8BD-F6D5-499E-9886-E700456A0065}"/>
              </a:ext>
            </a:extLst>
          </p:cNvPr>
          <p:cNvSpPr>
            <a:spLocks noGrp="1"/>
          </p:cNvSpPr>
          <p:nvPr/>
        </p:nvSpPr>
        <p:spPr>
          <a:xfrm>
            <a:off x="7715250" y="2762250"/>
            <a:ext cx="76200" cy="723900"/>
          </a:xfrm>
          <a:prstGeom prst="rect">
            <a:avLst/>
          </a:prstGeom>
          <a:solidFill>
            <a:srgbClr val="2A9D6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84E241-9CCC-4304-A649-843C7D192832}"/>
              </a:ext>
            </a:extLst>
          </p:cNvPr>
          <p:cNvSpPr>
            <a:spLocks noGrp="1"/>
          </p:cNvSpPr>
          <p:nvPr/>
        </p:nvSpPr>
        <p:spPr>
          <a:xfrm>
            <a:off x="7943850" y="2762250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Правилото е на едно място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234D3D-63AB-4F21-81A3-125D38BF26AC}"/>
              </a:ext>
            </a:extLst>
          </p:cNvPr>
          <p:cNvSpPr>
            <a:spLocks noGrp="1"/>
          </p:cNvSpPr>
          <p:nvPr/>
        </p:nvSpPr>
        <p:spPr>
          <a:xfrm>
            <a:off x="7943850" y="30480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Никой не може директно да зададе -3 копия.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4269DD-098F-4416-A1DE-969DDF9F6C39}"/>
              </a:ext>
            </a:extLst>
          </p:cNvPr>
          <p:cNvSpPr>
            <a:spLocks noGrp="1"/>
          </p:cNvSpPr>
          <p:nvPr/>
        </p:nvSpPr>
        <p:spPr>
          <a:xfrm>
            <a:off x="7715250" y="3905250"/>
            <a:ext cx="76200" cy="72390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CDD38-D9FC-4BA4-AFF2-5FD7D777928E}"/>
              </a:ext>
            </a:extLst>
          </p:cNvPr>
          <p:cNvSpPr>
            <a:spLocks noGrp="1"/>
          </p:cNvSpPr>
          <p:nvPr/>
        </p:nvSpPr>
        <p:spPr>
          <a:xfrm>
            <a:off x="7943850" y="3905250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Лесно надграждане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FC11D1-A556-4A8D-BD6D-72417817380F}"/>
              </a:ext>
            </a:extLst>
          </p:cNvPr>
          <p:cNvSpPr>
            <a:spLocks noGrp="1"/>
          </p:cNvSpPr>
          <p:nvPr/>
        </p:nvSpPr>
        <p:spPr>
          <a:xfrm>
            <a:off x="7943850" y="419100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По-късно ще различим общи и налични копия.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7D5535-28FB-4274-94AD-3EB4E1CF0D62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F91D0B-18AD-4FB4-842E-E61142A279DC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5847754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1D0C494-24CF-41E4-985B-FB3876608478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3023C3-CB5F-4DF7-B077-8D21EB480F96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Първа версия на останалите модели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4CE496-B523-4637-93C0-2D57BE43FC37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15C94A3-A5E9-4F33-9EFB-78F574BED69B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4953000" cy="342900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0C5F5-2921-4408-ACE0-63E653CA39CB}"/>
              </a:ext>
            </a:extLst>
          </p:cNvPr>
          <p:cNvSpPr>
            <a:spLocks noGrp="1"/>
          </p:cNvSpPr>
          <p:nvPr/>
        </p:nvSpPr>
        <p:spPr>
          <a:xfrm>
            <a:off x="838200" y="1571625"/>
            <a:ext cx="4610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CD7BC-771E-4DCC-9469-3DB834E6ED8B}"/>
              </a:ext>
            </a:extLst>
          </p:cNvPr>
          <p:cNvSpPr>
            <a:spLocks noGrp="1"/>
          </p:cNvSpPr>
          <p:nvPr/>
        </p:nvSpPr>
        <p:spPr>
          <a:xfrm>
            <a:off x="838200" y="1828800"/>
            <a:ext cx="4610100" cy="297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class Author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Id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string Name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class Category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Id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string Name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46472FD-89B9-4AAA-AE36-4F586CEFD1A7}"/>
              </a:ext>
            </a:extLst>
          </p:cNvPr>
          <p:cNvSpPr>
            <a:spLocks noGrp="1"/>
          </p:cNvSpPr>
          <p:nvPr/>
        </p:nvSpPr>
        <p:spPr>
          <a:xfrm>
            <a:off x="6191250" y="1476375"/>
            <a:ext cx="5334000" cy="3429000"/>
          </a:xfrm>
          <a:prstGeom prst="roundRect">
            <a:avLst>
              <a:gd name="adj" fmla="val 2222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4C77C8-BDA1-4899-BD72-1D2B0745BED6}"/>
              </a:ext>
            </a:extLst>
          </p:cNvPr>
          <p:cNvSpPr>
            <a:spLocks noGrp="1"/>
          </p:cNvSpPr>
          <p:nvPr/>
        </p:nvSpPr>
        <p:spPr>
          <a:xfrm>
            <a:off x="6362700" y="1571625"/>
            <a:ext cx="49911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Models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E0EB1A-500C-417B-8F91-534CC582C48B}"/>
              </a:ext>
            </a:extLst>
          </p:cNvPr>
          <p:cNvSpPr>
            <a:spLocks noGrp="1"/>
          </p:cNvSpPr>
          <p:nvPr/>
        </p:nvSpPr>
        <p:spPr>
          <a:xfrm>
            <a:off x="6362700" y="1828800"/>
            <a:ext cx="4991100" cy="2971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class Reader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Id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string FullName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class Loan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{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int Id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DateTime LoanDate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public DateTime? ReturnDate { get; private set; }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3DB287-74EE-4A9D-9F2E-6609F7A7C533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0B132B"/>
                </a:solidFill>
              </a:defRPr>
            </a:defPPr>
          </a:lstStyle>
          <a:p>
            <a:pPr algn="ctr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Днес създаваме скелетите. В следващите два часа ще добавим връзки и правила.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6966A7-833A-4C00-AC0C-693736FBED41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520AB1-F69B-4ECA-A85D-0F0658BBF604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572825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EB39DF2-E587-44AC-8328-345748CFCEFD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14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E21AE4-A1D2-46CF-AF84-463F3F310895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Преместване на съществуващия Book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0523E6-537A-43FF-8578-4334662C9565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D380DB0-8520-4993-BC8D-D02F74C0DBD1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447675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6455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9B55F5-8397-4F08-B16A-14EC88E6CB9E}"/>
              </a:ext>
            </a:extLst>
          </p:cNvPr>
          <p:cNvSpPr>
            <a:spLocks noGrp="1"/>
          </p:cNvSpPr>
          <p:nvPr/>
        </p:nvSpPr>
        <p:spPr>
          <a:xfrm>
            <a:off x="1143000" y="1809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D64550"/>
                </a:solidFill>
              </a:defRPr>
            </a:defPPr>
          </a:lstStyle>
          <a:p>
            <a:pPr algn="l">
              <a:defRPr sz="1650" b="1">
                <a:solidFill>
                  <a:srgbClr val="D64550"/>
                </a:solidFill>
              </a:defRPr>
            </a:pPr>
            <a:r>
              <a:rPr sz="1650" b="1">
                <a:solidFill>
                  <a:srgbClr val="D64550"/>
                </a:solidFill>
              </a:rPr>
              <a:t>Преди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8283D-F885-441A-B627-42B3B4620BE2}"/>
              </a:ext>
            </a:extLst>
          </p:cNvPr>
          <p:cNvSpPr>
            <a:spLocks noGrp="1"/>
          </p:cNvSpPr>
          <p:nvPr/>
        </p:nvSpPr>
        <p:spPr>
          <a:xfrm>
            <a:off x="1143000" y="23812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02A"/>
                </a:solidFill>
              </a:defRPr>
            </a:defPPr>
          </a:lstStyle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SchoolLibrary.Web/Models/Book.cs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EC712-8E01-49B8-836F-34D583B34578}"/>
              </a:ext>
            </a:extLst>
          </p:cNvPr>
          <p:cNvSpPr>
            <a:spLocks noGrp="1"/>
          </p:cNvSpPr>
          <p:nvPr/>
        </p:nvSpPr>
        <p:spPr>
          <a:xfrm>
            <a:off x="1143000" y="3190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B6770"/>
                </a:solidFill>
              </a:defRPr>
            </a:defPPr>
          </a:lstStyle>
          <a:p>
            <a:pPr algn="l"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Web притежава домейн модела.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28ACC-35EE-458B-9347-5D87E78BC741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4476750" cy="3048000"/>
          </a:xfrm>
          <a:prstGeom prst="roundRect">
            <a:avLst>
              <a:gd name="adj" fmla="val 2500"/>
            </a:avLst>
          </a:prstGeom>
          <a:solidFill>
            <a:srgbClr val="DFF5F1"/>
          </a:solidFill>
          <a:ln w="9525">
            <a:solidFill>
              <a:srgbClr val="159A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4EAA0-AFBA-4F46-A470-0BB24EDFC5DE}"/>
              </a:ext>
            </a:extLst>
          </p:cNvPr>
          <p:cNvSpPr>
            <a:spLocks noGrp="1"/>
          </p:cNvSpPr>
          <p:nvPr/>
        </p:nvSpPr>
        <p:spPr>
          <a:xfrm>
            <a:off x="6762750" y="1809750"/>
            <a:ext cx="3905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159A9C"/>
                </a:solidFill>
              </a:defRPr>
            </a:defPPr>
          </a:lstStyle>
          <a:p>
            <a:pPr algn="l">
              <a:defRPr sz="1650" b="1">
                <a:solidFill>
                  <a:srgbClr val="159A9C"/>
                </a:solidFill>
              </a:defRPr>
            </a:pPr>
            <a:r>
              <a:rPr sz="1650" b="1">
                <a:solidFill>
                  <a:srgbClr val="159A9C"/>
                </a:solidFill>
              </a:rPr>
              <a:t>След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01777C-E96B-4CBA-A2B8-AE693032EC43}"/>
              </a:ext>
            </a:extLst>
          </p:cNvPr>
          <p:cNvSpPr>
            <a:spLocks noGrp="1"/>
          </p:cNvSpPr>
          <p:nvPr/>
        </p:nvSpPr>
        <p:spPr>
          <a:xfrm>
            <a:off x="6762750" y="2381250"/>
            <a:ext cx="3905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17202A"/>
                </a:solidFill>
              </a:defRPr>
            </a:defPPr>
          </a:lstStyle>
          <a:p>
            <a:pPr algn="l">
              <a:defRPr sz="1425" b="0">
                <a:solidFill>
                  <a:srgbClr val="17202A"/>
                </a:solidFill>
              </a:defRPr>
            </a:pPr>
            <a:r>
              <a:rPr sz="1425" b="0">
                <a:solidFill>
                  <a:srgbClr val="17202A"/>
                </a:solidFill>
              </a:rPr>
              <a:t>SchoolLibrary.Business/Models/Book.cs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A2E33-85FE-4ED3-A576-F5049888FE76}"/>
              </a:ext>
            </a:extLst>
          </p:cNvPr>
          <p:cNvSpPr>
            <a:spLocks noGrp="1"/>
          </p:cNvSpPr>
          <p:nvPr/>
        </p:nvSpPr>
        <p:spPr>
          <a:xfrm>
            <a:off x="6762750" y="3190875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5B6770"/>
                </a:solidFill>
              </a:defRPr>
            </a:defPPr>
          </a:lstStyle>
          <a:p>
            <a:pPr algn="l">
              <a:defRPr sz="1350" b="0">
                <a:solidFill>
                  <a:srgbClr val="5B6770"/>
                </a:solidFill>
              </a:defRPr>
            </a:pPr>
            <a:r>
              <a:rPr sz="1350" b="0">
                <a:solidFill>
                  <a:srgbClr val="5B6770"/>
                </a:solidFill>
              </a:rPr>
              <a:t>Web използва Book чрез project reference.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636262-586E-4436-9AE6-5C7F716CB7CD}"/>
              </a:ext>
            </a:extLst>
          </p:cNvPr>
          <p:cNvSpPr>
            <a:spLocks noGrp="1"/>
          </p:cNvSpPr>
          <p:nvPr/>
        </p:nvSpPr>
        <p:spPr>
          <a:xfrm>
            <a:off x="1047750" y="5191125"/>
            <a:ext cx="10096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0B132B"/>
                </a:solidFill>
              </a:defRPr>
            </a:defPPr>
          </a:lstStyle>
          <a:p>
            <a:pPr algn="ctr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След преместването поправете using директивите в контролера и временния каталог.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72B6D7-1FDC-4875-B018-8C4F779C640A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14DEC1-83A8-4A60-AC83-188202DC07BD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3986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BBD92BFE-B15A-4FAA-A25F-AA4D8B9BFFCF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DA357C-D26D-4623-8444-F470CCCB2424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Практическа работа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BED4C8-0D8A-4B5A-9798-38871CD92432}"/>
              </a:ext>
            </a:extLst>
          </p:cNvPr>
          <p:cNvSpPr>
            <a:spLocks noGrp="1"/>
          </p:cNvSpPr>
          <p:nvPr/>
        </p:nvSpPr>
        <p:spPr>
          <a:xfrm>
            <a:off x="1143000" y="733425"/>
            <a:ext cx="1028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15 минути · индивидуално или по двойки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D3BC94-FB5F-4090-A95C-2DE7B5EF0CA6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53AF73-E36A-48DF-AA8C-F4E4E78159EE}"/>
              </a:ext>
            </a:extLst>
          </p:cNvPr>
          <p:cNvSpPr>
            <a:spLocks noGrp="1"/>
          </p:cNvSpPr>
          <p:nvPr/>
        </p:nvSpPr>
        <p:spPr>
          <a:xfrm>
            <a:off x="809625" y="13144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A047D9-D118-4FFA-8D26-28AB9C834291}"/>
              </a:ext>
            </a:extLst>
          </p:cNvPr>
          <p:cNvSpPr>
            <a:spLocks noGrp="1"/>
          </p:cNvSpPr>
          <p:nvPr/>
        </p:nvSpPr>
        <p:spPr>
          <a:xfrm>
            <a:off x="809625" y="13144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338D3B-F148-49C6-A945-D70FF4DBA3DA}"/>
              </a:ext>
            </a:extLst>
          </p:cNvPr>
          <p:cNvSpPr>
            <a:spLocks noGrp="1"/>
          </p:cNvSpPr>
          <p:nvPr/>
        </p:nvSpPr>
        <p:spPr>
          <a:xfrm>
            <a:off x="1619250" y="13144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Създайте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7BF1FF-AE5D-4CCA-9672-B3F7A80B6086}"/>
              </a:ext>
            </a:extLst>
          </p:cNvPr>
          <p:cNvSpPr>
            <a:spLocks noGrp="1"/>
          </p:cNvSpPr>
          <p:nvPr/>
        </p:nvSpPr>
        <p:spPr>
          <a:xfrm>
            <a:off x="3810000" y="13144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Class Library: SchoolLibrary.Business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350183-F414-4A9E-86CE-D7A37D82873B}"/>
              </a:ext>
            </a:extLst>
          </p:cNvPr>
          <p:cNvSpPr>
            <a:spLocks noGrp="1"/>
          </p:cNvSpPr>
          <p:nvPr/>
        </p:nvSpPr>
        <p:spPr>
          <a:xfrm>
            <a:off x="809625" y="21526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C5D9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83BCBC-ADBA-4727-B7B0-3551C7667754}"/>
              </a:ext>
            </a:extLst>
          </p:cNvPr>
          <p:cNvSpPr>
            <a:spLocks noGrp="1"/>
          </p:cNvSpPr>
          <p:nvPr/>
        </p:nvSpPr>
        <p:spPr>
          <a:xfrm>
            <a:off x="809625" y="21526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877245-101B-48D2-AA0C-D35A876321A7}"/>
              </a:ext>
            </a:extLst>
          </p:cNvPr>
          <p:cNvSpPr>
            <a:spLocks noGrp="1"/>
          </p:cNvSpPr>
          <p:nvPr/>
        </p:nvSpPr>
        <p:spPr>
          <a:xfrm>
            <a:off x="1619250" y="21526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Добавете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362499-3CD3-4132-B79E-0900F3006DBE}"/>
              </a:ext>
            </a:extLst>
          </p:cNvPr>
          <p:cNvSpPr>
            <a:spLocks noGrp="1"/>
          </p:cNvSpPr>
          <p:nvPr/>
        </p:nvSpPr>
        <p:spPr>
          <a:xfrm>
            <a:off x="3810000" y="21526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Models и класовете Book, Author, Category, Reader, Loan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BC63217-4C28-4196-A2A3-F718FBC2E0FC}"/>
              </a:ext>
            </a:extLst>
          </p:cNvPr>
          <p:cNvSpPr>
            <a:spLocks noGrp="1"/>
          </p:cNvSpPr>
          <p:nvPr/>
        </p:nvSpPr>
        <p:spPr>
          <a:xfrm>
            <a:off x="809625" y="29908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BDD26FC-FD7C-41E2-B333-A02A5B4C1599}"/>
              </a:ext>
            </a:extLst>
          </p:cNvPr>
          <p:cNvSpPr>
            <a:spLocks noGrp="1"/>
          </p:cNvSpPr>
          <p:nvPr/>
        </p:nvSpPr>
        <p:spPr>
          <a:xfrm>
            <a:off x="809625" y="29908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F73C47-8690-4D0A-A323-CA843E65FF4B}"/>
              </a:ext>
            </a:extLst>
          </p:cNvPr>
          <p:cNvSpPr>
            <a:spLocks noGrp="1"/>
          </p:cNvSpPr>
          <p:nvPr/>
        </p:nvSpPr>
        <p:spPr>
          <a:xfrm>
            <a:off x="1619250" y="29908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Реализирайте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9A3694-DDCB-4766-A6CA-572D297023EA}"/>
              </a:ext>
            </a:extLst>
          </p:cNvPr>
          <p:cNvSpPr>
            <a:spLocks noGrp="1"/>
          </p:cNvSpPr>
          <p:nvPr/>
        </p:nvSpPr>
        <p:spPr>
          <a:xfrm>
            <a:off x="3810000" y="29908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конструктора на Book и ValidateYear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7D1E5B-64A2-4406-A9CD-4D0EF9C1A5E0}"/>
              </a:ext>
            </a:extLst>
          </p:cNvPr>
          <p:cNvSpPr>
            <a:spLocks noGrp="1"/>
          </p:cNvSpPr>
          <p:nvPr/>
        </p:nvSpPr>
        <p:spPr>
          <a:xfrm>
            <a:off x="809625" y="38290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C5D99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844A1D-2B80-4743-9D8C-D781A1624B80}"/>
              </a:ext>
            </a:extLst>
          </p:cNvPr>
          <p:cNvSpPr>
            <a:spLocks noGrp="1"/>
          </p:cNvSpPr>
          <p:nvPr/>
        </p:nvSpPr>
        <p:spPr>
          <a:xfrm>
            <a:off x="809625" y="38290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4E33-37B3-44AA-A52C-60BBD072921D}"/>
              </a:ext>
            </a:extLst>
          </p:cNvPr>
          <p:cNvSpPr>
            <a:spLocks noGrp="1"/>
          </p:cNvSpPr>
          <p:nvPr/>
        </p:nvSpPr>
        <p:spPr>
          <a:xfrm>
            <a:off x="1619250" y="38290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Добавете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93FFC2-DAEF-45BC-84C6-5C17C41B8D72}"/>
              </a:ext>
            </a:extLst>
          </p:cNvPr>
          <p:cNvSpPr>
            <a:spLocks noGrp="1"/>
          </p:cNvSpPr>
          <p:nvPr/>
        </p:nvSpPr>
        <p:spPr>
          <a:xfrm>
            <a:off x="3810000" y="38290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AddCopies и RemoveCopy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AF70643-5136-4E18-A8E5-F7B1F1B3A2D5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552450" cy="552450"/>
          </a:xfrm>
          <a:prstGeom prst="roundRect">
            <a:avLst>
              <a:gd name="adj" fmla="val 13793"/>
            </a:avLst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ADAF56-598F-44C8-9B27-2F741E9A552A}"/>
              </a:ext>
            </a:extLst>
          </p:cNvPr>
          <p:cNvSpPr>
            <a:spLocks noGrp="1"/>
          </p:cNvSpPr>
          <p:nvPr/>
        </p:nvSpPr>
        <p:spPr>
          <a:xfrm>
            <a:off x="809625" y="4667250"/>
            <a:ext cx="5524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725" b="1">
                <a:solidFill>
                  <a:srgbClr val="FFFFFF"/>
                </a:solidFill>
              </a:defRPr>
            </a:defPPr>
          </a:lstStyle>
          <a:p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204420F-345D-40CA-9F7F-8B8A90681117}"/>
              </a:ext>
            </a:extLst>
          </p:cNvPr>
          <p:cNvSpPr>
            <a:spLocks noGrp="1"/>
          </p:cNvSpPr>
          <p:nvPr/>
        </p:nvSpPr>
        <p:spPr>
          <a:xfrm>
            <a:off x="1619250" y="46672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Свържете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A84E2FC-2C99-4DC2-B714-549A67EE80F6}"/>
              </a:ext>
            </a:extLst>
          </p:cNvPr>
          <p:cNvSpPr>
            <a:spLocks noGrp="1"/>
          </p:cNvSpPr>
          <p:nvPr/>
        </p:nvSpPr>
        <p:spPr>
          <a:xfrm>
            <a:off x="3810000" y="4667250"/>
            <a:ext cx="723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75" b="0">
                <a:solidFill>
                  <a:srgbClr val="17202A"/>
                </a:solidFill>
              </a:defRPr>
            </a:defPPr>
          </a:lstStyle>
          <a:p>
            <a:pPr algn="l">
              <a:defRPr sz="1275" b="0">
                <a:solidFill>
                  <a:srgbClr val="17202A"/>
                </a:solidFill>
              </a:defRPr>
            </a:pPr>
            <a:r>
              <a:rPr sz="1275" b="0">
                <a:solidFill>
                  <a:srgbClr val="17202A"/>
                </a:solidFill>
              </a:rPr>
              <a:t>Web с Business и поправете using директивите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D04CFAE-6B31-4214-9B94-09CDA8E24612}"/>
              </a:ext>
            </a:extLst>
          </p:cNvPr>
          <p:cNvSpPr>
            <a:spLocks noGrp="1"/>
          </p:cNvSpPr>
          <p:nvPr/>
        </p:nvSpPr>
        <p:spPr>
          <a:xfrm>
            <a:off x="1666875" y="5667375"/>
            <a:ext cx="8858250" cy="438150"/>
          </a:xfrm>
          <a:prstGeom prst="roundRect">
            <a:avLst>
              <a:gd name="adj" fmla="val 17391"/>
            </a:avLst>
          </a:prstGeom>
          <a:solidFill>
            <a:srgbClr val="0B132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C4265AF-99BD-4646-B0E2-7F505EAF42D6}"/>
              </a:ext>
            </a:extLst>
          </p:cNvPr>
          <p:cNvSpPr>
            <a:spLocks noGrp="1"/>
          </p:cNvSpPr>
          <p:nvPr/>
        </p:nvSpPr>
        <p:spPr>
          <a:xfrm>
            <a:off x="1857375" y="5705475"/>
            <a:ext cx="8477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FFFFFF"/>
                </a:solidFill>
              </a:defRPr>
            </a:defPPr>
          </a:lstStyle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Критерий: проектът се компилира и не позволява книга с 0 копия.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1100B1-96EF-4053-A8AD-D0A536071958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15008F7-20D2-4CD4-BC8B-C22F93586457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577760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EDC3EFA-FF19-40DE-A174-3019134B666B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319D87-A1A1-40B4-A91D-6B1CC3C95D07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Бърза проверка на домейн модела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97F6FF-1A3F-4553-9C4A-050CCC53090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3E366E-CEC6-4D7A-8D25-F20B09EDE793}"/>
              </a:ext>
            </a:extLst>
          </p:cNvPr>
          <p:cNvSpPr>
            <a:spLocks noGrp="1"/>
          </p:cNvSpPr>
          <p:nvPr/>
        </p:nvSpPr>
        <p:spPr>
          <a:xfrm>
            <a:off x="809625" y="1524000"/>
            <a:ext cx="6191250" cy="314325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6BB2E3-C776-411E-ADEA-CFDF12907FBB}"/>
              </a:ext>
            </a:extLst>
          </p:cNvPr>
          <p:cNvSpPr>
            <a:spLocks noGrp="1"/>
          </p:cNvSpPr>
          <p:nvPr/>
        </p:nvSpPr>
        <p:spPr>
          <a:xfrm>
            <a:off x="981075" y="1619250"/>
            <a:ext cx="584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900" b="1">
                <a:solidFill>
                  <a:srgbClr val="6FFFE9"/>
                </a:solidFill>
              </a:defRPr>
            </a:defPPr>
          </a:lstStyle>
          <a:p>
            <a:pPr algn="l">
              <a:defRPr sz="900" b="1">
                <a:solidFill>
                  <a:srgbClr val="6FFFE9"/>
                </a:solidFill>
              </a:defRPr>
            </a:pPr>
            <a:r>
              <a:rPr sz="900" b="1">
                <a:solidFill>
                  <a:srgbClr val="6FFFE9"/>
                </a:solidFill>
              </a:rPr>
              <a:t>Временно в тестов код или конзола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59694-EEDC-4AB9-80D7-C5E77EEACD69}"/>
              </a:ext>
            </a:extLst>
          </p:cNvPr>
          <p:cNvSpPr>
            <a:spLocks noGrp="1"/>
          </p:cNvSpPr>
          <p:nvPr/>
        </p:nvSpPr>
        <p:spPr>
          <a:xfrm>
            <a:off x="981075" y="1876425"/>
            <a:ext cx="5848350" cy="2686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0">
                <a:solidFill>
                  <a:srgbClr val="FFFFFF"/>
                </a:solidFill>
              </a:defRPr>
            </a:defPPr>
          </a:lstStyle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var valid = new Book(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"Под игото", "978-0000000001", 1894, 3);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valid.AddCopies(2);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valid.RemoveCopy();</a:t>
            </a:r>
          </a:p>
          <a:p>
            <a:endParaRPr sz="1125" b="0">
              <a:solidFill>
                <a:srgbClr val="FFFFFF"/>
              </a:solidFill>
            </a:endParaRP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var invalid = new Book(</a:t>
            </a:r>
          </a:p>
          <a:p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    "", "978-0000000002", 2020, 0);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57A77E-F6E4-424E-87EF-B19EE7E88EB6}"/>
              </a:ext>
            </a:extLst>
          </p:cNvPr>
          <p:cNvSpPr>
            <a:spLocks noGrp="1"/>
          </p:cNvSpPr>
          <p:nvPr/>
        </p:nvSpPr>
        <p:spPr>
          <a:xfrm>
            <a:off x="7524750" y="1714500"/>
            <a:ext cx="76200" cy="723900"/>
          </a:xfrm>
          <a:prstGeom prst="rect">
            <a:avLst/>
          </a:prstGeom>
          <a:solidFill>
            <a:srgbClr val="2A9D6F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3ED8E-C897-49FA-B585-76470F0FA290}"/>
              </a:ext>
            </a:extLst>
          </p:cNvPr>
          <p:cNvSpPr>
            <a:spLocks noGrp="1"/>
          </p:cNvSpPr>
          <p:nvPr/>
        </p:nvSpPr>
        <p:spPr>
          <a:xfrm>
            <a:off x="7753350" y="1714500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Очаквано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BD97B8-6597-4A0A-87C0-73B19B20B410}"/>
              </a:ext>
            </a:extLst>
          </p:cNvPr>
          <p:cNvSpPr>
            <a:spLocks noGrp="1"/>
          </p:cNvSpPr>
          <p:nvPr/>
        </p:nvSpPr>
        <p:spPr>
          <a:xfrm>
            <a:off x="7753350" y="2000250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valid.TotalCopies става 4.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6AC2EC-755E-4EF9-8762-9F034BD6D981}"/>
              </a:ext>
            </a:extLst>
          </p:cNvPr>
          <p:cNvSpPr>
            <a:spLocks noGrp="1"/>
          </p:cNvSpPr>
          <p:nvPr/>
        </p:nvSpPr>
        <p:spPr>
          <a:xfrm>
            <a:off x="7524750" y="2809875"/>
            <a:ext cx="76200" cy="723900"/>
          </a:xfrm>
          <a:prstGeom prst="rect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74F8F5-4CC1-46F8-B8C1-EF09D5B29AFA}"/>
              </a:ext>
            </a:extLst>
          </p:cNvPr>
          <p:cNvSpPr>
            <a:spLocks noGrp="1"/>
          </p:cNvSpPr>
          <p:nvPr/>
        </p:nvSpPr>
        <p:spPr>
          <a:xfrm>
            <a:off x="7753350" y="2809875"/>
            <a:ext cx="3390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Очаквана грешка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60E0E5-E171-44D4-8A81-ED1E833D36DE}"/>
              </a:ext>
            </a:extLst>
          </p:cNvPr>
          <p:cNvSpPr>
            <a:spLocks noGrp="1"/>
          </p:cNvSpPr>
          <p:nvPr/>
        </p:nvSpPr>
        <p:spPr>
          <a:xfrm>
            <a:off x="7753350" y="3095625"/>
            <a:ext cx="3390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invalid не трябва да бъде създаден.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3932D5-4021-4B85-93A1-C1BC495CC926}"/>
              </a:ext>
            </a:extLst>
          </p:cNvPr>
          <p:cNvSpPr>
            <a:spLocks noGrp="1"/>
          </p:cNvSpPr>
          <p:nvPr/>
        </p:nvSpPr>
        <p:spPr>
          <a:xfrm>
            <a:off x="952500" y="52387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0B132B"/>
                </a:solidFill>
              </a:defRPr>
            </a:defPPr>
          </a:lstStyle>
          <a:p>
            <a:pPr algn="ctr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Целта не е exception-ът сам по себе си, а невъзможността да съществува невалидна Book.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FE4B78-759F-4166-81C6-C61F1A80D031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3CDF7C-FA2B-4F42-A9CF-2ABDAE43643E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45059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0C9C67-BB8F-449D-A819-C9A74E9DF026}"/>
              </a:ext>
            </a:extLst>
          </p:cNvPr>
          <p:cNvSpPr>
            <a:spLocks noGrp="1"/>
          </p:cNvSpPr>
          <p:nvPr/>
        </p:nvSpPr>
        <p:spPr>
          <a:xfrm>
            <a:off x="552450" y="266700"/>
            <a:ext cx="514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125" b="1">
                <a:solidFill>
                  <a:srgbClr val="159A9C"/>
                </a:solidFill>
              </a:defRPr>
            </a:defPPr>
          </a:lstStyle>
          <a:p>
            <a:pPr algn="l">
              <a:defRPr sz="1125" b="1">
                <a:solidFill>
                  <a:srgbClr val="159A9C"/>
                </a:solidFill>
              </a:defRPr>
            </a:pPr>
            <a:r>
              <a:rPr sz="1125" b="1">
                <a:solidFill>
                  <a:srgbClr val="159A9C"/>
                </a:solidFill>
              </a:rPr>
              <a:t>17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4CD41D-32F1-4A99-B3AF-97ADD05C13C2}"/>
              </a:ext>
            </a:extLst>
          </p:cNvPr>
          <p:cNvSpPr>
            <a:spLocks noGrp="1"/>
          </p:cNvSpPr>
          <p:nvPr/>
        </p:nvSpPr>
        <p:spPr>
          <a:xfrm>
            <a:off x="1143000" y="247650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2325" b="1">
                <a:solidFill>
                  <a:srgbClr val="0B132B"/>
                </a:solidFill>
              </a:defRPr>
            </a:defPPr>
          </a:lstStyle>
          <a:p>
            <a:pPr algn="l">
              <a:defRPr sz="2325" b="1">
                <a:solidFill>
                  <a:srgbClr val="0B132B"/>
                </a:solidFill>
              </a:defRPr>
            </a:pPr>
            <a:r>
              <a:rPr sz="2325" b="1">
                <a:solidFill>
                  <a:srgbClr val="0B132B"/>
                </a:solidFill>
              </a:rPr>
              <a:t>Чести грешки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F8DF4F-77B6-4744-A0C5-8F9DE4A5EB43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11087100" cy="28575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F72F307-F8C3-4EA5-BDF2-8B7B265D31E2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76200" cy="723900"/>
          </a:xfrm>
          <a:prstGeom prst="rect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2FDCE-A9F3-47E6-847E-9CA2E812CFB7}"/>
              </a:ext>
            </a:extLst>
          </p:cNvPr>
          <p:cNvSpPr>
            <a:spLocks noGrp="1"/>
          </p:cNvSpPr>
          <p:nvPr/>
        </p:nvSpPr>
        <p:spPr>
          <a:xfrm>
            <a:off x="990600" y="1476375"/>
            <a:ext cx="4867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Business реферира Web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147BD5-D1C6-434D-BBD6-F78D07AB9DCF}"/>
              </a:ext>
            </a:extLst>
          </p:cNvPr>
          <p:cNvSpPr>
            <a:spLocks noGrp="1"/>
          </p:cNvSpPr>
          <p:nvPr/>
        </p:nvSpPr>
        <p:spPr>
          <a:xfrm>
            <a:off x="990600" y="1762125"/>
            <a:ext cx="486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Премахнете reference-а. Зависимостта трябва да е в обратната посока.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7592B5-90E5-4796-A34B-2C11C6322331}"/>
              </a:ext>
            </a:extLst>
          </p:cNvPr>
          <p:cNvSpPr>
            <a:spLocks noGrp="1"/>
          </p:cNvSpPr>
          <p:nvPr/>
        </p:nvSpPr>
        <p:spPr>
          <a:xfrm>
            <a:off x="762000" y="2571750"/>
            <a:ext cx="76200" cy="723900"/>
          </a:xfrm>
          <a:prstGeom prst="rect">
            <a:avLst/>
          </a:prstGeom>
          <a:solidFill>
            <a:srgbClr val="F4A261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A7BB21-D884-42B6-BC27-C33345A114FC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4867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public set навсякъде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F95C0E-5F2C-4EA2-ABBB-48A5182772CC}"/>
              </a:ext>
            </a:extLst>
          </p:cNvPr>
          <p:cNvSpPr>
            <a:spLocks noGrp="1"/>
          </p:cNvSpPr>
          <p:nvPr/>
        </p:nvSpPr>
        <p:spPr>
          <a:xfrm>
            <a:off x="990600" y="2857500"/>
            <a:ext cx="486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Ограничете промяната и използвайте домейн методи.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DEA8F8-29C5-4C21-847F-FF91321A974A}"/>
              </a:ext>
            </a:extLst>
          </p:cNvPr>
          <p:cNvSpPr>
            <a:spLocks noGrp="1"/>
          </p:cNvSpPr>
          <p:nvPr/>
        </p:nvSpPr>
        <p:spPr>
          <a:xfrm>
            <a:off x="762000" y="3667125"/>
            <a:ext cx="76200" cy="723900"/>
          </a:xfrm>
          <a:prstGeom prst="rect">
            <a:avLst/>
          </a:prstGeom>
          <a:solidFill>
            <a:srgbClr val="D6455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453602-9F21-48F9-A02B-981897031C86}"/>
              </a:ext>
            </a:extLst>
          </p:cNvPr>
          <p:cNvSpPr>
            <a:spLocks noGrp="1"/>
          </p:cNvSpPr>
          <p:nvPr/>
        </p:nvSpPr>
        <p:spPr>
          <a:xfrm>
            <a:off x="990600" y="3667125"/>
            <a:ext cx="48672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HTML атрибути в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5488AB-06C0-40F1-8DE3-2DCD3FBFB43C}"/>
              </a:ext>
            </a:extLst>
          </p:cNvPr>
          <p:cNvSpPr>
            <a:spLocks noGrp="1"/>
          </p:cNvSpPr>
          <p:nvPr/>
        </p:nvSpPr>
        <p:spPr>
          <a:xfrm>
            <a:off x="990600" y="3952875"/>
            <a:ext cx="48672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UI детайлите принадлежат на Web/ViewModels.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B8E059-C455-4974-8DCC-7E7C196FEBE7}"/>
              </a:ext>
            </a:extLst>
          </p:cNvPr>
          <p:cNvSpPr>
            <a:spLocks noGrp="1"/>
          </p:cNvSpPr>
          <p:nvPr/>
        </p:nvSpPr>
        <p:spPr>
          <a:xfrm>
            <a:off x="6429375" y="1476375"/>
            <a:ext cx="76200" cy="723900"/>
          </a:xfrm>
          <a:prstGeom prst="rect">
            <a:avLst/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9928DB-9C63-446F-8EE2-DB0931216075}"/>
              </a:ext>
            </a:extLst>
          </p:cNvPr>
          <p:cNvSpPr>
            <a:spLocks noGrp="1"/>
          </p:cNvSpPr>
          <p:nvPr/>
        </p:nvSpPr>
        <p:spPr>
          <a:xfrm>
            <a:off x="6657975" y="1476375"/>
            <a:ext cx="4676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500" b="1">
                <a:solidFill>
                  <a:srgbClr val="0B132B"/>
                </a:solidFill>
              </a:defRPr>
            </a:defPPr>
          </a:lstStyle>
          <a:p>
            <a:pPr algn="l">
              <a:defRPr sz="1500" b="1">
                <a:solidFill>
                  <a:srgbClr val="0B132B"/>
                </a:solidFill>
              </a:defRPr>
            </a:pPr>
            <a:r>
              <a:rPr sz="1500" b="1">
                <a:solidFill>
                  <a:srgbClr val="0B132B"/>
                </a:solidFill>
              </a:rPr>
              <a:t>Всички правила в controller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BD6FEF-EF33-49F8-A522-EAEEFB5E70A7}"/>
              </a:ext>
            </a:extLst>
          </p:cNvPr>
          <p:cNvSpPr>
            <a:spLocks noGrp="1"/>
          </p:cNvSpPr>
          <p:nvPr/>
        </p:nvSpPr>
        <p:spPr>
          <a:xfrm>
            <a:off x="6657975" y="1762125"/>
            <a:ext cx="467677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0">
                <a:solidFill>
                  <a:srgbClr val="5B6770"/>
                </a:solidFill>
              </a:defRPr>
            </a:defPPr>
          </a:lstStyle>
          <a:p>
            <a:pPr algn="l">
              <a:defRPr sz="1200" b="0">
                <a:solidFill>
                  <a:srgbClr val="5B6770"/>
                </a:solidFill>
              </a:defRPr>
            </a:pPr>
            <a:r>
              <a:rPr sz="1200" b="0">
                <a:solidFill>
                  <a:srgbClr val="5B6770"/>
                </a:solidFill>
              </a:rPr>
              <a:t>Правилата за валидно състояние принадлежат на бизнес обекта.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5EC103-AF2D-46EF-B8F2-C141E6BF1D60}"/>
              </a:ext>
            </a:extLst>
          </p:cNvPr>
          <p:cNvSpPr>
            <a:spLocks noGrp="1"/>
          </p:cNvSpPr>
          <p:nvPr/>
        </p:nvSpPr>
        <p:spPr>
          <a:xfrm>
            <a:off x="6429375" y="2714625"/>
            <a:ext cx="4905375" cy="1666875"/>
          </a:xfrm>
          <a:prstGeom prst="roundRect">
            <a:avLst>
              <a:gd name="adj" fmla="val 4571"/>
            </a:avLst>
          </a:prstGeom>
          <a:solidFill>
            <a:srgbClr val="0B132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6FE23F-E6E2-4587-93BE-0AE61E01F895}"/>
              </a:ext>
            </a:extLst>
          </p:cNvPr>
          <p:cNvSpPr>
            <a:spLocks noGrp="1"/>
          </p:cNvSpPr>
          <p:nvPr/>
        </p:nvSpPr>
        <p:spPr>
          <a:xfrm>
            <a:off x="6715125" y="2952750"/>
            <a:ext cx="433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1">
                <a:solidFill>
                  <a:srgbClr val="6FFFE9"/>
                </a:solidFill>
              </a:defRPr>
            </a:defPPr>
          </a:lstStyle>
          <a:p>
            <a:pPr algn="l">
              <a:defRPr sz="1425" b="1">
                <a:solidFill>
                  <a:srgbClr val="6FFFE9"/>
                </a:solidFill>
              </a:defRPr>
            </a:pPr>
            <a:r>
              <a:rPr sz="1425" b="1">
                <a:solidFill>
                  <a:srgbClr val="6FFFE9"/>
                </a:solidFill>
              </a:rPr>
              <a:t>Диагностичен въпрос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2CDD1D-7C77-4709-8CB8-A144610A99A0}"/>
              </a:ext>
            </a:extLst>
          </p:cNvPr>
          <p:cNvSpPr>
            <a:spLocks noGrp="1"/>
          </p:cNvSpPr>
          <p:nvPr/>
        </p:nvSpPr>
        <p:spPr>
          <a:xfrm>
            <a:off x="6715125" y="3381375"/>
            <a:ext cx="43338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650" b="1">
                <a:solidFill>
                  <a:srgbClr val="FFFFFF"/>
                </a:solidFill>
              </a:defRPr>
            </a:defPPr>
          </a:lstStyle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Може ли Book да се използва и от конзолно приложение без промени?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1D20B6-507C-44ED-B70A-5AEDC9ABD619}"/>
              </a:ext>
            </a:extLst>
          </p:cNvPr>
          <p:cNvSpPr>
            <a:spLocks noGrp="1"/>
          </p:cNvSpPr>
          <p:nvPr/>
        </p:nvSpPr>
        <p:spPr>
          <a:xfrm>
            <a:off x="552450" y="65055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5B6770"/>
                </a:solidFill>
              </a:defRPr>
            </a:defPPr>
          </a:lstStyle>
          <a:p>
            <a:pPr algn="l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SchoolLibrary Mini · ИП–РПП · 12. клас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61DECB1-327A-4923-AF12-6F456097A0F3}"/>
              </a:ext>
            </a:extLst>
          </p:cNvPr>
          <p:cNvSpPr>
            <a:spLocks noGrp="1"/>
          </p:cNvSpPr>
          <p:nvPr/>
        </p:nvSpPr>
        <p:spPr>
          <a:xfrm>
            <a:off x="10763250" y="6505575"/>
            <a:ext cx="857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r">
              <a:defRPr sz="825" b="0">
                <a:solidFill>
                  <a:srgbClr val="5B6770"/>
                </a:solidFill>
              </a:defRPr>
            </a:defPPr>
          </a:lstStyle>
          <a:p>
            <a:pPr algn="r">
              <a:defRPr sz="825" b="0">
                <a:solidFill>
                  <a:srgbClr val="5B6770"/>
                </a:solidFill>
              </a:defRPr>
            </a:pPr>
            <a:r>
              <a:rPr sz="825" b="0">
                <a:solidFill>
                  <a:srgbClr val="5B6770"/>
                </a:solidFill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1481242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DD466A7-00AF-4C53-A3AE-62B048F0C631}"/>
              </a:ext>
            </a:extLst>
          </p:cNvPr>
          <p:cNvSpPr>
            <a:spLocks noGrp="1"/>
          </p:cNvSpPr>
          <p:nvPr/>
        </p:nvSpPr>
        <p:spPr>
          <a:xfrm>
            <a:off x="762000" y="571500"/>
            <a:ext cx="4000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200" b="1">
                <a:solidFill>
                  <a:srgbClr val="6FFFE9"/>
                </a:solidFill>
              </a:defRPr>
            </a:defPPr>
          </a:lstStyle>
          <a:p>
            <a:pPr algn="l">
              <a:defRPr sz="1200" b="1">
                <a:solidFill>
                  <a:srgbClr val="6FFFE9"/>
                </a:solidFill>
              </a:defRPr>
            </a:pPr>
            <a:r>
              <a:rPr sz="1200" b="1">
                <a:solidFill>
                  <a:srgbClr val="6FFFE9"/>
                </a:solidFill>
              </a:rPr>
              <a:t>Изходен билет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15DB23-CF1E-449D-9765-0971A3BC8524}"/>
              </a:ext>
            </a:extLst>
          </p:cNvPr>
          <p:cNvSpPr>
            <a:spLocks noGrp="1"/>
          </p:cNvSpPr>
          <p:nvPr/>
        </p:nvSpPr>
        <p:spPr>
          <a:xfrm>
            <a:off x="762000" y="1190625"/>
            <a:ext cx="647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3150" b="1">
                <a:solidFill>
                  <a:srgbClr val="FFFFFF"/>
                </a:solidFill>
              </a:defRPr>
            </a:defPPr>
          </a:lstStyle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Какво вече пази</a:t>
            </a:r>
          </a:p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бизнес слоят?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413661A-BA12-4E65-B60A-D3684890D96A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8858250" cy="552450"/>
          </a:xfrm>
          <a:prstGeom prst="roundRect">
            <a:avLst>
              <a:gd name="adj" fmla="val 13793"/>
            </a:avLst>
          </a:prstGeom>
          <a:solidFill>
            <a:srgbClr val="14213D"/>
          </a:solidFill>
          <a:ln w="9525">
            <a:solidFill>
              <a:srgbClr val="1C5D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C4A5D6F-C61A-4399-AB03-DC783A046603}"/>
              </a:ext>
            </a:extLst>
          </p:cNvPr>
          <p:cNvSpPr>
            <a:spLocks noGrp="1"/>
          </p:cNvSpPr>
          <p:nvPr/>
        </p:nvSpPr>
        <p:spPr>
          <a:xfrm>
            <a:off x="1095375" y="2819400"/>
            <a:ext cx="838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F7F4EA"/>
                </a:solidFill>
              </a:defRPr>
            </a:defPPr>
          </a:lstStyle>
          <a:p>
            <a:pPr algn="l">
              <a:defRPr sz="1425" b="0">
                <a:solidFill>
                  <a:srgbClr val="F7F4EA"/>
                </a:solidFill>
              </a:defRPr>
            </a:pPr>
            <a:r>
              <a:rPr sz="1425" b="0">
                <a:solidFill>
                  <a:srgbClr val="F7F4EA"/>
                </a:solidFill>
              </a:rPr>
              <a:t>1. Защо Business не трябва да зависи от Web?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615B400-C140-4B7D-A827-4ECA070AE87A}"/>
              </a:ext>
            </a:extLst>
          </p:cNvPr>
          <p:cNvSpPr>
            <a:spLocks noGrp="1"/>
          </p:cNvSpPr>
          <p:nvPr/>
        </p:nvSpPr>
        <p:spPr>
          <a:xfrm>
            <a:off x="857250" y="3543300"/>
            <a:ext cx="8858250" cy="552450"/>
          </a:xfrm>
          <a:prstGeom prst="roundRect">
            <a:avLst>
              <a:gd name="adj" fmla="val 13793"/>
            </a:avLst>
          </a:prstGeom>
          <a:solidFill>
            <a:srgbClr val="14213D"/>
          </a:solidFill>
          <a:ln w="9525">
            <a:solidFill>
              <a:srgbClr val="1C5D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7D6BFE-DD54-4AC8-814F-146837E2F038}"/>
              </a:ext>
            </a:extLst>
          </p:cNvPr>
          <p:cNvSpPr>
            <a:spLocks noGrp="1"/>
          </p:cNvSpPr>
          <p:nvPr/>
        </p:nvSpPr>
        <p:spPr>
          <a:xfrm>
            <a:off x="1095375" y="3600450"/>
            <a:ext cx="838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F7F4EA"/>
                </a:solidFill>
              </a:defRPr>
            </a:defPPr>
          </a:lstStyle>
          <a:p>
            <a:pPr algn="l">
              <a:defRPr sz="1425" b="0">
                <a:solidFill>
                  <a:srgbClr val="F7F4EA"/>
                </a:solidFill>
              </a:defRPr>
            </a:pPr>
            <a:r>
              <a:rPr sz="1425" b="0">
                <a:solidFill>
                  <a:srgbClr val="F7F4EA"/>
                </a:solidFill>
              </a:rPr>
              <a:t>2. Кой инвариант пази конструкторът на Book?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1A6CF6C-2474-452C-86E5-35DC719A3BD4}"/>
              </a:ext>
            </a:extLst>
          </p:cNvPr>
          <p:cNvSpPr>
            <a:spLocks noGrp="1"/>
          </p:cNvSpPr>
          <p:nvPr/>
        </p:nvSpPr>
        <p:spPr>
          <a:xfrm>
            <a:off x="857250" y="4324350"/>
            <a:ext cx="8858250" cy="552450"/>
          </a:xfrm>
          <a:prstGeom prst="roundRect">
            <a:avLst>
              <a:gd name="adj" fmla="val 13793"/>
            </a:avLst>
          </a:prstGeom>
          <a:solidFill>
            <a:srgbClr val="14213D"/>
          </a:solidFill>
          <a:ln w="9525">
            <a:solidFill>
              <a:srgbClr val="1C5D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51CDAB-00D0-4B64-8777-31D22729EB4A}"/>
              </a:ext>
            </a:extLst>
          </p:cNvPr>
          <p:cNvSpPr>
            <a:spLocks noGrp="1"/>
          </p:cNvSpPr>
          <p:nvPr/>
        </p:nvSpPr>
        <p:spPr>
          <a:xfrm>
            <a:off x="1095375" y="4381500"/>
            <a:ext cx="8382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425" b="0">
                <a:solidFill>
                  <a:srgbClr val="F7F4EA"/>
                </a:solidFill>
              </a:defRPr>
            </a:defPPr>
          </a:lstStyle>
          <a:p>
            <a:pPr algn="l">
              <a:defRPr sz="1425" b="0">
                <a:solidFill>
                  <a:srgbClr val="F7F4EA"/>
                </a:solidFill>
              </a:defRPr>
            </a:pPr>
            <a:r>
              <a:rPr sz="1425" b="0">
                <a:solidFill>
                  <a:srgbClr val="F7F4EA"/>
                </a:solidFill>
              </a:rPr>
              <a:t>3. Защо TotalCopies има private set?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DE4EDF-BDB3-4A97-8F49-80EC390C9838}"/>
              </a:ext>
            </a:extLst>
          </p:cNvPr>
          <p:cNvSpPr>
            <a:spLocks noGrp="1"/>
          </p:cNvSpPr>
          <p:nvPr/>
        </p:nvSpPr>
        <p:spPr>
          <a:xfrm>
            <a:off x="10001250" y="2762250"/>
            <a:ext cx="1428750" cy="2114550"/>
          </a:xfrm>
          <a:prstGeom prst="roundRect">
            <a:avLst>
              <a:gd name="adj" fmla="val 5333"/>
            </a:avLst>
          </a:prstGeom>
          <a:solidFill>
            <a:srgbClr val="159A9C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32FE74-8668-447E-AB66-6F7D6BCA43BC}"/>
              </a:ext>
            </a:extLst>
          </p:cNvPr>
          <p:cNvSpPr>
            <a:spLocks noGrp="1"/>
          </p:cNvSpPr>
          <p:nvPr/>
        </p:nvSpPr>
        <p:spPr>
          <a:xfrm>
            <a:off x="10144125" y="2952750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B132B"/>
                </a:solidFill>
              </a:defRPr>
            </a:defPPr>
          </a:lstStyle>
          <a:p>
            <a:pPr algn="ctr">
              <a:defRPr sz="1050" b="1">
                <a:solidFill>
                  <a:srgbClr val="0B132B"/>
                </a:solidFill>
              </a:defRPr>
            </a:pPr>
            <a:r>
              <a:rPr sz="1050" b="1">
                <a:solidFill>
                  <a:srgbClr val="0B132B"/>
                </a:solidFill>
              </a:rPr>
              <a:t>СЛЕДВАЩ</a:t>
            </a:r>
          </a:p>
          <a:p>
            <a:pPr algn="ctr">
              <a:defRPr sz="1050" b="1">
                <a:solidFill>
                  <a:srgbClr val="0B132B"/>
                </a:solidFill>
              </a:defRPr>
            </a:pPr>
            <a:r>
              <a:rPr sz="1050" b="1">
                <a:solidFill>
                  <a:srgbClr val="0B132B"/>
                </a:solidFill>
              </a:rPr>
              <a:t>ЧАС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974713-2438-4DA0-B090-B08A27019114}"/>
              </a:ext>
            </a:extLst>
          </p:cNvPr>
          <p:cNvSpPr>
            <a:spLocks noGrp="1"/>
          </p:cNvSpPr>
          <p:nvPr/>
        </p:nvSpPr>
        <p:spPr>
          <a:xfrm>
            <a:off x="10144125" y="3571875"/>
            <a:ext cx="1143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425" b="1">
                <a:solidFill>
                  <a:srgbClr val="FFFFFF"/>
                </a:solidFill>
              </a:defRPr>
            </a:defPPr>
          </a:lstStyle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Връзки</a:t>
            </a: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между</a:t>
            </a: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обектите</a:t>
            </a:r>
          </a:p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и Loan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F0446-D5A4-47ED-98C9-684B83C79C80}"/>
              </a:ext>
            </a:extLst>
          </p:cNvPr>
          <p:cNvSpPr>
            <a:spLocks noGrp="1"/>
          </p:cNvSpPr>
          <p:nvPr/>
        </p:nvSpPr>
        <p:spPr>
          <a:xfrm>
            <a:off x="857250" y="5619750"/>
            <a:ext cx="1047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1350" b="1">
                <a:solidFill>
                  <a:srgbClr val="F4A261"/>
                </a:solidFill>
              </a:defRPr>
            </a:defPPr>
          </a:lstStyle>
          <a:p>
            <a:pPr algn="l">
              <a:defRPr sz="1350" b="1">
                <a:solidFill>
                  <a:srgbClr val="F4A261"/>
                </a:solidFill>
              </a:defRPr>
            </a:pPr>
            <a:r>
              <a:rPr sz="1350" b="1">
                <a:solidFill>
                  <a:srgbClr val="F4A261"/>
                </a:solidFill>
              </a:rPr>
              <a:t>Домашна работа: добавете валидиращ конструктор на Category.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46CA999-FC2D-4F8B-A3E0-03DAE1489C5C}"/>
              </a:ext>
            </a:extLst>
          </p:cNvPr>
          <p:cNvSpPr>
            <a:spLocks noGrp="1"/>
          </p:cNvSpPr>
          <p:nvPr/>
        </p:nvSpPr>
        <p:spPr>
          <a:xfrm>
            <a:off x="857250" y="63341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l">
              <a:defRPr sz="825" b="0">
                <a:solidFill>
                  <a:srgbClr val="F7F4EA"/>
                </a:solidFill>
              </a:defRPr>
            </a:defPPr>
          </a:lstStyle>
          <a:p>
            <a:pPr algn="l">
              <a:defRPr sz="825" b="0">
                <a:solidFill>
                  <a:srgbClr val="F7F4EA"/>
                </a:solidFill>
              </a:defRPr>
            </a:pPr>
            <a:r>
              <a:rPr sz="825" b="0">
                <a:solidFill>
                  <a:srgbClr val="F7F4EA"/>
                </a:solidFill>
              </a:rPr>
              <a:t>SchoolLibrary Mini · Част 1 от 3</a:t>
            </a:r>
          </a:p>
        </p:txBody>
      </p:sp>
    </p:spTree>
    <p:extLst>
      <p:ext uri="{BB962C8B-B14F-4D97-AF65-F5344CB8AC3E}">
        <p14:creationId xmlns:p14="http://schemas.microsoft.com/office/powerpoint/2010/main" val="7929568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1537</Words>
  <Application>Microsoft Office PowerPoint</Application>
  <DocSecurity>0</DocSecurity>
  <PresentationFormat>Widescreen</PresentationFormat>
  <Paragraphs>313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Ahmed Ahmed</cp:lastModifiedBy>
  <cp:revision>5</cp:revision>
  <dcterms:created xsi:type="dcterms:W3CDTF">2026-10-08T17:47:00Z</dcterms:created>
  <dcterms:modified xsi:type="dcterms:W3CDTF">2026-10-08T18:05:18Z</dcterms:modified>
</cp:coreProperties>
</file>