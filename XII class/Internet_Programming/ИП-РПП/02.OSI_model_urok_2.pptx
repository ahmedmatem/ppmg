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307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7726680" y="228600"/>
            <a:ext cx="4069080" cy="4069080"/>
          </a:xfrm>
          <a:prstGeom prst="arc">
            <a:avLst/>
          </a:prstGeom>
          <a:solidFill>
            <a:srgbClr val="20B8CD">
              <a:alpha val="85000"/>
            </a:srgbClr>
          </a:solidFill>
          <a:ln w="12700">
            <a:solidFill>
              <a:srgbClr val="20B8C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 rot="12600000">
            <a:off x="8412480" y="2971800"/>
            <a:ext cx="3337560" cy="3337560"/>
          </a:xfrm>
          <a:prstGeom prst="arc">
            <a:avLst/>
          </a:prstGeom>
          <a:solidFill>
            <a:srgbClr val="176BCE"/>
          </a:solidFill>
          <a:ln w="12700">
            <a:solidFill>
              <a:srgbClr val="176B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58368" y="566928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291693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РПП • Интернет програмиране • 12. клас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68580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OSI модел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76656" y="2267712"/>
            <a:ext cx="685800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dirty="0">
                <a:solidFill>
                  <a:srgbClr val="B9EAF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Протоколи, устройства и моделът TCP/IP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85800" y="5413248"/>
            <a:ext cx="3657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3CCD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Урок 2 от 3  |  45 минути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870448"/>
            <a:ext cx="3657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93A2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Ахмед Матем Ахмед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Кратък преговор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5308092" cy="1417320"/>
          </a:xfrm>
          <a:prstGeom prst="roundRect">
            <a:avLst>
              <a:gd name="adj" fmla="val 3226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41248" y="136245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7–5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773936"/>
            <a:ext cx="4942332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Работа с данните на приложението.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22492" y="1234440"/>
            <a:ext cx="5308092" cy="1417320"/>
          </a:xfrm>
          <a:prstGeom prst="roundRect">
            <a:avLst>
              <a:gd name="adj" fmla="val 3226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5372" y="136245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5372" y="1773936"/>
            <a:ext cx="4942332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Доставка между процеси.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2944368"/>
            <a:ext cx="5308092" cy="1417320"/>
          </a:xfrm>
          <a:prstGeom prst="roundRect">
            <a:avLst>
              <a:gd name="adj" fmla="val 3226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41248" y="307238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3483864"/>
            <a:ext cx="4942332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Път между мрежи.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22492" y="2944368"/>
            <a:ext cx="5308092" cy="1417320"/>
          </a:xfrm>
          <a:prstGeom prst="roundRect">
            <a:avLst>
              <a:gd name="adj" fmla="val 3226"/>
            </a:avLst>
          </a:prstGeom>
          <a:solidFill>
            <a:srgbClr val="FCEEEE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05372" y="307238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2–1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5372" y="3483864"/>
            <a:ext cx="4942332" cy="7589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Локална доставка и сигнал.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846320"/>
            <a:ext cx="102412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Въпрос: Къде се намират IP адресът, MAC адресът и портът?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Протоколът задава правила за комуникация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4846320" cy="2286000"/>
          </a:xfrm>
          <a:prstGeom prst="roundRect">
            <a:avLst>
              <a:gd name="adj" fmla="val 2000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97280" y="1316736"/>
            <a:ext cx="44805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Мрежов протокол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728216"/>
            <a:ext cx="4480560" cy="1627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Система от правила, която определя формата, реда и смисъла на съобщенията между устройства.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188720"/>
            <a:ext cx="4846320" cy="2286000"/>
          </a:xfrm>
          <a:prstGeom prst="roundRect">
            <a:avLst>
              <a:gd name="adj" fmla="val 2000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583680" y="1316736"/>
            <a:ext cx="44805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Пример с разговор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1728216"/>
            <a:ext cx="4480560" cy="16276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Участниците се представят, следват ред за говорене и разбират кога разговорът приключва.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4251960"/>
            <a:ext cx="987552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Различните слоеве използват различни протоколи.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Протоколи в приложните слоеве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097280"/>
            <a:ext cx="5308092" cy="1600200"/>
          </a:xfrm>
          <a:prstGeom prst="roundRect">
            <a:avLst>
              <a:gd name="adj" fmla="val 285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41248" y="122529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/ HTTPS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636776"/>
            <a:ext cx="49423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Заявки и отговори при работа с уеб съдържание.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22492" y="1097280"/>
            <a:ext cx="5308092" cy="1600200"/>
          </a:xfrm>
          <a:prstGeom prst="roundRect">
            <a:avLst>
              <a:gd name="adj" fmla="val 285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5372" y="122529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5372" y="1636776"/>
            <a:ext cx="49423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Преобразува име на домейн в IP адрес.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2990088"/>
            <a:ext cx="5308092" cy="1600200"/>
          </a:xfrm>
          <a:prstGeom prst="roundRect">
            <a:avLst>
              <a:gd name="adj" fmla="val 2857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41248" y="311810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SMTP / IMAP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3529584"/>
            <a:ext cx="49423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Изпращане и получаване на електронна поща.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22492" y="2990088"/>
            <a:ext cx="5308092" cy="1600200"/>
          </a:xfrm>
          <a:prstGeom prst="roundRect">
            <a:avLst>
              <a:gd name="adj" fmla="val 2857"/>
            </a:avLst>
          </a:prstGeom>
          <a:solidFill>
            <a:srgbClr val="F4EEFA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05372" y="311810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DHCP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5372" y="3529584"/>
            <a:ext cx="4942332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Предоставя автоматично IP конфигурация.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TCP и UDP на транспортния слой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5074920" cy="2423160"/>
          </a:xfrm>
          <a:prstGeom prst="roundRect">
            <a:avLst>
              <a:gd name="adj" fmla="val 188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05840" y="1271016"/>
            <a:ext cx="47091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TCP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682496"/>
            <a:ext cx="4709160" cy="1764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Създава логическа връзка, следи реда на сегментите и възстановява загубени данни.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91072" y="1143000"/>
            <a:ext cx="5074920" cy="2423160"/>
          </a:xfrm>
          <a:prstGeom prst="roundRect">
            <a:avLst>
              <a:gd name="adj" fmla="val 1887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73952" y="1271016"/>
            <a:ext cx="47091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UDP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73952" y="1682496"/>
            <a:ext cx="4709160" cy="1764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Изпраща дейтаграми без потвърждение за всяка доставка. Намалява допълнителната обработка.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80360" y="4251960"/>
            <a:ext cx="6400800" cy="4206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Изборът зависи от приложението.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011680" y="4828032"/>
            <a:ext cx="81381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Файл: TCP    •    Видео на живо: често UDP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Адреси на три различни нива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371600"/>
            <a:ext cx="3453384" cy="2514600"/>
          </a:xfrm>
          <a:prstGeom prst="roundRect">
            <a:avLst>
              <a:gd name="adj" fmla="val 1818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41248" y="149961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Порт • слой 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911096"/>
            <a:ext cx="3087624" cy="1856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Насочва данните към процес или услуга.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Пример: 443.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2514600"/>
          </a:xfrm>
          <a:prstGeom prst="roundRect">
            <a:avLst>
              <a:gd name="adj" fmla="val 1818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50664" y="149961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IP адрес • слой 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50664" y="1911096"/>
            <a:ext cx="3087624" cy="1856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Идентифицира интерфейс в логическа мрежа.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Пример: 192.168.1.20.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7200" y="1371600"/>
            <a:ext cx="3453384" cy="2514600"/>
          </a:xfrm>
          <a:prstGeom prst="roundRect">
            <a:avLst>
              <a:gd name="adj" fmla="val 1818"/>
            </a:avLst>
          </a:prstGeom>
          <a:solidFill>
            <a:srgbClr val="FCEEEE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60080" y="149961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MAC адрес • слой 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60080" y="1911096"/>
            <a:ext cx="3087624" cy="1856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Използва се за локална доставка в мрежовия сегмент.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Пример: 3C:52:82:…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Портът, IP адресът и MAC адресът решават различни задачи.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8065A8"/>
          </a:solidFill>
          <a:ln w="12700">
            <a:solidFill>
              <a:srgbClr val="8065A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Мрежови устройства и слоеве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051560"/>
            <a:ext cx="5308092" cy="1783080"/>
          </a:xfrm>
          <a:prstGeom prst="roundRect">
            <a:avLst>
              <a:gd name="adj" fmla="val 2564"/>
            </a:avLst>
          </a:prstGeom>
          <a:solidFill>
            <a:srgbClr val="FCEEEE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41248" y="117957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Мрежова карта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591056"/>
            <a:ext cx="4942332" cy="11247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Свързва устройството със средата. Работи главно на слоеве 1 и 2.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22492" y="1051560"/>
            <a:ext cx="5308092" cy="1783080"/>
          </a:xfrm>
          <a:prstGeom prst="roundRect">
            <a:avLst>
              <a:gd name="adj" fmla="val 2564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5372" y="1179576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Суич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5372" y="1591056"/>
            <a:ext cx="4942332" cy="11247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Препраща кадри според MAC адреси. Работи главно на слой 2.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127248"/>
            <a:ext cx="5308092" cy="1783080"/>
          </a:xfrm>
          <a:prstGeom prst="roundRect">
            <a:avLst>
              <a:gd name="adj" fmla="val 2564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41248" y="325526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Рутер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3666744"/>
            <a:ext cx="4942332" cy="11247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Препраща пакети между мрежи според IP адреси. Работи главно на слой 3.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22492" y="3127248"/>
            <a:ext cx="5308092" cy="1783080"/>
          </a:xfrm>
          <a:prstGeom prst="roundRect">
            <a:avLst>
              <a:gd name="adj" fmla="val 2564"/>
            </a:avLst>
          </a:prstGeom>
          <a:solidFill>
            <a:srgbClr val="F4EEFA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05372" y="3255264"/>
            <a:ext cx="4942332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Защитна стена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5372" y="3666744"/>
            <a:ext cx="4942332" cy="11247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Филтрира трафик според адреси, портове и правила. Може да анализира няколко слоя.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OSI и TCP/IP описват една комуникация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60120"/>
          <a:ext cx="10332720" cy="4242816"/>
        </p:xfrm>
        <a:graphic>
          <a:graphicData uri="http://schemas.openxmlformats.org/drawingml/2006/table">
            <a:tbl>
              <a:tblPr/>
              <a:tblGrid>
                <a:gridCol w="344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OSI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TCP/IP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Примери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 Приложен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Приложен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HTTP, DNS, SMTP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 Представителен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Приложен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TLS, UTF-8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 Сесиен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Приложен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управление на сесии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 Транспортен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Транспортен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TCP, UDP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 Мрежов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Интернет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IP, ICMP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 Канален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Мрежов достъп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Ethernet, Wi-Fi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 Физически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Мрежов достъп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кабел, оптика, радио</a:t>
                      </a:r>
                      <a:endParaRPr lang="en-US" sz="14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DD8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Как се отваря https://example.com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987552"/>
            <a:ext cx="566928" cy="566928"/>
          </a:xfrm>
          <a:prstGeom prst="ellipse">
            <a:avLst/>
          </a:prstGeom>
          <a:solidFill>
            <a:srgbClr val="20B8C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1106424"/>
            <a:ext cx="384048" cy="246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17904" y="969264"/>
            <a:ext cx="45262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DNS намира IP адреса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09360" y="987552"/>
            <a:ext cx="566928" cy="566928"/>
          </a:xfrm>
          <a:prstGeom prst="ellipse">
            <a:avLst/>
          </a:prstGeom>
          <a:solidFill>
            <a:srgbClr val="20B8C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0" y="1106424"/>
            <a:ext cx="384048" cy="246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95744" y="969264"/>
            <a:ext cx="45262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TCP установява връзка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432304"/>
            <a:ext cx="566928" cy="566928"/>
          </a:xfrm>
          <a:prstGeom prst="ellipse">
            <a:avLst/>
          </a:prstGeom>
          <a:solidFill>
            <a:srgbClr val="2E9B7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2960" y="2551176"/>
            <a:ext cx="384048" cy="246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17904" y="2414016"/>
            <a:ext cx="45262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TLS договаря защита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2432304"/>
            <a:ext cx="566928" cy="566928"/>
          </a:xfrm>
          <a:prstGeom prst="ellipse">
            <a:avLst/>
          </a:prstGeom>
          <a:solidFill>
            <a:srgbClr val="2E9B7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400800" y="2551176"/>
            <a:ext cx="384048" cy="246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095744" y="2414016"/>
            <a:ext cx="45262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изпраща заявка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3877056"/>
            <a:ext cx="566928" cy="566928"/>
          </a:xfrm>
          <a:prstGeom prst="ellipse">
            <a:avLst/>
          </a:prstGeom>
          <a:solidFill>
            <a:srgbClr val="F19A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22960" y="3995928"/>
            <a:ext cx="384048" cy="246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17904" y="3858768"/>
            <a:ext cx="45262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IP насочва пакетите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09360" y="3877056"/>
            <a:ext cx="566928" cy="566928"/>
          </a:xfrm>
          <a:prstGeom prst="ellipse">
            <a:avLst/>
          </a:prstGeom>
          <a:solidFill>
            <a:srgbClr val="F19A3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400800" y="3995928"/>
            <a:ext cx="384048" cy="246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95744" y="3858768"/>
            <a:ext cx="4526280" cy="6217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Ethernet или Wi-Fi пренася кадрите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Практическа задача: свържете тройките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188720"/>
            <a:ext cx="3453384" cy="2103120"/>
          </a:xfrm>
          <a:prstGeom prst="roundRect">
            <a:avLst>
              <a:gd name="adj" fmla="val 2174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41248" y="131673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Протокол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728216"/>
            <a:ext cx="3087624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• TCP • IP • Ethernet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7784" y="1188720"/>
            <a:ext cx="3453384" cy="2103120"/>
          </a:xfrm>
          <a:prstGeom prst="roundRect">
            <a:avLst>
              <a:gd name="adj" fmla="val 2174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50664" y="131673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50664" y="1728216"/>
            <a:ext cx="3087624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 • 4 • 3 • 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7200" y="1188720"/>
            <a:ext cx="3590544" cy="2103120"/>
          </a:xfrm>
          <a:prstGeom prst="roundRect">
            <a:avLst>
              <a:gd name="adj" fmla="val 2174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60080" y="131673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Устройство / обект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60080" y="1728216"/>
            <a:ext cx="3453383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уеб сървър • порт • рутер • суич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5740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Пример: IP  •  слой 3  •  рутер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388620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Работа по двойки: 4 минути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Решение на практическата задача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487168" cy="2057400"/>
          </a:xfrm>
          <a:prstGeom prst="roundRect">
            <a:avLst>
              <a:gd name="adj" fmla="val 2222"/>
            </a:avLst>
          </a:prstGeom>
          <a:solidFill>
            <a:srgbClr val="EAF4FB"/>
          </a:solidFill>
          <a:ln w="1524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212140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307592" y="2130552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380744" y="2185416"/>
            <a:ext cx="117957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770632"/>
            <a:ext cx="212140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уеб сървър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47872" y="1325880"/>
            <a:ext cx="2487168" cy="2057400"/>
          </a:xfrm>
          <a:prstGeom prst="roundRect">
            <a:avLst>
              <a:gd name="adj" fmla="val 2222"/>
            </a:avLst>
          </a:prstGeom>
          <a:solidFill>
            <a:srgbClr val="EDF8F5"/>
          </a:solidFill>
          <a:ln w="1524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730752" y="1600200"/>
            <a:ext cx="212140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TCP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4123944" y="2130552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197096" y="2185416"/>
            <a:ext cx="117957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30752" y="2770632"/>
            <a:ext cx="212140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порт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64224" y="1325880"/>
            <a:ext cx="2487168" cy="2057400"/>
          </a:xfrm>
          <a:prstGeom prst="roundRect">
            <a:avLst>
              <a:gd name="adj" fmla="val 2222"/>
            </a:avLst>
          </a:prstGeom>
          <a:solidFill>
            <a:srgbClr val="EAF4FB"/>
          </a:solidFill>
          <a:ln w="1524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547104" y="1600200"/>
            <a:ext cx="212140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IP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940296" y="2130552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013448" y="2185416"/>
            <a:ext cx="117957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47104" y="2770632"/>
            <a:ext cx="212140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рутер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80576" y="1325880"/>
            <a:ext cx="2487168" cy="2057400"/>
          </a:xfrm>
          <a:prstGeom prst="roundRect">
            <a:avLst>
              <a:gd name="adj" fmla="val 2222"/>
            </a:avLst>
          </a:prstGeom>
          <a:solidFill>
            <a:srgbClr val="EDF8F5"/>
          </a:solidFill>
          <a:ln w="1524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363456" y="1600200"/>
            <a:ext cx="2121408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Ethernet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756648" y="2130552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829800" y="2185416"/>
            <a:ext cx="1179576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63456" y="2770632"/>
            <a:ext cx="212140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суич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4389120"/>
            <a:ext cx="99669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Един протокол може да участва в комуникация с много устройства.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Мини тест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41248" y="11521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Кое устройство използва MAC адреси?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5636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Суич   B) Рутер   C) DNS сървър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45936" y="10241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528816" y="11521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Къде работи TCP?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28816" y="15636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Слой 2   B) Слой 3   C) Слой 4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0815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41248" y="32095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Кой протокол намира IP по име?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36210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DNS   B) SMTP   C) Ethernet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45936" y="3081528"/>
            <a:ext cx="5349240" cy="1600200"/>
          </a:xfrm>
          <a:prstGeom prst="roundRect">
            <a:avLst>
              <a:gd name="adj" fmla="val 285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528816" y="3209544"/>
            <a:ext cx="49834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Към кой TCP/IP слой се отнасят OSI 7–5?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28816" y="3621024"/>
            <a:ext cx="4983480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Интернет   B) Приложен   C) Мрежов достъп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Най-важното от втория час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3453384" cy="1874520"/>
          </a:xfrm>
          <a:prstGeom prst="roundRect">
            <a:avLst>
              <a:gd name="adj" fmla="val 2439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41248" y="136245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Протоколите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773936"/>
            <a:ext cx="3087624" cy="12161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Задават правила за обмен на съобщения.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7784" y="1234440"/>
            <a:ext cx="3453384" cy="1874520"/>
          </a:xfrm>
          <a:prstGeom prst="roundRect">
            <a:avLst>
              <a:gd name="adj" fmla="val 2439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50664" y="136245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Адресите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50664" y="1773936"/>
            <a:ext cx="3087624" cy="12161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Порт, IP и MAC действат на различни нива.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7200" y="1234440"/>
            <a:ext cx="3453384" cy="1874520"/>
          </a:xfrm>
          <a:prstGeom prst="roundRect">
            <a:avLst>
              <a:gd name="adj" fmla="val 2439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60080" y="136245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Устройствата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60080" y="1773936"/>
            <a:ext cx="3087624" cy="12161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Суичът и рутерът обработват различни единици данни.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251960"/>
            <a:ext cx="100584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OSI помага да подредим понятията. TCP/IP описва реалния интернет стек.</a:t>
            </a:r>
            <a:endParaRPr lang="en-US" sz="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Изходен билет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8793A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3453384" cy="2194560"/>
          </a:xfrm>
          <a:prstGeom prst="roundRect">
            <a:avLst>
              <a:gd name="adj" fmla="val 2083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41248" y="154533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1956816"/>
            <a:ext cx="3087624" cy="1536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Коя е разликата между IP и MAC адрес?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7784" y="1417320"/>
            <a:ext cx="3453384" cy="2194560"/>
          </a:xfrm>
          <a:prstGeom prst="roundRect">
            <a:avLst>
              <a:gd name="adj" fmla="val 2083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50664" y="154533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50664" y="1956816"/>
            <a:ext cx="3087624" cy="1536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Кой протокол бихте избрали за надеждно прехвърляне на файл?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77200" y="1417320"/>
            <a:ext cx="3453384" cy="2194560"/>
          </a:xfrm>
          <a:prstGeom prst="roundRect">
            <a:avLst>
              <a:gd name="adj" fmla="val 2083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260080" y="1545336"/>
            <a:ext cx="3087624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60080" y="1956816"/>
            <a:ext cx="3087624" cy="1536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Кое устройство свързва различни мрежи?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11680" y="4800600"/>
            <a:ext cx="813816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Следващ час: диагностика на проблеми по слоеве.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752</Words>
  <Application>Microsoft Office PowerPoint</Application>
  <PresentationFormat>Widescreen</PresentationFormat>
  <Paragraphs>184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DejaVu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OSI модел – урок 2</dc:title>
  <dc:subject>Протоколи, устройства и TCP/IP</dc:subject>
  <dc:creator>Ахмед Матем Ахмед</dc:creator>
  <cp:lastModifiedBy>Ahmed Ahmed</cp:lastModifiedBy>
  <cp:revision>2</cp:revision>
  <dcterms:created xsi:type="dcterms:W3CDTF">2026-09-17T18:37:27Z</dcterms:created>
  <dcterms:modified xsi:type="dcterms:W3CDTF">2026-09-24T18:46:46Z</dcterms:modified>
</cp:coreProperties>
</file>