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[object Object]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680960" y="228600"/>
            <a:ext cx="4114800" cy="4114800"/>
          </a:xfrm>
          <a:prstGeom prst="arc">
            <a:avLst/>
          </a:prstGeom>
          <a:solidFill>
            <a:srgbClr val="20B8CD">
              <a:alpha val="84000"/>
            </a:srgbClr>
          </a:solidFill>
          <a:ln w="12700">
            <a:solidFill>
              <a:srgbClr val="20B8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600000">
            <a:off x="8366760" y="2971800"/>
            <a:ext cx="3383280" cy="3383280"/>
          </a:xfrm>
          <a:prstGeom prst="arc">
            <a:avLst/>
          </a:prstGeom>
          <a:solidFill>
            <a:srgbClr val="176BCE">
              <a:alpha val="95000"/>
            </a:srgbClr>
          </a:solidFill>
          <a:ln w="12700">
            <a:solidFill>
              <a:srgbClr val="176BC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66928"/>
            <a:ext cx="3063240" cy="347472"/>
          </a:xfrm>
          <a:prstGeom prst="roundRect">
            <a:avLst>
              <a:gd name="adj" fmla="val 21053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21792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РПП • Интернет програмиране • 12. клас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508760"/>
            <a:ext cx="713232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модел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59152"/>
            <a:ext cx="70408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B9EAF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 данните пътуват през мрежата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5413248"/>
            <a:ext cx="36576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3CCD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Урок 1 от 3  |  45 минути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870448"/>
            <a:ext cx="36576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3A2B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Ахмед Матем Ахмед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Мисловен експеримент: отваряме сайт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429768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браузъра въвеждаме: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1481328"/>
            <a:ext cx="4709160" cy="658368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6510">
            <a:solidFill>
              <a:srgbClr val="C9D5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655064"/>
            <a:ext cx="406908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https://example.com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97880" y="1042416"/>
            <a:ext cx="530352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 по-малко от секунда участват: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897880" y="1572768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9048" y="1719072"/>
            <a:ext cx="21122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Приложение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9048" y="2103120"/>
            <a:ext cx="2112264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Браузърът подготвя заявката.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68512" y="1572768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1719072"/>
            <a:ext cx="21122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Операционна система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869680" y="2103120"/>
            <a:ext cx="2112264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Разделя данните на части.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3072384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9048" y="3218688"/>
            <a:ext cx="21122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Мрежово оборудване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99048" y="3602736"/>
            <a:ext cx="2112264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Насочва сигналите до сървъра.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68512" y="3072384"/>
            <a:ext cx="2514600" cy="1234440"/>
          </a:xfrm>
          <a:prstGeom prst="roundRect">
            <a:avLst>
              <a:gd name="adj" fmla="val 4444"/>
            </a:avLst>
          </a:prstGeom>
          <a:solidFill>
            <a:srgbClr val="F4EEFA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3218688"/>
            <a:ext cx="21122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Уеб сървър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3602736"/>
            <a:ext cx="2112264" cy="576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Връща съдържанието на страницата.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864608"/>
            <a:ext cx="10332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Как тези различни системи се „разбират“?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Защо е необходим мрежов модел?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289304"/>
            <a:ext cx="293522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 език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1673352"/>
            <a:ext cx="2935224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Производители и софтуер следват общи правила.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25696" y="114300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89304"/>
            <a:ext cx="293522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Разделяне на задачите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26864" y="1673352"/>
            <a:ext cx="2935224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Всеки слой решава определен тип проблем.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93024" y="114300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1289304"/>
            <a:ext cx="293522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По-лесна диагностика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94192" y="1673352"/>
            <a:ext cx="2935224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Търсим проблема на конкретно ниво.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767328"/>
            <a:ext cx="992124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е референтен модел, който описва мрежовата комуникация в 7 слоя.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1920240" y="4800600"/>
            <a:ext cx="832104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ISO публикува модела като стандартна рамка за описание и сравнение.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Седемте слоя на OSI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60120" y="987552"/>
            <a:ext cx="10287000" cy="530352"/>
          </a:xfrm>
          <a:prstGeom prst="roundRect">
            <a:avLst>
              <a:gd name="adj" fmla="val 5172"/>
            </a:avLst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078992"/>
            <a:ext cx="3840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5648" y="1060704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Приложен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64608" y="1060704"/>
            <a:ext cx="5806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Услуги за приложенията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1673352"/>
            <a:ext cx="10287000" cy="530352"/>
          </a:xfrm>
          <a:prstGeom prst="roundRect">
            <a:avLst>
              <a:gd name="adj" fmla="val 5172"/>
            </a:avLst>
          </a:prstGeom>
          <a:solidFill>
            <a:srgbClr val="4A8CC7"/>
          </a:solidFill>
          <a:ln w="12700">
            <a:solidFill>
              <a:srgbClr val="4A8C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764792"/>
            <a:ext cx="3840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55648" y="1746504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Представителен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64608" y="1746504"/>
            <a:ext cx="5806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Формат, кодиране, криптиране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2359152"/>
            <a:ext cx="10287000" cy="530352"/>
          </a:xfrm>
          <a:prstGeom prst="roundRect">
            <a:avLst>
              <a:gd name="adj" fmla="val 5172"/>
            </a:avLst>
          </a:prstGeom>
          <a:solidFill>
            <a:srgbClr val="42A5B3"/>
          </a:solidFill>
          <a:ln w="12700">
            <a:solidFill>
              <a:srgbClr val="42A5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450592"/>
            <a:ext cx="3840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55648" y="2432304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Сесиен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64608" y="2432304"/>
            <a:ext cx="5806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Управление на диалога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3044952"/>
            <a:ext cx="10287000" cy="530352"/>
          </a:xfrm>
          <a:prstGeom prst="roundRect">
            <a:avLst>
              <a:gd name="adj" fmla="val 5172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136392"/>
            <a:ext cx="3840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55648" y="3118104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Транспортен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864608" y="3118104"/>
            <a:ext cx="5806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Доставка между приложения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3730752"/>
            <a:ext cx="10287000" cy="530352"/>
          </a:xfrm>
          <a:prstGeom prst="roundRect">
            <a:avLst>
              <a:gd name="adj" fmla="val 5172"/>
            </a:avLst>
          </a:prstGeom>
          <a:solidFill>
            <a:srgbClr val="D59B2A"/>
          </a:solidFill>
          <a:ln w="12700">
            <a:solidFill>
              <a:srgbClr val="D59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3822192"/>
            <a:ext cx="3840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755648" y="3803904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64608" y="3803904"/>
            <a:ext cx="5806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Адресиране и маршрутизация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0120" y="4416552"/>
            <a:ext cx="10287000" cy="530352"/>
          </a:xfrm>
          <a:prstGeom prst="roundRect">
            <a:avLst>
              <a:gd name="adj" fmla="val 5172"/>
            </a:avLst>
          </a:prstGeom>
          <a:solidFill>
            <a:srgbClr val="E37A43"/>
          </a:solidFill>
          <a:ln w="12700">
            <a:solidFill>
              <a:srgbClr val="E37A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507992"/>
            <a:ext cx="3840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755648" y="4489704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Канален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864608" y="4489704"/>
            <a:ext cx="5806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Кадри и локална доставка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0120" y="5102352"/>
            <a:ext cx="10287000" cy="530352"/>
          </a:xfrm>
          <a:prstGeom prst="roundRect">
            <a:avLst>
              <a:gd name="adj" fmla="val 5172"/>
            </a:avLst>
          </a:prstGeom>
          <a:solidFill>
            <a:srgbClr val="C95656"/>
          </a:solidFill>
          <a:ln w="12700">
            <a:solidFill>
              <a:srgbClr val="C956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193792"/>
            <a:ext cx="384048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755648" y="5175504"/>
            <a:ext cx="2880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Физически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864608" y="5175504"/>
            <a:ext cx="58064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Сигнали и среда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Слоеве 7–5: близо до потребителя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9728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243584"/>
            <a:ext cx="307238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  Приложен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3072384" cy="2587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Мрежови услуги за браузър, поща и други приложения.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Примери: HTTP, DNS, SMTP.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1688" y="109728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1243584"/>
            <a:ext cx="307238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  Представителен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2856" y="1627632"/>
            <a:ext cx="3072384" cy="2587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Преобразува формата на данните. Компресира и криптира.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Примери: UTF-8, JPEG, TLS.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65008" y="1097280"/>
            <a:ext cx="3474720" cy="3246120"/>
          </a:xfrm>
          <a:prstGeom prst="roundRect">
            <a:avLst>
              <a:gd name="adj" fmla="val 1690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243584"/>
            <a:ext cx="307238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  Сесиен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66176" y="1627632"/>
            <a:ext cx="3072384" cy="2587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Създава, поддържа и прекратява логически сесии между приложения.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Въпрос: Кой слой е най-близо до браузъра?</a:t>
            </a:r>
            <a:endParaRPr lang="en-US" sz="2500" dirty="0"/>
          </a:p>
        </p:txBody>
      </p:sp>
      <p:sp>
        <p:nvSpPr>
          <p:cNvPr id="15" name="Shape 13"/>
          <p:cNvSpPr/>
          <p:nvPr/>
        </p:nvSpPr>
        <p:spPr>
          <a:xfrm>
            <a:off x="4709160" y="5559552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5614416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Отговор: слой 7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4: надеждна доставка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1069848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Транспортният слой свързва процеси в крайните устройства.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4800600" cy="2377440"/>
          </a:xfrm>
          <a:prstGeom prst="roundRect">
            <a:avLst>
              <a:gd name="adj" fmla="val 2308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1975104"/>
            <a:ext cx="43982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1288" y="2359152"/>
            <a:ext cx="4398264" cy="1719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Надеждна, подредена доставка. Контролира загуби и повторно изпращане.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Подходящ за уеб страници и файлове.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28232" y="1828800"/>
            <a:ext cx="4800600" cy="2377440"/>
          </a:xfrm>
          <a:prstGeom prst="roundRect">
            <a:avLst>
              <a:gd name="adj" fmla="val 2308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1975104"/>
            <a:ext cx="43982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UDP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359152"/>
            <a:ext cx="4398264" cy="17190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По-малко допълнителни проверки и по-ниско закъснение.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Подходящ за видео на живо, игри и DNS.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65960" y="4892040"/>
            <a:ext cx="82296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Портът насочва данните към правилното приложение.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035808" y="5413248"/>
            <a:ext cx="6126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Примери: 80 за HTTP, 443 за HTTPS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3: пътят през мрежите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698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Мрежовият слой избира път между различни мрежи.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EAF4FB"/>
          </a:solidFill>
          <a:ln w="25400">
            <a:solidFill>
              <a:srgbClr val="176B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12848"/>
            <a:ext cx="22860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Ученически компютър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192.168.1.20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11880" y="2404872"/>
            <a:ext cx="502920" cy="411480"/>
          </a:xfrm>
          <a:prstGeom prst="chevron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15968" y="196596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FFF4E8"/>
          </a:solidFill>
          <a:ln w="25400">
            <a:solidFill>
              <a:srgbClr val="F19A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3128" y="2212848"/>
            <a:ext cx="22860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Рутер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53128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следващ хоп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04888" y="2404872"/>
            <a:ext cx="502920" cy="411480"/>
          </a:xfrm>
          <a:prstGeom prst="chevron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08976" y="1965960"/>
            <a:ext cx="2560320" cy="1325880"/>
          </a:xfrm>
          <a:prstGeom prst="roundRect">
            <a:avLst>
              <a:gd name="adj" fmla="val 4138"/>
            </a:avLst>
          </a:prstGeom>
          <a:solidFill>
            <a:srgbClr val="EAF4FB"/>
          </a:solidFill>
          <a:ln w="25400">
            <a:solidFill>
              <a:srgbClr val="176B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6136" y="2212848"/>
            <a:ext cx="22860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Уеб сървър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46136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203.0.113.10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98648" y="406908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FFF8EF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9816" y="4215384"/>
            <a:ext cx="59984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Основни понятия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99816" y="4599432"/>
            <a:ext cx="5998464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адрес • маршрутизатор • маршрут • пакет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Слоеве 2–1: локална връзка и сигнал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4892040" cy="2971800"/>
          </a:xfrm>
          <a:prstGeom prst="roundRect">
            <a:avLst>
              <a:gd name="adj" fmla="val 1846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5568" y="1472184"/>
            <a:ext cx="44897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  Канален слой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1856232"/>
            <a:ext cx="4489704" cy="2313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Организира битовете в кадри. Използва MAC адреси за локална доставка.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Примери: Ethernet, Wi-Fi.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82512" y="1325880"/>
            <a:ext cx="4892040" cy="2971800"/>
          </a:xfrm>
          <a:prstGeom prst="roundRect">
            <a:avLst>
              <a:gd name="adj" fmla="val 1846"/>
            </a:avLst>
          </a:prstGeom>
          <a:solidFill>
            <a:srgbClr val="FCEEEE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72184"/>
            <a:ext cx="44897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  Физически слой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856232"/>
            <a:ext cx="4489704" cy="2313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Предава битове като електрически, светлинни или радиосигнали.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Примери: кабел, оптика, радиовълни.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4773168"/>
            <a:ext cx="11430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Суич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70432" y="5193792"/>
            <a:ext cx="26517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работи главно на слой 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34656" y="4773168"/>
            <a:ext cx="20574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Хъб / повторител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0" y="5193792"/>
            <a:ext cx="2514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работи на слой 1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Капсулиране: всеки слой добавя информация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1901952" cy="2423160"/>
          </a:xfrm>
          <a:prstGeom prst="roundRect">
            <a:avLst>
              <a:gd name="adj" fmla="val 2404"/>
            </a:avLst>
          </a:prstGeom>
          <a:solidFill>
            <a:srgbClr val="EAF4FB"/>
          </a:solidFill>
          <a:ln w="19050">
            <a:solidFill>
              <a:srgbClr val="176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47088"/>
            <a:ext cx="162763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24128" y="23957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45059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слой 7–5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" y="2980944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 съдържание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2514600"/>
            <a:ext cx="256032" cy="365760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554480"/>
            <a:ext cx="1901952" cy="2423160"/>
          </a:xfrm>
          <a:prstGeom prst="roundRect">
            <a:avLst>
              <a:gd name="adj" fmla="val 2404"/>
            </a:avLst>
          </a:prstGeom>
          <a:solidFill>
            <a:srgbClr val="EDF8F5"/>
          </a:solidFill>
          <a:ln w="19050">
            <a:solidFill>
              <a:srgbClr val="176B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847088"/>
            <a:ext cx="162763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Сегмент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10128" y="23957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45059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слой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99816" y="2980944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 заглавна част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937760" y="2514600"/>
            <a:ext cx="256032" cy="365760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57800" y="1554480"/>
            <a:ext cx="1901952" cy="2423160"/>
          </a:xfrm>
          <a:prstGeom prst="roundRect">
            <a:avLst>
              <a:gd name="adj" fmla="val 2404"/>
            </a:avLst>
          </a:prstGeom>
          <a:solidFill>
            <a:srgbClr val="FFF4E8"/>
          </a:solidFill>
          <a:ln w="19050">
            <a:solidFill>
              <a:srgbClr val="F19A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847088"/>
            <a:ext cx="162763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Пакет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596128" y="23957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45059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слой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85816" y="2980944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заглавна част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23760" y="2514600"/>
            <a:ext cx="256032" cy="365760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554480"/>
            <a:ext cx="1901952" cy="2423160"/>
          </a:xfrm>
          <a:prstGeom prst="roundRect">
            <a:avLst>
              <a:gd name="adj" fmla="val 2404"/>
            </a:avLst>
          </a:prstGeom>
          <a:solidFill>
            <a:srgbClr val="FCEEEE"/>
          </a:solidFill>
          <a:ln w="19050">
            <a:solidFill>
              <a:srgbClr val="D9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847088"/>
            <a:ext cx="162763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Кадър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882128" y="23957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245059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слой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71816" y="2980944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 заглавна част + проверка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09760" y="2514600"/>
            <a:ext cx="256032" cy="365760"/>
          </a:xfrm>
          <a:prstGeom prst="chevron">
            <a:avLst/>
          </a:prstGeom>
          <a:solidFill>
            <a:srgbClr val="97A5B6"/>
          </a:solidFill>
          <a:ln w="12700">
            <a:solidFill>
              <a:srgbClr val="97A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1554480"/>
            <a:ext cx="1901952" cy="2423160"/>
          </a:xfrm>
          <a:prstGeom prst="roundRect">
            <a:avLst>
              <a:gd name="adj" fmla="val 2404"/>
            </a:avLst>
          </a:prstGeom>
          <a:solidFill>
            <a:srgbClr val="ECEFF4"/>
          </a:solidFill>
          <a:ln w="19050">
            <a:solidFill>
              <a:srgbClr val="D95D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1847088"/>
            <a:ext cx="162763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Битове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168128" y="2395728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D95D5D"/>
          </a:solidFill>
          <a:ln w="12700">
            <a:solidFill>
              <a:srgbClr val="D95D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0" y="2450592"/>
            <a:ext cx="1088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слой 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57816" y="2980944"/>
            <a:ext cx="1645920" cy="60350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 и 1 като сигнали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873752"/>
            <a:ext cx="1001268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 получателя процесът протича в обратен ред: декапсулиране.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 пример: HTTPS заявка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594360" cy="594360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170432"/>
            <a:ext cx="3931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042416"/>
            <a:ext cx="4526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Браузърът създава HTTP заявка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051560"/>
            <a:ext cx="594360" cy="594360"/>
          </a:xfrm>
          <a:prstGeom prst="ellipse">
            <a:avLst/>
          </a:prstGeom>
          <a:solidFill>
            <a:srgbClr val="20B8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9944" y="1170432"/>
            <a:ext cx="3931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32320" y="1042416"/>
            <a:ext cx="4526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TLS криптира съдържанието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594360" cy="594360"/>
          </a:xfrm>
          <a:prstGeom prst="ellipse">
            <a:avLst/>
          </a:prstGeom>
          <a:solidFill>
            <a:srgbClr val="2E9B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679192"/>
            <a:ext cx="3931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2551176"/>
            <a:ext cx="4526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 добавя портове и надеждност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560320"/>
            <a:ext cx="594360" cy="594360"/>
          </a:xfrm>
          <a:prstGeom prst="ellipse">
            <a:avLst/>
          </a:prstGeom>
          <a:solidFill>
            <a:srgbClr val="2E9B7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679192"/>
            <a:ext cx="3931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32320" y="2551176"/>
            <a:ext cx="4526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добавя адресите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594360" cy="594360"/>
          </a:xfrm>
          <a:prstGeom prst="ellipse">
            <a:avLst/>
          </a:prstGeom>
          <a:solidFill>
            <a:srgbClr val="F19A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" y="4187952"/>
            <a:ext cx="3931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4059936"/>
            <a:ext cx="4526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Ethernet/Wi-Fi създава кадър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4069080"/>
            <a:ext cx="594360" cy="594360"/>
          </a:xfrm>
          <a:prstGeom prst="ellipse">
            <a:avLst/>
          </a:prstGeom>
          <a:solidFill>
            <a:srgbClr val="F19A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4187952"/>
            <a:ext cx="393192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32320" y="4059936"/>
            <a:ext cx="452628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Средата предава сигналите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669280"/>
            <a:ext cx="100584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Слой 5 участва в управлението на логическия диалог, но често функциите му се реализират от протоколи на други нива.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Практическа задача по двойки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060704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минути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649224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Подредете картите от слой 7 към слой 1: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49808" y="2331720"/>
            <a:ext cx="2331720" cy="621792"/>
          </a:xfrm>
          <a:prstGeom prst="roundRect">
            <a:avLst>
              <a:gd name="adj" fmla="val 5882"/>
            </a:avLst>
          </a:prstGeom>
          <a:solidFill>
            <a:srgbClr val="EAF4FB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адрес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447288" y="2331720"/>
            <a:ext cx="2331720" cy="621792"/>
          </a:xfrm>
          <a:prstGeom prst="roundRect">
            <a:avLst>
              <a:gd name="adj" fmla="val 5882"/>
            </a:avLst>
          </a:prstGeom>
          <a:solidFill>
            <a:srgbClr val="EDF8F5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44768" y="2331720"/>
            <a:ext cx="2331720" cy="621792"/>
          </a:xfrm>
          <a:prstGeom prst="roundRect">
            <a:avLst>
              <a:gd name="adj" fmla="val 5882"/>
            </a:avLst>
          </a:prstGeom>
          <a:solidFill>
            <a:srgbClr val="EAF4FB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Wi-Fi сигнал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842248" y="2331720"/>
            <a:ext cx="2331720" cy="621792"/>
          </a:xfrm>
          <a:prstGeom prst="roundRect">
            <a:avLst>
              <a:gd name="adj" fmla="val 5882"/>
            </a:avLst>
          </a:prstGeom>
          <a:solidFill>
            <a:srgbClr val="EDF8F5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33688" y="2468880"/>
            <a:ext cx="2148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 порт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9808" y="3273552"/>
            <a:ext cx="2331720" cy="621792"/>
          </a:xfrm>
          <a:prstGeom prst="roundRect">
            <a:avLst>
              <a:gd name="adj" fmla="val 5882"/>
            </a:avLst>
          </a:prstGeom>
          <a:solidFill>
            <a:srgbClr val="EAF4FB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410712"/>
            <a:ext cx="2148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 адрес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447288" y="3273552"/>
            <a:ext cx="2331720" cy="621792"/>
          </a:xfrm>
          <a:prstGeom prst="roundRect">
            <a:avLst>
              <a:gd name="adj" fmla="val 5882"/>
            </a:avLst>
          </a:prstGeom>
          <a:solidFill>
            <a:srgbClr val="EDF8F5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3410712"/>
            <a:ext cx="2148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UTF-8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44768" y="3273552"/>
            <a:ext cx="2331720" cy="621792"/>
          </a:xfrm>
          <a:prstGeom prst="roundRect">
            <a:avLst>
              <a:gd name="adj" fmla="val 5882"/>
            </a:avLst>
          </a:prstGeom>
          <a:solidFill>
            <a:srgbClr val="EAF4FB"/>
          </a:solidFill>
          <a:ln w="12700">
            <a:solidFill>
              <a:srgbClr val="C9D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3410712"/>
            <a:ext cx="21488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сесия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49808" y="452628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672584"/>
            <a:ext cx="48554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Допълнителен въпрос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0976" y="5056632"/>
            <a:ext cx="485546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 кой слой бихте търсили проблем, ако кабелът е прекъснат?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36208" y="452628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7376" y="4672584"/>
            <a:ext cx="485546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 по-бързите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37376" y="5056632"/>
            <a:ext cx="4855464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Кое устройство използва IP адреси, за да насочва пакети?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B72"/>
          </a:solidFill>
          <a:ln w="12700">
            <a:solidFill>
              <a:srgbClr val="2E9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 на практическата задача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078992" y="11887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6152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700784" y="1399032"/>
            <a:ext cx="157276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HTTPS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462272" y="1399032"/>
            <a:ext cx="157276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UTF-8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601968" y="11887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EAF4FB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9128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223760" y="1399032"/>
            <a:ext cx="157276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сесия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363456" y="118872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EDF8F5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0616" y="1353312"/>
            <a:ext cx="411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985248" y="1399032"/>
            <a:ext cx="157276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TCP порт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78992" y="260604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FF4E8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2770632"/>
            <a:ext cx="411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700784" y="2816352"/>
            <a:ext cx="157276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IP адрес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840480" y="260604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CEEEE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2770632"/>
            <a:ext cx="411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4462272" y="2816352"/>
            <a:ext cx="157276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MAC адрес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601968" y="2606040"/>
            <a:ext cx="2423160" cy="960120"/>
          </a:xfrm>
          <a:prstGeom prst="roundRect">
            <a:avLst>
              <a:gd name="adj" fmla="val 4762"/>
            </a:avLst>
          </a:prstGeom>
          <a:solidFill>
            <a:srgbClr val="FCEEEE"/>
          </a:solidFill>
          <a:ln w="12700">
            <a:solidFill>
              <a:srgbClr val="D3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39128" y="2770632"/>
            <a:ext cx="411480" cy="365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7223760" y="2816352"/>
            <a:ext cx="157276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Wi-Fi сигнал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4736592"/>
            <a:ext cx="10332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Прекъснат кабел: слой 1  •  Устройство за маршрутизация: рутер, слой 3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Мини тест: 4 въпроса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1024128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170432"/>
            <a:ext cx="49469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1.  Кой слой използва IP адреси?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9536" y="1554480"/>
            <a:ext cx="4946904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Канален   B) Мрежов   C) Транспортен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45936" y="1024128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7104" y="1170432"/>
            <a:ext cx="49469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2.  Къде работят TCP и UDP?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47104" y="1554480"/>
            <a:ext cx="4946904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Слой 4   B) Слой 5   C) Слой 7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" y="3081528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227832"/>
            <a:ext cx="49469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3.  Как се нарича единицата на слой 2?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3611880"/>
            <a:ext cx="4946904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Пакет   B) Сегмент   C) Кадър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45936" y="3081528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3227832"/>
            <a:ext cx="494690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4.  Какво представлява OSI?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47104" y="3611880"/>
            <a:ext cx="4946904" cy="9418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A) Кабел   B) Референтен модел   C) Браузър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19A37"/>
          </a:solidFill>
          <a:ln w="12700">
            <a:solidFill>
              <a:srgbClr val="F19A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Отговори и самооценка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2487168" cy="1965960"/>
          </a:xfrm>
          <a:prstGeom prst="roundRect">
            <a:avLst>
              <a:gd name="adj" fmla="val 2326"/>
            </a:avLst>
          </a:prstGeom>
          <a:solidFill>
            <a:srgbClr val="FFF8EF"/>
          </a:solidFill>
          <a:ln w="17780">
            <a:solidFill>
              <a:srgbClr val="F19A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581912" y="1444752"/>
            <a:ext cx="8686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2340864"/>
            <a:ext cx="202996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Мрежов слой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93592" y="1234440"/>
            <a:ext cx="2487168" cy="1965960"/>
          </a:xfrm>
          <a:prstGeom prst="roundRect">
            <a:avLst>
              <a:gd name="adj" fmla="val 2326"/>
            </a:avLst>
          </a:prstGeom>
          <a:solidFill>
            <a:srgbClr val="FFF8EF"/>
          </a:solidFill>
          <a:ln w="17780">
            <a:solidFill>
              <a:srgbClr val="F19A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58184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398264" y="1444752"/>
            <a:ext cx="8686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822192" y="2340864"/>
            <a:ext cx="202996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Транспортен слой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9944" y="1234440"/>
            <a:ext cx="2487168" cy="1965960"/>
          </a:xfrm>
          <a:prstGeom prst="roundRect">
            <a:avLst>
              <a:gd name="adj" fmla="val 2326"/>
            </a:avLst>
          </a:prstGeom>
          <a:solidFill>
            <a:srgbClr val="FFF8EF"/>
          </a:solidFill>
          <a:ln w="17780">
            <a:solidFill>
              <a:srgbClr val="F19A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74536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214616" y="1444752"/>
            <a:ext cx="8686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638544" y="2340864"/>
            <a:ext cx="202996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Кадър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226296" y="1234440"/>
            <a:ext cx="2487168" cy="1965960"/>
          </a:xfrm>
          <a:prstGeom prst="roundRect">
            <a:avLst>
              <a:gd name="adj" fmla="val 2326"/>
            </a:avLst>
          </a:prstGeom>
          <a:solidFill>
            <a:srgbClr val="FFF8EF"/>
          </a:solidFill>
          <a:ln w="17780">
            <a:solidFill>
              <a:srgbClr val="F19A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90888" y="1499616"/>
            <a:ext cx="384048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10030968" y="1444752"/>
            <a:ext cx="8686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454896" y="2340864"/>
            <a:ext cx="2029968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Референтен модел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069080"/>
            <a:ext cx="31089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B72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 верни: отлично начало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160520" y="4069080"/>
            <a:ext cx="3840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19A3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2–3 верни: преговори слоевете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138160" y="4069080"/>
            <a:ext cx="31546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95D5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0–1 верни: използвай схемата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0B8CD"/>
          </a:solidFill>
          <a:ln w="12700">
            <a:solidFill>
              <a:srgbClr val="20B8C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Най-важното от първия час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289304"/>
            <a:ext cx="298094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OSI организира комуникацията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1673352"/>
            <a:ext cx="2980944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Седем слоя разделят сложния процес на ясни задачи.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7408" y="114300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289304"/>
            <a:ext cx="298094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Данните се капсулират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8576" y="1673352"/>
            <a:ext cx="2980944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 изпращане всеки слой добавя управляваща информация.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37576" y="114300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8744" y="1289304"/>
            <a:ext cx="2980944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Слоят насочва диагностиката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38744" y="1673352"/>
            <a:ext cx="2980944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Кабел, MAC, IP, порт или приложение сочат различно ниво.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3959352"/>
            <a:ext cx="29718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Запомнете посоката: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3959352"/>
            <a:ext cx="45262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Приложение  →  Данни  →  Сигнал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5010912"/>
            <a:ext cx="9921240" cy="457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Следващ час: протоколи, устройства и диагностика по слоеве.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6BCE"/>
          </a:solidFill>
          <a:ln w="12700">
            <a:solidFill>
              <a:srgbClr val="176B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Изходен билет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228832" y="6345936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793A3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69848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Преди да излезете, запишете: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1856232"/>
            <a:ext cx="3127248" cy="2057400"/>
          </a:xfrm>
          <a:prstGeom prst="roundRect">
            <a:avLst>
              <a:gd name="adj" fmla="val 2667"/>
            </a:avLst>
          </a:prstGeom>
          <a:solidFill>
            <a:srgbClr val="EAF4FB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002536"/>
            <a:ext cx="27249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2386584"/>
            <a:ext cx="2724912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 слой, който вече разбирате добре.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35424" y="1856232"/>
            <a:ext cx="3127248" cy="2057400"/>
          </a:xfrm>
          <a:prstGeom prst="roundRect">
            <a:avLst>
              <a:gd name="adj" fmla="val 2667"/>
            </a:avLst>
          </a:prstGeom>
          <a:solidFill>
            <a:srgbClr val="EDF8F5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2002536"/>
            <a:ext cx="27249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36592" y="2386584"/>
            <a:ext cx="2724912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 термин, който искате да упражним.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6448" y="1856232"/>
            <a:ext cx="3127248" cy="2057400"/>
          </a:xfrm>
          <a:prstGeom prst="roundRect">
            <a:avLst>
              <a:gd name="adj" fmla="val 2667"/>
            </a:avLst>
          </a:prstGeom>
          <a:solidFill>
            <a:srgbClr val="FFF4E8"/>
          </a:solidFill>
          <a:ln w="12700">
            <a:solidFill>
              <a:srgbClr val="D7E5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2002536"/>
            <a:ext cx="2724912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3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57616" y="2386584"/>
            <a:ext cx="2724912" cy="1399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Къде бихте търсили проблем при липса на Wi-Fi сигнал?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882896"/>
            <a:ext cx="955548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6BCE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Домашна подготовка: научете имената и реда на 7-те слоя.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ПМГ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OSI модел – урок 1</dc:title>
  <dc:subject>РПП Интернет програмиране, 12. клас</dc:subject>
  <dc:creator>Ахмед Матем Ахмед</dc:creator>
  <cp:lastModifiedBy>Ахмед Матем Ахмед</cp:lastModifiedBy>
  <cp:revision>1</cp:revision>
  <dcterms:created xsi:type="dcterms:W3CDTF">2026-09-17T18:14:33Z</dcterms:created>
  <dcterms:modified xsi:type="dcterms:W3CDTF">2026-09-17T18:14:33Z</dcterms:modified>
</cp:coreProperties>
</file>