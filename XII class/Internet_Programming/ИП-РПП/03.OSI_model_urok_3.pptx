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26680" y="228600"/>
            <a:ext cx="4069080" cy="4069080"/>
          </a:xfrm>
          <a:prstGeom prst="arc">
            <a:avLst/>
          </a:prstGeom>
          <a:solidFill>
            <a:srgbClr val="20B8CD">
              <a:alpha val="85000"/>
            </a:srgbClr>
          </a:solidFill>
          <a:ln w="12700">
            <a:solidFill>
              <a:srgbClr val="20B8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8412480" y="2971800"/>
            <a:ext cx="3337560" cy="3337560"/>
          </a:xfrm>
          <a:prstGeom prst="arc">
            <a:avLst/>
          </a:prstGeom>
          <a:solidFill>
            <a:srgbClr val="176BCE"/>
          </a:solidFill>
          <a:ln w="12700">
            <a:solidFill>
              <a:srgbClr val="176BC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6692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21792"/>
            <a:ext cx="29169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РПП • Интернет програмиране • 12. клас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68580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модел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76656" y="2267712"/>
            <a:ext cx="68580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B9EAF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Диагностика на мрежови проблеми по слоеве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3CC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Урок 3 от 3  |  45 минути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3A2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Ахмед Матем Ахмед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Ситуация: сайтът не се отваря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332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Съобщението „Няма интернет“ не посочва причината.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1965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Възможност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231136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Кабелът или Wi-Fi сигналът липсва.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1691640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372" y="181965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Възможност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2231136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Устройството няма правилен IP адрес.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401568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52958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Възможност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941064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 не намира името на сайта.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3401568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372" y="352958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Възможност 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941064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Уеб услугата не отговаря.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Принцип: проверка отдолу нагоре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65960" y="914400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CEEEE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10972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13432" y="1152144"/>
            <a:ext cx="11338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078992"/>
            <a:ext cx="59436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Физическа връзка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65960" y="1901952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CEEEE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0848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2139696"/>
            <a:ext cx="11338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2066544"/>
            <a:ext cx="59436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Локална връзка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965960" y="2889504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FF4E8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3072384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3127248"/>
            <a:ext cx="11338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054096"/>
            <a:ext cx="59436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конфигурация и маршрут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965960" y="3877056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EDF8F5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4059936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13432" y="4114800"/>
            <a:ext cx="11338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4041648"/>
            <a:ext cx="59436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 и транспорт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965960" y="4864608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EAF4FB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504748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5102352"/>
            <a:ext cx="11338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5029200"/>
            <a:ext cx="59436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Услуга и приложение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1: физическа връзка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453384" cy="2148840"/>
          </a:xfrm>
          <a:prstGeom prst="roundRect">
            <a:avLst>
              <a:gd name="adj" fmla="val 2128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Наблюдение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773936"/>
            <a:ext cx="3087624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Светят ли индикаторите? Има ли Wi-Fi сигнал?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234440"/>
            <a:ext cx="3453384" cy="2148840"/>
          </a:xfrm>
          <a:prstGeom prst="roundRect">
            <a:avLst>
              <a:gd name="adj" fmla="val 212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773936"/>
            <a:ext cx="3087624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Кабел, конектор, захранване, самолетен режим.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234440"/>
            <a:ext cx="3453384" cy="2148840"/>
          </a:xfrm>
          <a:prstGeom prst="roundRect">
            <a:avLst>
              <a:gd name="adj" fmla="val 212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Действие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773936"/>
            <a:ext cx="3087624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Свързване отново, смяна на кабел или порт.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D5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мрежовият адаптер показва „Disconnected“.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2: локална свързаност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453384" cy="2286000"/>
          </a:xfrm>
          <a:prstGeom prst="roundRect">
            <a:avLst>
              <a:gd name="adj" fmla="val 2000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Проблеми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773936"/>
            <a:ext cx="3087624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Грешен VLAN, блокиран порт, проблем с MAC таблица.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234440"/>
            <a:ext cx="3453384" cy="2286000"/>
          </a:xfrm>
          <a:prstGeom prst="roundRect">
            <a:avLst>
              <a:gd name="adj" fmla="val 20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773936"/>
            <a:ext cx="3087624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Състояние на адаптера и локалната връзка със суича.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234440"/>
            <a:ext cx="3453384" cy="2286000"/>
          </a:xfrm>
          <a:prstGeom prst="roundRect">
            <a:avLst>
              <a:gd name="adj" fmla="val 2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Команди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773936"/>
            <a:ext cx="3087624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getmac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arp -a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343400"/>
            <a:ext cx="9326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2 доставя кадъра в локалната мрежа.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3: IP адрес и маршрут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383280" cy="1965960"/>
          </a:xfrm>
          <a:prstGeom prst="roundRect">
            <a:avLst>
              <a:gd name="adj" fmla="val 2326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25296"/>
            <a:ext cx="30175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ipconfig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36776"/>
            <a:ext cx="3017520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Показва IP адрес, маска, gateway и DNS конфигурация.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1097280"/>
            <a:ext cx="3383280" cy="1965960"/>
          </a:xfrm>
          <a:prstGeom prst="roundRect">
            <a:avLst>
              <a:gd name="adj" fmla="val 2326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225296"/>
            <a:ext cx="30175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0288" y="1636776"/>
            <a:ext cx="3017520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Проверява дали целта отговаря чрез ICMP.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83296" y="1097280"/>
            <a:ext cx="3383280" cy="1965960"/>
          </a:xfrm>
          <a:prstGeom prst="roundRect">
            <a:avLst>
              <a:gd name="adj" fmla="val 2326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225296"/>
            <a:ext cx="30175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tracert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6176" y="1636776"/>
            <a:ext cx="3017520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Показва последователността от маршрутизатори до целта.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10332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 169.254.x.x често показва, че устройството не е получило адрес от DHCP.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4: портове и транспорт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3453384" cy="2423160"/>
          </a:xfrm>
          <a:prstGeom prst="roundRect">
            <a:avLst>
              <a:gd name="adj" fmla="val 188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710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Симптом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682496"/>
            <a:ext cx="3087624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адресът отговаря, но конкретната услуга не се отваря.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143000"/>
            <a:ext cx="3453384" cy="2423160"/>
          </a:xfrm>
          <a:prstGeom prst="roundRect">
            <a:avLst>
              <a:gd name="adj" fmla="val 188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2710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Причина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682496"/>
            <a:ext cx="3087624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Портът е затворен, услугата не слуша или защитната стена блокира.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143000"/>
            <a:ext cx="3453384" cy="2423160"/>
          </a:xfrm>
          <a:prstGeom prst="roundRect">
            <a:avLst>
              <a:gd name="adj" fmla="val 188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2710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682496"/>
            <a:ext cx="3087624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Test-NetConnection example.com -Port 443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Успешен ping не доказва, че HTTPS работи.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7: DNS и приложна услуга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3337560" cy="2194560"/>
          </a:xfrm>
          <a:prstGeom prst="roundRect">
            <a:avLst>
              <a:gd name="adj" fmla="val 2083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71016"/>
            <a:ext cx="29718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nslookup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82496"/>
            <a:ext cx="2971800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Проверява дали DNS преобразува името в IP адрес.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5696" y="1143000"/>
            <a:ext cx="3337560" cy="2194560"/>
          </a:xfrm>
          <a:prstGeom prst="roundRect">
            <a:avLst>
              <a:gd name="adj" fmla="val 2083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271016"/>
            <a:ext cx="29718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Браузър / curl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1682496"/>
            <a:ext cx="2971800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Проверява HTTP отговора и кода на състоянието.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4152" y="1143000"/>
            <a:ext cx="3337560" cy="2194560"/>
          </a:xfrm>
          <a:prstGeom prst="roundRect">
            <a:avLst>
              <a:gd name="adj" fmla="val 2083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271016"/>
            <a:ext cx="29718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Сървърни логове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7032" y="1682496"/>
            <a:ext cx="2971800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Показват заявки, грешки и състояние на приложението.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315968"/>
            <a:ext cx="99669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Ако IP работи, но името не работи, проверете DNS.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Диагностична последователност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3310128" cy="1280160"/>
          </a:xfrm>
          <a:prstGeom prst="roundRect">
            <a:avLst>
              <a:gd name="adj" fmla="val 3571"/>
            </a:avLst>
          </a:prstGeom>
          <a:solidFill>
            <a:srgbClr val="FCEEEE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887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43584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280160"/>
            <a:ext cx="22677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Има ли връзка?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1688" y="1024128"/>
            <a:ext cx="3310128" cy="1280160"/>
          </a:xfrm>
          <a:prstGeom prst="roundRect">
            <a:avLst>
              <a:gd name="adj" fmla="val 3571"/>
            </a:avLst>
          </a:prstGeom>
          <a:solidFill>
            <a:srgbClr val="FCEEEE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1887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243584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280160"/>
            <a:ext cx="22677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Има ли IP конфигурация?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65008" y="1024128"/>
            <a:ext cx="3310128" cy="1280160"/>
          </a:xfrm>
          <a:prstGeom prst="roundRect">
            <a:avLst>
              <a:gd name="adj" fmla="val 3571"/>
            </a:avLst>
          </a:prstGeom>
          <a:solidFill>
            <a:srgbClr val="FFF4E8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1887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243584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1280160"/>
            <a:ext cx="22677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Достижим ли е gateway?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2944368"/>
            <a:ext cx="3310128" cy="1280160"/>
          </a:xfrm>
          <a:prstGeom prst="roundRect">
            <a:avLst>
              <a:gd name="adj" fmla="val 3571"/>
            </a:avLst>
          </a:prstGeom>
          <a:solidFill>
            <a:srgbClr val="FFF4E8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1089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163824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3200400"/>
            <a:ext cx="22677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Работи ли DNS?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61688" y="2944368"/>
            <a:ext cx="3310128" cy="1280160"/>
          </a:xfrm>
          <a:prstGeom prst="roundRect">
            <a:avLst>
              <a:gd name="adj" fmla="val 3571"/>
            </a:avLst>
          </a:prstGeom>
          <a:solidFill>
            <a:srgbClr val="EAF4FB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1089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163824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3200400"/>
            <a:ext cx="22677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Отворен ли е портът?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065008" y="2944368"/>
            <a:ext cx="3310128" cy="1280160"/>
          </a:xfrm>
          <a:prstGeom prst="roundRect">
            <a:avLst>
              <a:gd name="adj" fmla="val 3571"/>
            </a:avLst>
          </a:prstGeom>
          <a:solidFill>
            <a:srgbClr val="EAF4FB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1089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163824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0" y="3200400"/>
            <a:ext cx="22677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Отговаря ли приложението?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6012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Спирайте при първата неуспешна проверка и изследвайте съответния слой.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Практическа задача: три случая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3453384" cy="2834640"/>
          </a:xfrm>
          <a:prstGeom prst="roundRect">
            <a:avLst>
              <a:gd name="adj" fmla="val 1613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710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682496"/>
            <a:ext cx="3087624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Няма индикатор на мрежовата карта.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слой проверяваме първо?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143000"/>
            <a:ext cx="3453384" cy="2834640"/>
          </a:xfrm>
          <a:prstGeom prst="roundRect">
            <a:avLst>
              <a:gd name="adj" fmla="val 1613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2710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682496"/>
            <a:ext cx="3087624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ping 8.8.8.8 работи, но сайт по име не се отваря.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Какво проверяваме?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143000"/>
            <a:ext cx="3453384" cy="2834640"/>
          </a:xfrm>
          <a:prstGeom prst="roundRect">
            <a:avLst>
              <a:gd name="adj" fmla="val 1613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2710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682496"/>
            <a:ext cx="3087624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ping към сървъра работи, но порт 443 е недостъпен.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слой?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4773168"/>
            <a:ext cx="45720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Работа по групи: 5 минути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 на трите случая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3453384" cy="2377440"/>
          </a:xfrm>
          <a:prstGeom prst="roundRect">
            <a:avLst>
              <a:gd name="adj" fmla="val 1923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0817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A: слой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819656"/>
            <a:ext cx="3087624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Проверете кабел, адаптер, порт и захранване.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280160"/>
            <a:ext cx="3453384" cy="2377440"/>
          </a:xfrm>
          <a:prstGeom prst="roundRect">
            <a:avLst>
              <a:gd name="adj" fmla="val 1923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40817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B: слой 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819656"/>
            <a:ext cx="3087624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Проверете DNS с nslookup и настройките за DNS сървър.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280160"/>
            <a:ext cx="3453384" cy="2377440"/>
          </a:xfrm>
          <a:prstGeom prst="roundRect">
            <a:avLst>
              <a:gd name="adj" fmla="val 1923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40817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C: слой 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819656"/>
            <a:ext cx="3087624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Проверете услугата, порта и защитната стена.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4343400"/>
            <a:ext cx="95097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Добрата диагноза свързва симптом, слой и проверка.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Мини тест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Коя команда показва IP конфигурация?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ipconfig   B) getmac   C) curl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45936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8816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IP работи, името не работи. Какво проверяваме?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28816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Кабел   B) DNS   C) Монитор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Кой слой проверяваме при затворен TCP порт?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1   B) 3   C) 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45936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Откъде започва методът „отдолу нагоре“?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28816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Приложение   B) Физическа връзка   C) DNS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Карта за бърза диагностика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932688"/>
            <a:ext cx="9052560" cy="694944"/>
          </a:xfrm>
          <a:prstGeom prst="roundRect">
            <a:avLst>
              <a:gd name="adj" fmla="val 5263"/>
            </a:avLst>
          </a:prstGeom>
          <a:solidFill>
            <a:srgbClr val="FCEEEE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1106424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3664" y="1161288"/>
            <a:ext cx="365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078992"/>
            <a:ext cx="7543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кабел • сигнал • адаптер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554480" y="1901952"/>
            <a:ext cx="9052560" cy="694944"/>
          </a:xfrm>
          <a:prstGeom prst="roundRect">
            <a:avLst>
              <a:gd name="adj" fmla="val 5263"/>
            </a:avLst>
          </a:prstGeom>
          <a:solidFill>
            <a:srgbClr val="FCEEEE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2075688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2130552"/>
            <a:ext cx="365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048256"/>
            <a:ext cx="7543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локална връзка • MAC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554480" y="2871216"/>
            <a:ext cx="9052560" cy="694944"/>
          </a:xfrm>
          <a:prstGeom prst="roundRect">
            <a:avLst>
              <a:gd name="adj" fmla="val 5263"/>
            </a:avLst>
          </a:prstGeom>
          <a:solidFill>
            <a:srgbClr val="FFF4E8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3044952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3664" y="3099816"/>
            <a:ext cx="365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017520"/>
            <a:ext cx="7543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• gateway • маршрут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554480" y="3840480"/>
            <a:ext cx="9052560" cy="694944"/>
          </a:xfrm>
          <a:prstGeom prst="roundRect">
            <a:avLst>
              <a:gd name="adj" fmla="val 5263"/>
            </a:avLst>
          </a:prstGeom>
          <a:solidFill>
            <a:srgbClr val="EDF8F5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0512" y="4014216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4069080"/>
            <a:ext cx="365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986784"/>
            <a:ext cx="7543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 • TCP/UDP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554480" y="4809744"/>
            <a:ext cx="9052560" cy="694944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0512" y="4983480"/>
            <a:ext cx="512064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83664" y="5038344"/>
            <a:ext cx="365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4956048"/>
            <a:ext cx="7543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 • HTTP • приложение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Обобщение на трите часа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188720"/>
            <a:ext cx="3453384" cy="2057400"/>
          </a:xfrm>
          <a:prstGeom prst="roundRect">
            <a:avLst>
              <a:gd name="adj" fmla="val 2222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Урок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728216"/>
            <a:ext cx="3087624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Седем слоя и капсулиране.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188720"/>
            <a:ext cx="3453384" cy="2057400"/>
          </a:xfrm>
          <a:prstGeom prst="roundRect">
            <a:avLst>
              <a:gd name="adj" fmla="val 2222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Урок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728216"/>
            <a:ext cx="3087624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Протоколи, адреси и устройства.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188720"/>
            <a:ext cx="3453384" cy="2057400"/>
          </a:xfrm>
          <a:prstGeom prst="roundRect">
            <a:avLst>
              <a:gd name="adj" fmla="val 2222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Урок 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728216"/>
            <a:ext cx="3087624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Диагностика чрез последователни проверки.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101498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моделът превръща сложната комуникация в подредена система за анализ.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Изходен билет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53384" cy="2286000"/>
          </a:xfrm>
          <a:prstGeom prst="roundRect">
            <a:avLst>
              <a:gd name="adj" fmla="val 2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453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956816"/>
            <a:ext cx="3087624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Запишете симптом и вероятен OSI слой.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417320"/>
            <a:ext cx="3453384" cy="2286000"/>
          </a:xfrm>
          <a:prstGeom prst="roundRect">
            <a:avLst>
              <a:gd name="adj" fmla="val 20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0664" y="15453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956816"/>
            <a:ext cx="3087624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Посочете команда за проверка.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417320"/>
            <a:ext cx="3453384" cy="2286000"/>
          </a:xfrm>
          <a:prstGeom prst="roundRect">
            <a:avLst>
              <a:gd name="adj" fmla="val 200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0080" y="15453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956816"/>
            <a:ext cx="3087624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Обяснете защо проверката започва от слой 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Следваща тема: архитектура на многослойно уеб приложение с ASP.NET Core.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модел – урок 3</dc:title>
  <dc:subject>Диагностика на мрежови проблеми</dc:subject>
  <dc:creator>Ахмед Матем Ахмед</dc:creator>
  <cp:lastModifiedBy>Ахмед Матем Ахмед</cp:lastModifiedBy>
  <cp:revision>1</cp:revision>
  <dcterms:created xsi:type="dcterms:W3CDTF">2026-09-17T18:37:27Z</dcterms:created>
  <dcterms:modified xsi:type="dcterms:W3CDTF">2026-09-17T18:37:27Z</dcterms:modified>
</cp:coreProperties>
</file>