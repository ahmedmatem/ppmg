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Представете проекта като самостоятелен практически пример за client-server. Ще направим два console проекта: ChatServer чака връзка, а ChatClient се свързва и обменя текстови съобщения.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Уточнете ограничението още в началото. Истински групов чат изисква множество клиенти, паралелни задачи и синхронизация. Това може да бъде бъдещо разширение.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Покажете, че TCP пренася поток от байтове, затова приложението трябва да реши как се отделят съобщенията. Избираме прост line-based protocol: WriteLine/ReadLine.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Проверете предварително .NET SDK. Обяснете, че Test-NetConnection преди стартиране на сървъра трябва да покаже неуспешна TCP проверка, защото още няма процес, който слуша на порта.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Предвидете 5 минути. При Visual Studio може да се създаде Blank Solution и два Console App проекта. Имената трябва да съвпадат, за да са ясни командите по-късно.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Въведете първата част от server кода. Обяснете порт като номер на услуга в конкретен компютър. IPAddress.Any позволява по-късно връзка от друг компютър, ако firewall разреши.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Покажете поведението: след стартиране прозорецът остава на Server listening. Това не е забиване. AcceptTcpClientAsync чака клиент.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Свържете StreamReader/Writer с избрания протокол. AutoFlush е важен, защото иначе текстът може да остане в буфера и другата страна да чака.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Дайте 7–8 минути за въвеждане на server цикъла. Подчертайте реда на операциите. Ако и двете страни започнат с ReadLineAsync, ще чакат взаимно.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е първата проверка. Ако портът не е достъпен, проверете дали приложението работи, дали използва порт 5000 и дали firewall блокира връзката.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Въведете client setup. За първия тест използвайте 127.0.0.1. Този адрес винаги означава текущия компютър, затова не работи за връзка към съседна машина.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Дайте 8 минути. Проверявайте особено скобите и AutoFlush. Сравнете двата цикъла: client write/read, server read/write.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Организирайте първия тест за 5 минути. Нека учениците маркират кои редове са въведени локално и кои са получени от другата програма.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Проведете устна проверка за 3 минути. Учениците трябва да обяснят ролите, а не само да назоват класовете.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Разделете учениците по двойки. Единият стартира server, другият client. Ако училищната мрежа блокира peer-to-peer връзки, изпълнете теста с два терминала на една машина.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свързва проекта с предишните мрежови упражнения. Ping проверява ICMP достижимост, а Test-NetConnection проверява конкретната TCP услуга на порт 5000.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задълбочавайте в TCP сегменти. Основната идея е, че мрежата не пренася C# string обекти. Текстът се кодира в байтове и после се декодира.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е малко, но смислено разширение. Учениците трябва да променят и двете страни. Ако само client изпрати име, server ще го приеме като първо chat съобщение.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е практическата контролна част. Позволете използване на презентацията, но изисквайте всеки ученик да покаже работещо изпълнение и да отговори на кратък въпрос.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Може да преобразувате точките към вашата скала. Под четливо освобождаване приемете using декларации за TcpClient, NetworkStream, StreamReader и StreamWriter.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Използвайте този слайд по време на самостоятелната работа. Питайте ученика какво точно вижда, вместо веднага да поправяте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представяйте проекта като production chat. Той е минимален учебен прототип. За реално приложение са нужни authentication, encryption, validation, logging и защита срещу злоупотреба.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Ниво 3 означава последователни клиенти, не едновременни. Външен while трябва да обхване AcceptTcpClientAsync и обработката на връзката.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Очакван отговор: IP намира машината, port намира приложението в нея. Общият ред е необходим, защото ако и двете страни чакат да четат, комуникацията спира.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229B400-5A80-4FF8-BEEC-4FC6F370846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2802EB0-2A04-4FA4-B1C9-590D7D77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DFDECDC-65F2-4F26-94CB-91E41959B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B11DA24B-441B-41E1-9E1A-07C4FA83274C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24DA9FED-1817-49FA-A611-9C6F3108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0550BAE1-FCF2-4F05-8999-FF0BF6DB91D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510EC16-85AE-42DC-976F-6FE9CFBD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4637E17-F81D-4CA9-9DD8-845BD9665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35E5434-CA8D-43E5-A699-2ECEAF29920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F7701C8-7CEA-440F-8A6D-B6F1B11F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7CC12263-C804-4E38-8299-035386E4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601C12E7-37CD-4886-B35C-A174AA2A692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096FC71C-B8AA-46D4-93FF-08F1AF5BBAF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B0886FE-7C25-4A9D-9AFC-173E325A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9580776F-E995-443C-AD97-14C5A20AD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486A3E-E681-4A8C-85B2-0195C657405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4000500" cy="304800"/>
          </a:xfrm>
          <a:prstGeom prst="roundRect">
            <a:avLst>
              <a:gd name="adj" fmla="val 25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B000DC-E19E-4FB6-8D29-A93DF3B649D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Учебна практика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F2C0BA-BEBD-4A34-AF54-B7D5EDB46B9C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857250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TCP чат: клиент и сървър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8FFCDF-5C44-472B-B7C0-203D07604031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Практически проект на C# и .NET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2FF434-FBEE-4D14-A2FB-C91D09BC554B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18097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57B6C-F604-4332-B63F-2BB6013729A3}"/>
              </a:ext>
            </a:extLst>
          </p:cNvPr>
          <p:cNvSpPr>
            <a:spLocks noGrp="1"/>
          </p:cNvSpPr>
          <p:nvPr/>
        </p:nvSpPr>
        <p:spPr>
          <a:xfrm>
            <a:off x="552450" y="35433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CHAT 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241CCA-B24C-4688-B4BF-8EFC2CEF8F27}"/>
              </a:ext>
            </a:extLst>
          </p:cNvPr>
          <p:cNvSpPr>
            <a:spLocks noGrp="1"/>
          </p:cNvSpPr>
          <p:nvPr/>
        </p:nvSpPr>
        <p:spPr>
          <a:xfrm>
            <a:off x="2533650" y="3476625"/>
            <a:ext cx="76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ctr"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⇄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2507C7-17DD-4806-9671-462295964EAA}"/>
              </a:ext>
            </a:extLst>
          </p:cNvPr>
          <p:cNvSpPr>
            <a:spLocks noGrp="1"/>
          </p:cNvSpPr>
          <p:nvPr/>
        </p:nvSpPr>
        <p:spPr>
          <a:xfrm>
            <a:off x="3467100" y="3524250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05EF4E-72B9-42E4-BD58-780F5EA8F92E}"/>
              </a:ext>
            </a:extLst>
          </p:cNvPr>
          <p:cNvSpPr>
            <a:spLocks noGrp="1"/>
          </p:cNvSpPr>
          <p:nvPr/>
        </p:nvSpPr>
        <p:spPr>
          <a:xfrm>
            <a:off x="3467100" y="35433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TCP :5000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9E41A-D635-4FC8-8C9E-3C3DFFEEADBC}"/>
              </a:ext>
            </a:extLst>
          </p:cNvPr>
          <p:cNvSpPr>
            <a:spLocks noGrp="1"/>
          </p:cNvSpPr>
          <p:nvPr/>
        </p:nvSpPr>
        <p:spPr>
          <a:xfrm>
            <a:off x="5257800" y="3476625"/>
            <a:ext cx="76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 algn="ctr"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⇄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816D2C-C4B3-4A0E-A28E-674C1F1E306E}"/>
              </a:ext>
            </a:extLst>
          </p:cNvPr>
          <p:cNvSpPr>
            <a:spLocks noGrp="1"/>
          </p:cNvSpPr>
          <p:nvPr/>
        </p:nvSpPr>
        <p:spPr>
          <a:xfrm>
            <a:off x="6191250" y="3524250"/>
            <a:ext cx="19050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80C724-96E3-4836-BB2B-9C72061C274C}"/>
              </a:ext>
            </a:extLst>
          </p:cNvPr>
          <p:cNvSpPr>
            <a:spLocks noGrp="1"/>
          </p:cNvSpPr>
          <p:nvPr/>
        </p:nvSpPr>
        <p:spPr>
          <a:xfrm>
            <a:off x="6191250" y="3543300"/>
            <a:ext cx="1905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CHAT SERVER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28B469-5909-4E33-80FD-0F8B0F68B4CD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5810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2 учебни часа • урок 13 и практическа проверка 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BFA22E-64FB-4C8E-9175-AA0911747895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Работещ проект без HTML, CSS и JavaScript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4C82B6-4BCA-427E-94B8-0DDEC656D8FB}"/>
              </a:ext>
            </a:extLst>
          </p:cNvPr>
          <p:cNvSpPr>
            <a:spLocks noGrp="1"/>
          </p:cNvSpPr>
          <p:nvPr/>
        </p:nvSpPr>
        <p:spPr>
          <a:xfrm>
            <a:off x="10096500" y="800100"/>
            <a:ext cx="1123950" cy="2724150"/>
          </a:xfrm>
          <a:prstGeom prst="roundRect">
            <a:avLst>
              <a:gd name="adj" fmla="val 678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494FEF-F81E-425B-A624-326B881C97BD}"/>
              </a:ext>
            </a:extLst>
          </p:cNvPr>
          <p:cNvSpPr>
            <a:spLocks noGrp="1"/>
          </p:cNvSpPr>
          <p:nvPr/>
        </p:nvSpPr>
        <p:spPr>
          <a:xfrm>
            <a:off x="9010650" y="4171950"/>
            <a:ext cx="1257300" cy="1562100"/>
          </a:xfrm>
          <a:prstGeom prst="roundRect">
            <a:avLst>
              <a:gd name="adj" fmla="val 6061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16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B70D910-9E3C-49E2-80D2-B476E6CA72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DC02A-CCE6-4424-BCD4-3F1E15B4C1B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ще постигнем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DADD38-D6E1-4C9C-92CA-FAA1D671FC7C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E22F5F-7668-4313-87EE-206E84E170E4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082644-67E8-4DD4-B2CB-BF147536F5A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012AFA-5EF4-4371-9F2D-2623BF444E42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Работеща връзка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3097C7-2040-475F-BD67-E30DAE1978E3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29908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се свързва към IP адрес и TCP порт 5000.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B19CC5E-DF12-436C-8FB0-2EAF2DBBE322}"/>
              </a:ext>
            </a:extLst>
          </p:cNvPr>
          <p:cNvSpPr>
            <a:spLocks noGrp="1"/>
          </p:cNvSpPr>
          <p:nvPr/>
        </p:nvSpPr>
        <p:spPr>
          <a:xfrm>
            <a:off x="4419600" y="116205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83156A-0740-4A1E-9702-8CF08712FFC5}"/>
              </a:ext>
            </a:extLst>
          </p:cNvPr>
          <p:cNvSpPr>
            <a:spLocks noGrp="1"/>
          </p:cNvSpPr>
          <p:nvPr/>
        </p:nvSpPr>
        <p:spPr>
          <a:xfrm>
            <a:off x="4591050" y="12763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Обмен на текст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D5C4DA-897B-4CB8-AE46-A0558FD7D08B}"/>
              </a:ext>
            </a:extLst>
          </p:cNvPr>
          <p:cNvSpPr>
            <a:spLocks noGrp="1"/>
          </p:cNvSpPr>
          <p:nvPr/>
        </p:nvSpPr>
        <p:spPr>
          <a:xfrm>
            <a:off x="4591050" y="1638300"/>
            <a:ext cx="29908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Двете програми изпращат и получават съобщения чрез stream.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EB0CFE-1D37-40AF-906A-0C4DAF16CF2C}"/>
              </a:ext>
            </a:extLst>
          </p:cNvPr>
          <p:cNvSpPr>
            <a:spLocks noGrp="1"/>
          </p:cNvSpPr>
          <p:nvPr/>
        </p:nvSpPr>
        <p:spPr>
          <a:xfrm>
            <a:off x="8229600" y="116205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CE1EB-A8A3-450C-9587-EE278193AA74}"/>
              </a:ext>
            </a:extLst>
          </p:cNvPr>
          <p:cNvSpPr>
            <a:spLocks noGrp="1"/>
          </p:cNvSpPr>
          <p:nvPr/>
        </p:nvSpPr>
        <p:spPr>
          <a:xfrm>
            <a:off x="8401050" y="12763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Проверка и анализ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C2D67E-8D68-4F7C-B183-BFEC2DDA7A77}"/>
              </a:ext>
            </a:extLst>
          </p:cNvPr>
          <p:cNvSpPr>
            <a:spLocks noGrp="1"/>
          </p:cNvSpPr>
          <p:nvPr/>
        </p:nvSpPr>
        <p:spPr>
          <a:xfrm>
            <a:off x="8401050" y="1638300"/>
            <a:ext cx="29908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Учениците тестват localhost, локална мрежа и чести грешки.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4189DE-10D9-47F1-B303-86A42C502B12}"/>
              </a:ext>
            </a:extLst>
          </p:cNvPr>
          <p:cNvSpPr>
            <a:spLocks noGrp="1"/>
          </p:cNvSpPr>
          <p:nvPr/>
        </p:nvSpPr>
        <p:spPr>
          <a:xfrm>
            <a:off x="1562100" y="3581400"/>
            <a:ext cx="9067800" cy="990600"/>
          </a:xfrm>
          <a:prstGeom prst="roundRect">
            <a:avLst>
              <a:gd name="adj" fmla="val 7692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F70CE3-94BA-4F3B-8797-D8633C1B42D3}"/>
              </a:ext>
            </a:extLst>
          </p:cNvPr>
          <p:cNvSpPr>
            <a:spLocks noGrp="1"/>
          </p:cNvSpPr>
          <p:nvPr/>
        </p:nvSpPr>
        <p:spPr>
          <a:xfrm>
            <a:off x="1809750" y="371475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Краен продукт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3E94B8-5853-4DF9-A8F9-1A806498C8DB}"/>
              </a:ext>
            </a:extLst>
          </p:cNvPr>
          <p:cNvSpPr>
            <a:spLocks noGrp="1"/>
          </p:cNvSpPr>
          <p:nvPr/>
        </p:nvSpPr>
        <p:spPr>
          <a:xfrm>
            <a:off x="1809750" y="4057650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ChatServer и ChatClient, стартирани в два терминала или на два компютъра.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74BBF6-D35F-471E-96AC-2B197807286D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Версия 1 обслужва един клиент и редува съобщенията. Това държи проекта изпълним в 90 минути.</a:t>
            </a:r>
          </a:p>
        </p:txBody>
      </p:sp>
    </p:spTree>
    <p:extLst>
      <p:ext uri="{BB962C8B-B14F-4D97-AF65-F5344CB8AC3E}">
        <p14:creationId xmlns:p14="http://schemas.microsoft.com/office/powerpoint/2010/main" val="64916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AFAE7D4-9428-4F3D-8D7A-8FDA57AA40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B7CB33-71BB-4CE1-89ED-B75F48BF9D1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Архитектура на проекта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96F158-4035-4D5A-AADC-5C09DE06EC66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7DED48-431A-4FF2-B0EB-409345FE404E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E897EF8-28B2-4141-A8AF-2CCBAD3AC4FA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D66F75-DE02-401D-968F-04185660638B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02FC2D-7DDC-48A5-A263-629CCB054E77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TcpClient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82729D-9306-4EB8-B411-2AECAAD287D5}"/>
              </a:ext>
            </a:extLst>
          </p:cNvPr>
          <p:cNvSpPr>
            <a:spLocks noGrp="1"/>
          </p:cNvSpPr>
          <p:nvPr/>
        </p:nvSpPr>
        <p:spPr>
          <a:xfrm>
            <a:off x="3224213" y="217170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5AFD54-8230-4A0A-94C2-DCB930F7AE55}"/>
              </a:ext>
            </a:extLst>
          </p:cNvPr>
          <p:cNvSpPr>
            <a:spLocks noGrp="1"/>
          </p:cNvSpPr>
          <p:nvPr/>
        </p:nvSpPr>
        <p:spPr>
          <a:xfrm>
            <a:off x="3395663" y="196215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7E0B49-B612-4EB8-BB76-45B978FF5DC5}"/>
              </a:ext>
            </a:extLst>
          </p:cNvPr>
          <p:cNvSpPr>
            <a:spLocks noGrp="1"/>
          </p:cNvSpPr>
          <p:nvPr/>
        </p:nvSpPr>
        <p:spPr>
          <a:xfrm>
            <a:off x="3490913" y="205740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TCP connection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A0B76-D3B5-4CBF-8205-5D965AEBF969}"/>
              </a:ext>
            </a:extLst>
          </p:cNvPr>
          <p:cNvSpPr>
            <a:spLocks noGrp="1"/>
          </p:cNvSpPr>
          <p:nvPr/>
        </p:nvSpPr>
        <p:spPr>
          <a:xfrm>
            <a:off x="3490913" y="236220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IP + 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3379B8-1F6C-4C61-BCE2-A83E28C438EA}"/>
              </a:ext>
            </a:extLst>
          </p:cNvPr>
          <p:cNvSpPr>
            <a:spLocks noGrp="1"/>
          </p:cNvSpPr>
          <p:nvPr/>
        </p:nvSpPr>
        <p:spPr>
          <a:xfrm>
            <a:off x="6010275" y="217170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13D2DE-7A88-4BF9-BB54-155EBE3B2F47}"/>
              </a:ext>
            </a:extLst>
          </p:cNvPr>
          <p:cNvSpPr>
            <a:spLocks noGrp="1"/>
          </p:cNvSpPr>
          <p:nvPr/>
        </p:nvSpPr>
        <p:spPr>
          <a:xfrm>
            <a:off x="6181725" y="196215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8B0AE7-1C9B-4EF3-A3C2-24FFCD78B381}"/>
              </a:ext>
            </a:extLst>
          </p:cNvPr>
          <p:cNvSpPr>
            <a:spLocks noGrp="1"/>
          </p:cNvSpPr>
          <p:nvPr/>
        </p:nvSpPr>
        <p:spPr>
          <a:xfrm>
            <a:off x="6276975" y="205740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ChatServer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350E89-7D29-4226-ADB7-DF8F67620891}"/>
              </a:ext>
            </a:extLst>
          </p:cNvPr>
          <p:cNvSpPr>
            <a:spLocks noGrp="1"/>
          </p:cNvSpPr>
          <p:nvPr/>
        </p:nvSpPr>
        <p:spPr>
          <a:xfrm>
            <a:off x="6276975" y="236220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TcpListener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FF2DF8-C8DC-4EC3-8F9F-B5357A6B5175}"/>
              </a:ext>
            </a:extLst>
          </p:cNvPr>
          <p:cNvSpPr>
            <a:spLocks noGrp="1"/>
          </p:cNvSpPr>
          <p:nvPr/>
        </p:nvSpPr>
        <p:spPr>
          <a:xfrm>
            <a:off x="8796338" y="217170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319BEC4-98FD-4247-AC54-3BBB1D04424A}"/>
              </a:ext>
            </a:extLst>
          </p:cNvPr>
          <p:cNvSpPr>
            <a:spLocks noGrp="1"/>
          </p:cNvSpPr>
          <p:nvPr/>
        </p:nvSpPr>
        <p:spPr>
          <a:xfrm>
            <a:off x="8967788" y="196215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149CE2-476D-429E-9113-5F1A53CAF25E}"/>
              </a:ext>
            </a:extLst>
          </p:cNvPr>
          <p:cNvSpPr>
            <a:spLocks noGrp="1"/>
          </p:cNvSpPr>
          <p:nvPr/>
        </p:nvSpPr>
        <p:spPr>
          <a:xfrm>
            <a:off x="9063038" y="205740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Console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A942DF-0527-42C3-93D2-87A98E6A7A81}"/>
              </a:ext>
            </a:extLst>
          </p:cNvPr>
          <p:cNvSpPr>
            <a:spLocks noGrp="1"/>
          </p:cNvSpPr>
          <p:nvPr/>
        </p:nvSpPr>
        <p:spPr>
          <a:xfrm>
            <a:off x="9063038" y="236220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чете и показва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0688C00-29A3-4D45-BD55-2D3BF0E49721}"/>
              </a:ext>
            </a:extLst>
          </p:cNvPr>
          <p:cNvSpPr>
            <a:spLocks noGrp="1"/>
          </p:cNvSpPr>
          <p:nvPr/>
        </p:nvSpPr>
        <p:spPr>
          <a:xfrm>
            <a:off x="1562100" y="3371850"/>
            <a:ext cx="9067800" cy="1085850"/>
          </a:xfrm>
          <a:prstGeom prst="roundRect">
            <a:avLst>
              <a:gd name="adj" fmla="val 7018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1B5028-99BC-4F22-875B-5877944FCD83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Протокол на нашия чат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5114C1-78B5-49CC-93D0-92998824E6EA}"/>
              </a:ext>
            </a:extLst>
          </p:cNvPr>
          <p:cNvSpPr>
            <a:spLocks noGrp="1"/>
          </p:cNvSpPr>
          <p:nvPr/>
        </p:nvSpPr>
        <p:spPr>
          <a:xfrm>
            <a:off x="1809750" y="3886200"/>
            <a:ext cx="838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747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Всяко съобщение е един текстов ред. Новият ред отбелязва края на съобщението.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580B7C-9697-4E9C-B280-928D0C678149}"/>
              </a:ext>
            </a:extLst>
          </p:cNvPr>
          <p:cNvSpPr>
            <a:spLocks noGrp="1"/>
          </p:cNvSpPr>
          <p:nvPr/>
        </p:nvSpPr>
        <p:spPr>
          <a:xfrm>
            <a:off x="2381250" y="5029200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7D8154-C3DF-442B-A8F0-59373979F58A}"/>
              </a:ext>
            </a:extLst>
          </p:cNvPr>
          <p:cNvSpPr>
            <a:spLocks noGrp="1"/>
          </p:cNvSpPr>
          <p:nvPr/>
        </p:nvSpPr>
        <p:spPr>
          <a:xfrm>
            <a:off x="2381250" y="5048250"/>
            <a:ext cx="2000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 SENDS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0A12AE-0FC2-4402-B4C3-864A3ED443A9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1333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след това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BE00AEB-CF06-4B6B-BEE7-BD19695BECA3}"/>
              </a:ext>
            </a:extLst>
          </p:cNvPr>
          <p:cNvSpPr>
            <a:spLocks noGrp="1"/>
          </p:cNvSpPr>
          <p:nvPr/>
        </p:nvSpPr>
        <p:spPr>
          <a:xfrm>
            <a:off x="6096000" y="5029200"/>
            <a:ext cx="21907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6E0F71-1911-49AF-B527-142E12D86973}"/>
              </a:ext>
            </a:extLst>
          </p:cNvPr>
          <p:cNvSpPr>
            <a:spLocks noGrp="1"/>
          </p:cNvSpPr>
          <p:nvPr/>
        </p:nvSpPr>
        <p:spPr>
          <a:xfrm>
            <a:off x="6096000" y="50482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 REPLIES</a:t>
            </a:r>
          </a:p>
        </p:txBody>
      </p:sp>
    </p:spTree>
    <p:extLst>
      <p:ext uri="{BB962C8B-B14F-4D97-AF65-F5344CB8AC3E}">
        <p14:creationId xmlns:p14="http://schemas.microsoft.com/office/powerpoint/2010/main" val="198707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7CF47AC-7495-4BA3-9FAB-9C1BC6849B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F49D1F-9E89-4F5D-8AD2-A36468B529B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Необходими инструменти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2A349-6C6B-4E5F-8ED9-E6F86A3224F2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B2A930-0E63-4B7A-92FD-2741AD233DA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B8013F-EDB1-44AA-81CA-EDB9B9039BDF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3333750" cy="1714500"/>
          </a:xfrm>
          <a:prstGeom prst="roundRect">
            <a:avLst>
              <a:gd name="adj" fmla="val 4444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71DC2-9DF6-46D3-B056-80276173D323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Среда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5B571C-37A0-4843-B495-9EE09D6764D7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29908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Visual Studio 2022 или VS Code с C# Dev Kit и .NET SDK.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39782C-2179-4483-A5B1-F1D7F0394D55}"/>
              </a:ext>
            </a:extLst>
          </p:cNvPr>
          <p:cNvSpPr>
            <a:spLocks noGrp="1"/>
          </p:cNvSpPr>
          <p:nvPr/>
        </p:nvSpPr>
        <p:spPr>
          <a:xfrm>
            <a:off x="4419600" y="1143000"/>
            <a:ext cx="3333750" cy="1714500"/>
          </a:xfrm>
          <a:prstGeom prst="roundRect">
            <a:avLst>
              <a:gd name="adj" fmla="val 4444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E6A1B5-EECC-4E54-AFC2-52AE0D40270C}"/>
              </a:ext>
            </a:extLst>
          </p:cNvPr>
          <p:cNvSpPr>
            <a:spLocks noGrp="1"/>
          </p:cNvSpPr>
          <p:nvPr/>
        </p:nvSpPr>
        <p:spPr>
          <a:xfrm>
            <a:off x="4591050" y="12573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Два терминала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0DD72E-8439-4A56-986C-3FA5AFCE7449}"/>
              </a:ext>
            </a:extLst>
          </p:cNvPr>
          <p:cNvSpPr>
            <a:spLocks noGrp="1"/>
          </p:cNvSpPr>
          <p:nvPr/>
        </p:nvSpPr>
        <p:spPr>
          <a:xfrm>
            <a:off x="4591050" y="1619250"/>
            <a:ext cx="29908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Един за сървъра и един за клиента.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F96612-6068-4EC5-B1AA-65A9545EBC66}"/>
              </a:ext>
            </a:extLst>
          </p:cNvPr>
          <p:cNvSpPr>
            <a:spLocks noGrp="1"/>
          </p:cNvSpPr>
          <p:nvPr/>
        </p:nvSpPr>
        <p:spPr>
          <a:xfrm>
            <a:off x="8229600" y="1143000"/>
            <a:ext cx="3333750" cy="1714500"/>
          </a:xfrm>
          <a:prstGeom prst="roundRect">
            <a:avLst>
              <a:gd name="adj" fmla="val 4444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CAAF5-FE71-4365-B358-34FF31BFFD32}"/>
              </a:ext>
            </a:extLst>
          </p:cNvPr>
          <p:cNvSpPr>
            <a:spLocks noGrp="1"/>
          </p:cNvSpPr>
          <p:nvPr/>
        </p:nvSpPr>
        <p:spPr>
          <a:xfrm>
            <a:off x="8401050" y="12573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Мрежа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F4D40-E533-4AA2-BAE2-EE609DE09660}"/>
              </a:ext>
            </a:extLst>
          </p:cNvPr>
          <p:cNvSpPr>
            <a:spLocks noGrp="1"/>
          </p:cNvSpPr>
          <p:nvPr/>
        </p:nvSpPr>
        <p:spPr>
          <a:xfrm>
            <a:off x="8401050" y="1619250"/>
            <a:ext cx="29908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Първо 127.0.0.1. После два компютъра в една LAN.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149BD9-50F6-4F9C-8B39-7207926C1271}"/>
              </a:ext>
            </a:extLst>
          </p:cNvPr>
          <p:cNvSpPr>
            <a:spLocks noGrp="1"/>
          </p:cNvSpPr>
          <p:nvPr/>
        </p:nvSpPr>
        <p:spPr>
          <a:xfrm>
            <a:off x="1562100" y="3524250"/>
            <a:ext cx="9067800" cy="1428750"/>
          </a:xfrm>
          <a:prstGeom prst="roundRect">
            <a:avLst>
              <a:gd name="adj" fmla="val 5333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E6B66-5494-4CA6-A897-FDD1CC9A304D}"/>
              </a:ext>
            </a:extLst>
          </p:cNvPr>
          <p:cNvSpPr>
            <a:spLocks noGrp="1"/>
          </p:cNvSpPr>
          <p:nvPr/>
        </p:nvSpPr>
        <p:spPr>
          <a:xfrm>
            <a:off x="1733550" y="36195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ПРЕДВАРИТЕЛНА ПРОВЕРКА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CA08B-B49C-43AE-85BA-040BBE95191C}"/>
              </a:ext>
            </a:extLst>
          </p:cNvPr>
          <p:cNvSpPr>
            <a:spLocks noGrp="1"/>
          </p:cNvSpPr>
          <p:nvPr/>
        </p:nvSpPr>
        <p:spPr>
          <a:xfrm>
            <a:off x="1752600" y="3886200"/>
            <a:ext cx="868680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--version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ipconfig                 # Windows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Test-NetConnection 127.0.0.1 -Port 5000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773E7C-1455-4A9A-850F-D85598847AAB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Важно: тестът на порт 5000 работи едва след стартиране на ChatServer.</a:t>
            </a:r>
          </a:p>
        </p:txBody>
      </p:sp>
    </p:spTree>
    <p:extLst>
      <p:ext uri="{BB962C8B-B14F-4D97-AF65-F5344CB8AC3E}">
        <p14:creationId xmlns:p14="http://schemas.microsoft.com/office/powerpoint/2010/main" val="2060472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83586A1-7171-486A-9041-3E31EA380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EEEDD7-67E8-4BB3-B672-0AE753A36C7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Създаваме solution и два проекта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15FB4-A03F-4CB6-B5E0-5EAC823392B1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CB248-6677-4B1E-A5A3-984794FBD2E7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39A8DB-BFF6-4E7C-9B00-2AEFC47AD6EA}"/>
              </a:ext>
            </a:extLst>
          </p:cNvPr>
          <p:cNvSpPr>
            <a:spLocks noGrp="1"/>
          </p:cNvSpPr>
          <p:nvPr/>
        </p:nvSpPr>
        <p:spPr>
          <a:xfrm>
            <a:off x="1562100" y="1104900"/>
            <a:ext cx="9067800" cy="3219450"/>
          </a:xfrm>
          <a:prstGeom prst="roundRect">
            <a:avLst>
              <a:gd name="adj" fmla="val 2367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8E15D-4A59-42EC-9A4B-271EF12E264C}"/>
              </a:ext>
            </a:extLst>
          </p:cNvPr>
          <p:cNvSpPr>
            <a:spLocks noGrp="1"/>
          </p:cNvSpPr>
          <p:nvPr/>
        </p:nvSpPr>
        <p:spPr>
          <a:xfrm>
            <a:off x="1733550" y="120015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A80282-5EEB-4997-92D9-63353205FE23}"/>
              </a:ext>
            </a:extLst>
          </p:cNvPr>
          <p:cNvSpPr>
            <a:spLocks noGrp="1"/>
          </p:cNvSpPr>
          <p:nvPr/>
        </p:nvSpPr>
        <p:spPr>
          <a:xfrm>
            <a:off x="1752600" y="1466850"/>
            <a:ext cx="8686800" cy="2743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mkdir TcpChat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cd TcpChat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new sln -n TcpChat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new console -n ChatServer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new console -n ChatClient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sln add ChatServer ChatClient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EB440D-B264-4FB9-B795-DC3638783996}"/>
              </a:ext>
            </a:extLst>
          </p:cNvPr>
          <p:cNvSpPr>
            <a:spLocks noGrp="1"/>
          </p:cNvSpPr>
          <p:nvPr/>
        </p:nvSpPr>
        <p:spPr>
          <a:xfrm>
            <a:off x="1562100" y="4648200"/>
            <a:ext cx="9067800" cy="800100"/>
          </a:xfrm>
          <a:prstGeom prst="roundRect">
            <a:avLst>
              <a:gd name="adj" fmla="val 9524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A93126-B831-4B42-A9AD-4FC8EE990EB1}"/>
              </a:ext>
            </a:extLst>
          </p:cNvPr>
          <p:cNvSpPr>
            <a:spLocks noGrp="1"/>
          </p:cNvSpPr>
          <p:nvPr/>
        </p:nvSpPr>
        <p:spPr>
          <a:xfrm>
            <a:off x="1809750" y="4762500"/>
            <a:ext cx="8572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778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TcpChat</a:t>
            </a:r>
          </a:p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├─ ChatServer/Program.cs</a:t>
            </a:r>
          </a:p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└─ ChatClient/Program.cs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77CF44-165C-4FDC-A339-62453F10BA15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Задача: изпълнете командите и отворете папката TcpChat във вашата среда.</a:t>
            </a:r>
          </a:p>
        </p:txBody>
      </p:sp>
    </p:spTree>
    <p:extLst>
      <p:ext uri="{BB962C8B-B14F-4D97-AF65-F5344CB8AC3E}">
        <p14:creationId xmlns:p14="http://schemas.microsoft.com/office/powerpoint/2010/main" val="1694500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2B05A75-D1BE-46A4-B21B-33C13DCBA4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279ADB-0423-4AE8-9982-54481D02E06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Сървърът слуша на порт 5000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669DAD-396A-4ADE-8218-EBAEE21CE3FF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63300-920A-4C1C-BFB9-6F6A35655D6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3E0B9B-6126-4F99-8648-FF3F7BACABEB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6572250" cy="3143250"/>
          </a:xfrm>
          <a:prstGeom prst="roundRect">
            <a:avLst>
              <a:gd name="adj" fmla="val 2424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8F1F99-E55C-474D-A23B-FE0B91DB8D08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6229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ChatServer/Program.cs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03C163-B78C-4C79-9ED7-0936F5322881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6191250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System.Net;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System.Net.Sockets;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const int port = 5000;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var listener = new TcpListener(IPAddress.Any, port);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listener.Start();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Console.WriteLine($"Server listening on port {port}...");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C190FB-292D-4F61-A090-EAA16B56476B}"/>
              </a:ext>
            </a:extLst>
          </p:cNvPr>
          <p:cNvSpPr>
            <a:spLocks noGrp="1"/>
          </p:cNvSpPr>
          <p:nvPr/>
        </p:nvSpPr>
        <p:spPr>
          <a:xfrm>
            <a:off x="7658100" y="1200150"/>
            <a:ext cx="3714750" cy="914400"/>
          </a:xfrm>
          <a:prstGeom prst="roundRect">
            <a:avLst>
              <a:gd name="adj" fmla="val 833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34456-9E5A-4C4F-B310-D5407DCDA4BD}"/>
              </a:ext>
            </a:extLst>
          </p:cNvPr>
          <p:cNvSpPr>
            <a:spLocks noGrp="1"/>
          </p:cNvSpPr>
          <p:nvPr/>
        </p:nvSpPr>
        <p:spPr>
          <a:xfrm>
            <a:off x="7829550" y="131445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TcpListener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3FA821-BD78-44B0-91BD-C339DCF32E6F}"/>
              </a:ext>
            </a:extLst>
          </p:cNvPr>
          <p:cNvSpPr>
            <a:spLocks noGrp="1"/>
          </p:cNvSpPr>
          <p:nvPr/>
        </p:nvSpPr>
        <p:spPr>
          <a:xfrm>
            <a:off x="7829550" y="167640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Сървърният обект приема TCP връзки.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2BC8EC-905A-402E-B7F6-490BD2453FFF}"/>
              </a:ext>
            </a:extLst>
          </p:cNvPr>
          <p:cNvSpPr>
            <a:spLocks noGrp="1"/>
          </p:cNvSpPr>
          <p:nvPr/>
        </p:nvSpPr>
        <p:spPr>
          <a:xfrm>
            <a:off x="7658100" y="2305050"/>
            <a:ext cx="3714750" cy="914400"/>
          </a:xfrm>
          <a:prstGeom prst="roundRect">
            <a:avLst>
              <a:gd name="adj" fmla="val 833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2EF9AB-5E53-42BE-B9E2-8A70A6DE78FF}"/>
              </a:ext>
            </a:extLst>
          </p:cNvPr>
          <p:cNvSpPr>
            <a:spLocks noGrp="1"/>
          </p:cNvSpPr>
          <p:nvPr/>
        </p:nvSpPr>
        <p:spPr>
          <a:xfrm>
            <a:off x="7829550" y="241935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IPAddress.Any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AA8D8A-B42D-443A-AAA9-C1FDDCA9AE02}"/>
              </a:ext>
            </a:extLst>
          </p:cNvPr>
          <p:cNvSpPr>
            <a:spLocks noGrp="1"/>
          </p:cNvSpPr>
          <p:nvPr/>
        </p:nvSpPr>
        <p:spPr>
          <a:xfrm>
            <a:off x="7829550" y="278130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Слуша на всички мрежови интерфейси.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FC7DD8-957B-4EF0-88A6-40C041702025}"/>
              </a:ext>
            </a:extLst>
          </p:cNvPr>
          <p:cNvSpPr>
            <a:spLocks noGrp="1"/>
          </p:cNvSpPr>
          <p:nvPr/>
        </p:nvSpPr>
        <p:spPr>
          <a:xfrm>
            <a:off x="7658100" y="3409950"/>
            <a:ext cx="3714750" cy="914400"/>
          </a:xfrm>
          <a:prstGeom prst="roundRect">
            <a:avLst>
              <a:gd name="adj" fmla="val 833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74E23C-0418-4453-8B48-C87BB0D6BDD1}"/>
              </a:ext>
            </a:extLst>
          </p:cNvPr>
          <p:cNvSpPr>
            <a:spLocks noGrp="1"/>
          </p:cNvSpPr>
          <p:nvPr/>
        </p:nvSpPr>
        <p:spPr>
          <a:xfrm>
            <a:off x="7829550" y="352425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Start()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295329-C99B-4692-8CE0-2E76CA326655}"/>
              </a:ext>
            </a:extLst>
          </p:cNvPr>
          <p:cNvSpPr>
            <a:spLocks noGrp="1"/>
          </p:cNvSpPr>
          <p:nvPr/>
        </p:nvSpPr>
        <p:spPr>
          <a:xfrm>
            <a:off x="7829550" y="3886200"/>
            <a:ext cx="33718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Отваря порта и започва слушане.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F39603-0367-430B-8D78-A930270CE80B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Стартиран сървър ≠ свързан клиент. Засега той само слуша.</a:t>
            </a:r>
          </a:p>
        </p:txBody>
      </p:sp>
    </p:spTree>
    <p:extLst>
      <p:ext uri="{BB962C8B-B14F-4D97-AF65-F5344CB8AC3E}">
        <p14:creationId xmlns:p14="http://schemas.microsoft.com/office/powerpoint/2010/main" val="370660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BF76D52-F3B5-4C74-9452-D1C3D3BA27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472938-8758-4044-8F91-4B599381F8F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Сървърът приема един клиент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9F13AF-EF8A-4895-B9E1-EA8D20F70DC4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B5641-91E8-4CD6-8B20-9A6FFA2D8CDF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EFBBD5-85B8-4E2E-A9FA-24F2E35D0BF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6191250" cy="2457450"/>
          </a:xfrm>
          <a:prstGeom prst="roundRect">
            <a:avLst>
              <a:gd name="adj" fmla="val 310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7C142B-73EB-4149-9EDA-BF11DCB9B554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5848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Добавете след listener.Start()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D62BCF-493E-48D8-AC49-F45CA3DCE6C4}"/>
              </a:ext>
            </a:extLst>
          </p:cNvPr>
          <p:cNvSpPr>
            <a:spLocks noGrp="1"/>
          </p:cNvSpPr>
          <p:nvPr/>
        </p:nvSpPr>
        <p:spPr>
          <a:xfrm>
            <a:off x="800100" y="1581150"/>
            <a:ext cx="5810250" cy="1981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TcpClient client =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await listener.AcceptTcpClientAsync();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Console.WriteLine("Client connected.");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NetworkStream stream = client.GetStream();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0957B9-AAA3-454E-88B4-E2366F85516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3543300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EF80E0-A4AD-4265-ACAC-CB5AC9438638}"/>
              </a:ext>
            </a:extLst>
          </p:cNvPr>
          <p:cNvSpPr>
            <a:spLocks noGrp="1"/>
          </p:cNvSpPr>
          <p:nvPr/>
        </p:nvSpPr>
        <p:spPr>
          <a:xfrm>
            <a:off x="704850" y="43434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LISTEN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D8386-A5BB-43F0-B4E4-796F0E0F8C86}"/>
              </a:ext>
            </a:extLst>
          </p:cNvPr>
          <p:cNvSpPr>
            <a:spLocks noGrp="1"/>
          </p:cNvSpPr>
          <p:nvPr/>
        </p:nvSpPr>
        <p:spPr>
          <a:xfrm>
            <a:off x="704850" y="46482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чака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A714A7-3080-40AB-A572-C7EF3706ED6D}"/>
              </a:ext>
            </a:extLst>
          </p:cNvPr>
          <p:cNvSpPr>
            <a:spLocks noGrp="1"/>
          </p:cNvSpPr>
          <p:nvPr/>
        </p:nvSpPr>
        <p:spPr>
          <a:xfrm>
            <a:off x="4152900" y="445770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BE710C-EC04-4023-A4CF-9251678D2496}"/>
              </a:ext>
            </a:extLst>
          </p:cNvPr>
          <p:cNvSpPr>
            <a:spLocks noGrp="1"/>
          </p:cNvSpPr>
          <p:nvPr/>
        </p:nvSpPr>
        <p:spPr>
          <a:xfrm>
            <a:off x="4324350" y="4248150"/>
            <a:ext cx="3543300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E24AA6-778B-4EB0-AF98-1AC41AC113FF}"/>
              </a:ext>
            </a:extLst>
          </p:cNvPr>
          <p:cNvSpPr>
            <a:spLocks noGrp="1"/>
          </p:cNvSpPr>
          <p:nvPr/>
        </p:nvSpPr>
        <p:spPr>
          <a:xfrm>
            <a:off x="4419600" y="43434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CONNECT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E9D7E-71AD-43B1-99CA-341F0670F72D}"/>
              </a:ext>
            </a:extLst>
          </p:cNvPr>
          <p:cNvSpPr>
            <a:spLocks noGrp="1"/>
          </p:cNvSpPr>
          <p:nvPr/>
        </p:nvSpPr>
        <p:spPr>
          <a:xfrm>
            <a:off x="4419600" y="46482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иска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F8A33F-4175-4C80-9FF1-0E6E33992404}"/>
              </a:ext>
            </a:extLst>
          </p:cNvPr>
          <p:cNvSpPr>
            <a:spLocks noGrp="1"/>
          </p:cNvSpPr>
          <p:nvPr/>
        </p:nvSpPr>
        <p:spPr>
          <a:xfrm>
            <a:off x="7867650" y="445770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4B3817-8184-4EEB-9C34-D62284E40A74}"/>
              </a:ext>
            </a:extLst>
          </p:cNvPr>
          <p:cNvSpPr>
            <a:spLocks noGrp="1"/>
          </p:cNvSpPr>
          <p:nvPr/>
        </p:nvSpPr>
        <p:spPr>
          <a:xfrm>
            <a:off x="8039100" y="4248150"/>
            <a:ext cx="3543300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D30883-1CA7-4F45-9AE0-F4E011408FE1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ACCEPT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FDDF7A-31D1-4E74-BD52-2146B6B97E9E}"/>
              </a:ext>
            </a:extLst>
          </p:cNvPr>
          <p:cNvSpPr>
            <a:spLocks noGrp="1"/>
          </p:cNvSpPr>
          <p:nvPr/>
        </p:nvSpPr>
        <p:spPr>
          <a:xfrm>
            <a:off x="8134350" y="46482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връзката е готова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18D759-F116-44FE-8171-C9239209C637}"/>
              </a:ext>
            </a:extLst>
          </p:cNvPr>
          <p:cNvSpPr>
            <a:spLocks noGrp="1"/>
          </p:cNvSpPr>
          <p:nvPr/>
        </p:nvSpPr>
        <p:spPr>
          <a:xfrm>
            <a:off x="7277100" y="1257300"/>
            <a:ext cx="4095750" cy="1066800"/>
          </a:xfrm>
          <a:prstGeom prst="roundRect">
            <a:avLst>
              <a:gd name="adj" fmla="val 714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60FE5B-47DB-49C2-BB9C-33DACF8DB2DE}"/>
              </a:ext>
            </a:extLst>
          </p:cNvPr>
          <p:cNvSpPr>
            <a:spLocks noGrp="1"/>
          </p:cNvSpPr>
          <p:nvPr/>
        </p:nvSpPr>
        <p:spPr>
          <a:xfrm>
            <a:off x="7448550" y="1371600"/>
            <a:ext cx="3752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await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DDD4D3-0F0C-4B3C-8642-D45AF0A2C755}"/>
              </a:ext>
            </a:extLst>
          </p:cNvPr>
          <p:cNvSpPr>
            <a:spLocks noGrp="1"/>
          </p:cNvSpPr>
          <p:nvPr/>
        </p:nvSpPr>
        <p:spPr>
          <a:xfrm>
            <a:off x="7448550" y="1733550"/>
            <a:ext cx="3752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Програмата чака, без да блокира нишката с активно въртене.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DC55F6F-356F-4863-B4F8-35A57173FDBD}"/>
              </a:ext>
            </a:extLst>
          </p:cNvPr>
          <p:cNvSpPr>
            <a:spLocks noGrp="1"/>
          </p:cNvSpPr>
          <p:nvPr/>
        </p:nvSpPr>
        <p:spPr>
          <a:xfrm>
            <a:off x="7277100" y="2571750"/>
            <a:ext cx="4095750" cy="1066800"/>
          </a:xfrm>
          <a:prstGeom prst="roundRect">
            <a:avLst>
              <a:gd name="adj" fmla="val 714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576B8-451F-45E8-95DD-CF8473E3EC95}"/>
              </a:ext>
            </a:extLst>
          </p:cNvPr>
          <p:cNvSpPr>
            <a:spLocks noGrp="1"/>
          </p:cNvSpPr>
          <p:nvPr/>
        </p:nvSpPr>
        <p:spPr>
          <a:xfrm>
            <a:off x="7448550" y="2686050"/>
            <a:ext cx="3752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NetworkStream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D69B88-B595-46AF-A052-1EE8DBAF6AB7}"/>
              </a:ext>
            </a:extLst>
          </p:cNvPr>
          <p:cNvSpPr>
            <a:spLocks noGrp="1"/>
          </p:cNvSpPr>
          <p:nvPr/>
        </p:nvSpPr>
        <p:spPr>
          <a:xfrm>
            <a:off x="7448550" y="3048000"/>
            <a:ext cx="37528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Потокът, през който четем и пишем данни.</a:t>
            </a:r>
          </a:p>
        </p:txBody>
      </p:sp>
    </p:spTree>
    <p:extLst>
      <p:ext uri="{BB962C8B-B14F-4D97-AF65-F5344CB8AC3E}">
        <p14:creationId xmlns:p14="http://schemas.microsoft.com/office/powerpoint/2010/main" val="93297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EF489E2-4C8A-4346-8D47-F15EEA74C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996EEF-5D4E-486F-AD72-60C73302D47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Четене и писане на текст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DF2FB9-62D8-4C10-AF7A-1F323C554D46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85A725-5A31-4019-86CF-98725AE5F8CD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6609CE-56B8-426A-B042-8E22E381B504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5524500" cy="209550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00688-235B-4E05-AE0A-3F160C366A48}"/>
              </a:ext>
            </a:extLst>
          </p:cNvPr>
          <p:cNvSpPr>
            <a:spLocks noGrp="1"/>
          </p:cNvSpPr>
          <p:nvPr/>
        </p:nvSpPr>
        <p:spPr>
          <a:xfrm>
            <a:off x="781050" y="1333500"/>
            <a:ext cx="5181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ChatServer/Program.cs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FD35D-988F-4240-B940-9C17DDFF35FE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514350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var reader = new StreamReader(stream);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var writer = new StreamWriter(stream)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AutoFlush = true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CB58E9-FE00-47D5-A7E7-11253350D115}"/>
              </a:ext>
            </a:extLst>
          </p:cNvPr>
          <p:cNvSpPr>
            <a:spLocks noGrp="1"/>
          </p:cNvSpPr>
          <p:nvPr/>
        </p:nvSpPr>
        <p:spPr>
          <a:xfrm>
            <a:off x="6610350" y="1219200"/>
            <a:ext cx="4762500" cy="971550"/>
          </a:xfrm>
          <a:prstGeom prst="roundRect">
            <a:avLst>
              <a:gd name="adj" fmla="val 784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A59278-6A94-4EAC-B28D-0C2D8BE591B4}"/>
              </a:ext>
            </a:extLst>
          </p:cNvPr>
          <p:cNvSpPr>
            <a:spLocks noGrp="1"/>
          </p:cNvSpPr>
          <p:nvPr/>
        </p:nvSpPr>
        <p:spPr>
          <a:xfrm>
            <a:off x="6781800" y="1333500"/>
            <a:ext cx="4419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StreamReader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28409-90F6-4118-868E-F8D4CFC84AA7}"/>
              </a:ext>
            </a:extLst>
          </p:cNvPr>
          <p:cNvSpPr>
            <a:spLocks noGrp="1"/>
          </p:cNvSpPr>
          <p:nvPr/>
        </p:nvSpPr>
        <p:spPr>
          <a:xfrm>
            <a:off x="6781800" y="169545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Преобразува получените байтове в текст.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828B40-A76B-464C-960E-90A3BAAC0444}"/>
              </a:ext>
            </a:extLst>
          </p:cNvPr>
          <p:cNvSpPr>
            <a:spLocks noGrp="1"/>
          </p:cNvSpPr>
          <p:nvPr/>
        </p:nvSpPr>
        <p:spPr>
          <a:xfrm>
            <a:off x="6610350" y="2381250"/>
            <a:ext cx="4762500" cy="971550"/>
          </a:xfrm>
          <a:prstGeom prst="roundRect">
            <a:avLst>
              <a:gd name="adj" fmla="val 784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CF3E9-FB54-4393-8ECC-67E0FE2C5160}"/>
              </a:ext>
            </a:extLst>
          </p:cNvPr>
          <p:cNvSpPr>
            <a:spLocks noGrp="1"/>
          </p:cNvSpPr>
          <p:nvPr/>
        </p:nvSpPr>
        <p:spPr>
          <a:xfrm>
            <a:off x="6781800" y="2495550"/>
            <a:ext cx="4419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StreamWriter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AEB41A-B7F9-47E8-9323-645B2C9E2E11}"/>
              </a:ext>
            </a:extLst>
          </p:cNvPr>
          <p:cNvSpPr>
            <a:spLocks noGrp="1"/>
          </p:cNvSpPr>
          <p:nvPr/>
        </p:nvSpPr>
        <p:spPr>
          <a:xfrm>
            <a:off x="6781800" y="285750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Преобразува текста в байтове и го изпраща.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A8EBEA-C489-4662-9FF0-4F6479247C0C}"/>
              </a:ext>
            </a:extLst>
          </p:cNvPr>
          <p:cNvSpPr>
            <a:spLocks noGrp="1"/>
          </p:cNvSpPr>
          <p:nvPr/>
        </p:nvSpPr>
        <p:spPr>
          <a:xfrm>
            <a:off x="6610350" y="3543300"/>
            <a:ext cx="4762500" cy="971550"/>
          </a:xfrm>
          <a:prstGeom prst="roundRect">
            <a:avLst>
              <a:gd name="adj" fmla="val 784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33017B-2E61-4FE1-84BA-F6FA11260D52}"/>
              </a:ext>
            </a:extLst>
          </p:cNvPr>
          <p:cNvSpPr>
            <a:spLocks noGrp="1"/>
          </p:cNvSpPr>
          <p:nvPr/>
        </p:nvSpPr>
        <p:spPr>
          <a:xfrm>
            <a:off x="6781800" y="3657600"/>
            <a:ext cx="4419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AutoFlush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64D3A1-DDB9-4CF2-B6BB-46EC1C5503EC}"/>
              </a:ext>
            </a:extLst>
          </p:cNvPr>
          <p:cNvSpPr>
            <a:spLocks noGrp="1"/>
          </p:cNvSpPr>
          <p:nvPr/>
        </p:nvSpPr>
        <p:spPr>
          <a:xfrm>
            <a:off x="6781800" y="4019550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723"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Изпраща съобщението веднага, без да чака буферът да се запълни.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5DA863-3736-4AEE-958B-7DA3D236BE7E}"/>
              </a:ext>
            </a:extLst>
          </p:cNvPr>
          <p:cNvSpPr>
            <a:spLocks noGrp="1"/>
          </p:cNvSpPr>
          <p:nvPr/>
        </p:nvSpPr>
        <p:spPr>
          <a:xfrm>
            <a:off x="713232" y="4857750"/>
            <a:ext cx="9916668" cy="1168146"/>
          </a:xfrm>
          <a:prstGeom prst="roundRect">
            <a:avLst>
              <a:gd name="adj" fmla="val 9302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589E35-2B81-477B-9567-DD49BDF87134}"/>
              </a:ext>
            </a:extLst>
          </p:cNvPr>
          <p:cNvSpPr>
            <a:spLocks noGrp="1"/>
          </p:cNvSpPr>
          <p:nvPr/>
        </p:nvSpPr>
        <p:spPr>
          <a:xfrm>
            <a:off x="1052322" y="4953000"/>
            <a:ext cx="9406128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 dirty="0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ЕДИН РЕД = ЕДНО СЪОБЩЕНИЕ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4B5AB9-53C6-438C-AD26-69A5DBF758A5}"/>
              </a:ext>
            </a:extLst>
          </p:cNvPr>
          <p:cNvSpPr>
            <a:spLocks noGrp="1"/>
          </p:cNvSpPr>
          <p:nvPr/>
        </p:nvSpPr>
        <p:spPr>
          <a:xfrm>
            <a:off x="1033272" y="5219700"/>
            <a:ext cx="9406128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await </a:t>
            </a:r>
            <a:r>
              <a:rPr sz="112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writer.WriteLineAsync</a:t>
            </a:r>
            <a:r>
              <a:rPr sz="11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("Hello");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string? text = await </a:t>
            </a:r>
            <a:r>
              <a:rPr sz="1125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reader.ReadLineAsync</a:t>
            </a:r>
            <a:r>
              <a:rPr sz="1125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673303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C2C34F3-13E2-49D6-B163-07D8276422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C134E6-C6C9-40DC-BD21-347E4291FDB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Цикълът на сървъра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F217D6-98A2-472F-8C8B-D4EFDC96C9E0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691A32-F648-41DA-A373-90D410FBB50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D81CB2-1066-4201-9C41-9ECFA25FE5FC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6667500" cy="4495800"/>
          </a:xfrm>
          <a:prstGeom prst="roundRect">
            <a:avLst>
              <a:gd name="adj" fmla="val 1695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0D393-C9E0-4913-A8C0-897C9711BFBD}"/>
              </a:ext>
            </a:extLst>
          </p:cNvPr>
          <p:cNvSpPr>
            <a:spLocks noGrp="1"/>
          </p:cNvSpPr>
          <p:nvPr/>
        </p:nvSpPr>
        <p:spPr>
          <a:xfrm>
            <a:off x="781050" y="1123950"/>
            <a:ext cx="6324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ChatServer/Program.cs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FE1AD1-C342-452C-9AA7-1B7C517A1C05}"/>
              </a:ext>
            </a:extLst>
          </p:cNvPr>
          <p:cNvSpPr>
            <a:spLocks noGrp="1"/>
          </p:cNvSpPr>
          <p:nvPr/>
        </p:nvSpPr>
        <p:spPr>
          <a:xfrm>
            <a:off x="800100" y="1390650"/>
            <a:ext cx="6286500" cy="401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 (true)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string? message = await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reader.ReadLineAsync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();</a:t>
            </a:r>
          </a:p>
          <a:p>
            <a:endParaRPr sz="16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(message is null || message == "/exit")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break;</a:t>
            </a:r>
          </a:p>
          <a:p>
            <a:endParaRPr sz="16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Console.WriteLine($"Client: {message}");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("Server: " );</a:t>
            </a:r>
          </a:p>
          <a:p>
            <a:endParaRPr sz="16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string reply =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Console.ReadLine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() ??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string.Empty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;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await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writer.WriteLineAsync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(reply);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9AD556-E509-45C1-A4F4-18FBEEB84C05}"/>
              </a:ext>
            </a:extLst>
          </p:cNvPr>
          <p:cNvSpPr>
            <a:spLocks noGrp="1"/>
          </p:cNvSpPr>
          <p:nvPr/>
        </p:nvSpPr>
        <p:spPr>
          <a:xfrm>
            <a:off x="7753350" y="1143000"/>
            <a:ext cx="3619500" cy="1009650"/>
          </a:xfrm>
          <a:prstGeom prst="roundRect">
            <a:avLst>
              <a:gd name="adj" fmla="val 7547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D3C91D-0F43-45E8-8266-75E11DCA539C}"/>
              </a:ext>
            </a:extLst>
          </p:cNvPr>
          <p:cNvSpPr>
            <a:spLocks noGrp="1"/>
          </p:cNvSpPr>
          <p:nvPr/>
        </p:nvSpPr>
        <p:spPr>
          <a:xfrm>
            <a:off x="7924800" y="1257300"/>
            <a:ext cx="3276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ReadLineAsync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65C5D4-1335-4AB8-90B5-8CFDE31A1668}"/>
              </a:ext>
            </a:extLst>
          </p:cNvPr>
          <p:cNvSpPr>
            <a:spLocks noGrp="1"/>
          </p:cNvSpPr>
          <p:nvPr/>
        </p:nvSpPr>
        <p:spPr>
          <a:xfrm>
            <a:off x="7924800" y="1619250"/>
            <a:ext cx="3276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Изчаква съобщение от клиента.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317F43-71BF-40DD-ABC0-E05CBFA7DCA3}"/>
              </a:ext>
            </a:extLst>
          </p:cNvPr>
          <p:cNvSpPr>
            <a:spLocks noGrp="1"/>
          </p:cNvSpPr>
          <p:nvPr/>
        </p:nvSpPr>
        <p:spPr>
          <a:xfrm>
            <a:off x="7753350" y="2343150"/>
            <a:ext cx="3619500" cy="1009650"/>
          </a:xfrm>
          <a:prstGeom prst="roundRect">
            <a:avLst>
              <a:gd name="adj" fmla="val 7547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8A2AB7-A60C-43BD-9E0B-0FB5AE0EDC95}"/>
              </a:ext>
            </a:extLst>
          </p:cNvPr>
          <p:cNvSpPr>
            <a:spLocks noGrp="1"/>
          </p:cNvSpPr>
          <p:nvPr/>
        </p:nvSpPr>
        <p:spPr>
          <a:xfrm>
            <a:off x="7924800" y="2457450"/>
            <a:ext cx="3276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/exit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8E4135-3127-416D-91F1-EDFB45CE16E5}"/>
              </a:ext>
            </a:extLst>
          </p:cNvPr>
          <p:cNvSpPr>
            <a:spLocks noGrp="1"/>
          </p:cNvSpPr>
          <p:nvPr/>
        </p:nvSpPr>
        <p:spPr>
          <a:xfrm>
            <a:off x="7924800" y="2819400"/>
            <a:ext cx="3276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Команда за прекратяване на разговора.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C842538-09DC-4AA2-973C-F384E5160444}"/>
              </a:ext>
            </a:extLst>
          </p:cNvPr>
          <p:cNvSpPr>
            <a:spLocks noGrp="1"/>
          </p:cNvSpPr>
          <p:nvPr/>
        </p:nvSpPr>
        <p:spPr>
          <a:xfrm>
            <a:off x="7753350" y="3543300"/>
            <a:ext cx="3619500" cy="1009650"/>
          </a:xfrm>
          <a:prstGeom prst="roundRect">
            <a:avLst>
              <a:gd name="adj" fmla="val 7547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62A8A8-E1D8-479C-9625-527035ADA7DD}"/>
              </a:ext>
            </a:extLst>
          </p:cNvPr>
          <p:cNvSpPr>
            <a:spLocks noGrp="1"/>
          </p:cNvSpPr>
          <p:nvPr/>
        </p:nvSpPr>
        <p:spPr>
          <a:xfrm>
            <a:off x="7924800" y="3657600"/>
            <a:ext cx="32766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WriteLineAsync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C129FD-D396-4243-A34A-81947A58E54B}"/>
              </a:ext>
            </a:extLst>
          </p:cNvPr>
          <p:cNvSpPr>
            <a:spLocks noGrp="1"/>
          </p:cNvSpPr>
          <p:nvPr/>
        </p:nvSpPr>
        <p:spPr>
          <a:xfrm>
            <a:off x="7924800" y="4019550"/>
            <a:ext cx="32766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Изпраща отговора към клиента.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BBB359-76B3-41C4-979E-DDD79D56CCE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В тази версия клиентът пише първи, а сървърът отговаря.</a:t>
            </a:r>
          </a:p>
        </p:txBody>
      </p:sp>
    </p:spTree>
    <p:extLst>
      <p:ext uri="{BB962C8B-B14F-4D97-AF65-F5344CB8AC3E}">
        <p14:creationId xmlns:p14="http://schemas.microsoft.com/office/powerpoint/2010/main" val="508887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139AFEB-8AA5-4223-AA74-4D7F4FDC57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2176C2-4FAC-466D-B9EC-D1AAA90D007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Стартираме сървъра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3FD84-AD13-46D3-AE54-72C36E23489D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D0AEE9-5081-4F6C-9E01-2096DAC07820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60DC9B-2648-4B13-8C3A-7FEEE1C93A9C}"/>
              </a:ext>
            </a:extLst>
          </p:cNvPr>
          <p:cNvSpPr>
            <a:spLocks noGrp="1"/>
          </p:cNvSpPr>
          <p:nvPr/>
        </p:nvSpPr>
        <p:spPr>
          <a:xfrm>
            <a:off x="1562100" y="1276350"/>
            <a:ext cx="9067800" cy="895350"/>
          </a:xfrm>
          <a:prstGeom prst="roundRect">
            <a:avLst>
              <a:gd name="adj" fmla="val 851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F96F1-E1E5-479A-9385-24A0B791E08A}"/>
              </a:ext>
            </a:extLst>
          </p:cNvPr>
          <p:cNvSpPr>
            <a:spLocks noGrp="1"/>
          </p:cNvSpPr>
          <p:nvPr/>
        </p:nvSpPr>
        <p:spPr>
          <a:xfrm>
            <a:off x="1733550" y="13716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568DE0-60F6-49BD-BBD2-8C36F9073691}"/>
              </a:ext>
            </a:extLst>
          </p:cNvPr>
          <p:cNvSpPr>
            <a:spLocks noGrp="1"/>
          </p:cNvSpPr>
          <p:nvPr/>
        </p:nvSpPr>
        <p:spPr>
          <a:xfrm>
            <a:off x="1752600" y="1638300"/>
            <a:ext cx="86868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 --project ChatServer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93E9F8-1A3C-48A3-9DDE-1EF8919132BA}"/>
              </a:ext>
            </a:extLst>
          </p:cNvPr>
          <p:cNvSpPr>
            <a:spLocks noGrp="1"/>
          </p:cNvSpPr>
          <p:nvPr/>
        </p:nvSpPr>
        <p:spPr>
          <a:xfrm>
            <a:off x="1562100" y="2609850"/>
            <a:ext cx="9067800" cy="1485900"/>
          </a:xfrm>
          <a:prstGeom prst="roundRect">
            <a:avLst>
              <a:gd name="adj" fmla="val 5128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E540D1-B52A-4D7C-87DA-01CE4729956A}"/>
              </a:ext>
            </a:extLst>
          </p:cNvPr>
          <p:cNvSpPr>
            <a:spLocks noGrp="1"/>
          </p:cNvSpPr>
          <p:nvPr/>
        </p:nvSpPr>
        <p:spPr>
          <a:xfrm>
            <a:off x="1847850" y="2819400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 listening on port 5000...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7C023D-9868-458F-BC45-C673536F5336}"/>
              </a:ext>
            </a:extLst>
          </p:cNvPr>
          <p:cNvSpPr>
            <a:spLocks noGrp="1"/>
          </p:cNvSpPr>
          <p:nvPr/>
        </p:nvSpPr>
        <p:spPr>
          <a:xfrm>
            <a:off x="1847850" y="3333750"/>
            <a:ext cx="8477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Програмата чака в AcceptTcpClientAsync().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FFC3A3-1182-44B8-959A-BC6EDF4D0604}"/>
              </a:ext>
            </a:extLst>
          </p:cNvPr>
          <p:cNvSpPr>
            <a:spLocks noGrp="1"/>
          </p:cNvSpPr>
          <p:nvPr/>
        </p:nvSpPr>
        <p:spPr>
          <a:xfrm>
            <a:off x="1562100" y="4533900"/>
            <a:ext cx="9067800" cy="78105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0144B-2DB6-4D83-AACB-8E17C70BCDAE}"/>
              </a:ext>
            </a:extLst>
          </p:cNvPr>
          <p:cNvSpPr>
            <a:spLocks noGrp="1"/>
          </p:cNvSpPr>
          <p:nvPr/>
        </p:nvSpPr>
        <p:spPr>
          <a:xfrm>
            <a:off x="1733550" y="462915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НОВ POWERSHELL ПРОЗОРЕЦ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9D57-523D-43EB-AEC6-273D1BE11B0F}"/>
              </a:ext>
            </a:extLst>
          </p:cNvPr>
          <p:cNvSpPr>
            <a:spLocks noGrp="1"/>
          </p:cNvSpPr>
          <p:nvPr/>
        </p:nvSpPr>
        <p:spPr>
          <a:xfrm>
            <a:off x="1752600" y="4895850"/>
            <a:ext cx="8686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Test-NetConnection 127.0.0.1 -Port 5000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39ECE-75A4-47CA-A981-A97F6E6063D1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Очакваме TcpTestSucceeded: True</a:t>
            </a:r>
          </a:p>
        </p:txBody>
      </p:sp>
    </p:spTree>
    <p:extLst>
      <p:ext uri="{BB962C8B-B14F-4D97-AF65-F5344CB8AC3E}">
        <p14:creationId xmlns:p14="http://schemas.microsoft.com/office/powerpoint/2010/main" val="2113993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7C4CAF-5173-408A-B3F8-BC3A1B5CE5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B794DB-E09C-4EB1-A327-09B58AC980C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Клиентът се свързва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75EFE-0341-43F7-886F-4577151DE41B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43FC3F-F402-4742-B60C-EADF804B2556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BBF6AB-D6FD-4674-B8E2-29A28888474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858000" cy="3905250"/>
          </a:xfrm>
          <a:prstGeom prst="roundRect">
            <a:avLst>
              <a:gd name="adj" fmla="val 195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C59F93-D67A-41E1-9215-D5E89C48615F}"/>
              </a:ext>
            </a:extLst>
          </p:cNvPr>
          <p:cNvSpPr>
            <a:spLocks noGrp="1"/>
          </p:cNvSpPr>
          <p:nvPr/>
        </p:nvSpPr>
        <p:spPr>
          <a:xfrm>
            <a:off x="781050" y="1162050"/>
            <a:ext cx="6515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ChatClient/Program.cs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6F5EF2-004F-4577-9473-2D9177CB03E9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6477000" cy="3429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System.Net.Sockets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;</a:t>
            </a:r>
          </a:p>
          <a:p>
            <a:endParaRPr sz="16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const string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serverIp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= "127.0.0.1";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const int port = 5000;</a:t>
            </a:r>
          </a:p>
          <a:p>
            <a:endParaRPr sz="16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var client = new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TcpClient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();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await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client.ConnectAsync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serverIp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, port);</a:t>
            </a: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Console.WriteLine("Connected to server.");</a:t>
            </a:r>
          </a:p>
          <a:p>
            <a:endParaRPr sz="16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NetworkStream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stream = </a:t>
            </a:r>
            <a:r>
              <a:rPr sz="1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client.GetStream</a:t>
            </a:r>
            <a:r>
              <a:rPr sz="1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();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6401C2-B69B-4EE4-9AF7-E26140EF88F1}"/>
              </a:ext>
            </a:extLst>
          </p:cNvPr>
          <p:cNvSpPr>
            <a:spLocks noGrp="1"/>
          </p:cNvSpPr>
          <p:nvPr/>
        </p:nvSpPr>
        <p:spPr>
          <a:xfrm>
            <a:off x="7943850" y="1200150"/>
            <a:ext cx="3429000" cy="971550"/>
          </a:xfrm>
          <a:prstGeom prst="roundRect">
            <a:avLst>
              <a:gd name="adj" fmla="val 784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EC8192-8A90-4FC5-BF0E-55C78D4550F5}"/>
              </a:ext>
            </a:extLst>
          </p:cNvPr>
          <p:cNvSpPr>
            <a:spLocks noGrp="1"/>
          </p:cNvSpPr>
          <p:nvPr/>
        </p:nvSpPr>
        <p:spPr>
          <a:xfrm>
            <a:off x="8115300" y="1314450"/>
            <a:ext cx="3086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127.0.0.1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CB135B-A964-42B6-80A0-4AB1A7C20712}"/>
              </a:ext>
            </a:extLst>
          </p:cNvPr>
          <p:cNvSpPr>
            <a:spLocks noGrp="1"/>
          </p:cNvSpPr>
          <p:nvPr/>
        </p:nvSpPr>
        <p:spPr>
          <a:xfrm>
            <a:off x="8115300" y="1676400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183"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Loopback адресът на същия компютър.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90A6768-EE7D-44AB-9A35-D4A55D3700D2}"/>
              </a:ext>
            </a:extLst>
          </p:cNvPr>
          <p:cNvSpPr>
            <a:spLocks noGrp="1"/>
          </p:cNvSpPr>
          <p:nvPr/>
        </p:nvSpPr>
        <p:spPr>
          <a:xfrm>
            <a:off x="7943850" y="2362200"/>
            <a:ext cx="3429000" cy="971550"/>
          </a:xfrm>
          <a:prstGeom prst="roundRect">
            <a:avLst>
              <a:gd name="adj" fmla="val 784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B7EDB-C934-4AFD-BF80-0A5BDD251AA4}"/>
              </a:ext>
            </a:extLst>
          </p:cNvPr>
          <p:cNvSpPr>
            <a:spLocks noGrp="1"/>
          </p:cNvSpPr>
          <p:nvPr/>
        </p:nvSpPr>
        <p:spPr>
          <a:xfrm>
            <a:off x="8115300" y="2476500"/>
            <a:ext cx="3086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5000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75CC1F-7CFD-4935-8054-9D21CA315060}"/>
              </a:ext>
            </a:extLst>
          </p:cNvPr>
          <p:cNvSpPr>
            <a:spLocks noGrp="1"/>
          </p:cNvSpPr>
          <p:nvPr/>
        </p:nvSpPr>
        <p:spPr>
          <a:xfrm>
            <a:off x="8115300" y="2838450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083"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Трябва да съвпада с порта на сървъра.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9B3BBF-ABB5-497B-9656-FDB8B847C58A}"/>
              </a:ext>
            </a:extLst>
          </p:cNvPr>
          <p:cNvSpPr>
            <a:spLocks noGrp="1"/>
          </p:cNvSpPr>
          <p:nvPr/>
        </p:nvSpPr>
        <p:spPr>
          <a:xfrm>
            <a:off x="7943850" y="3524250"/>
            <a:ext cx="3429000" cy="971550"/>
          </a:xfrm>
          <a:prstGeom prst="roundRect">
            <a:avLst>
              <a:gd name="adj" fmla="val 784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AE23BC-5027-4427-95FA-333B587F357D}"/>
              </a:ext>
            </a:extLst>
          </p:cNvPr>
          <p:cNvSpPr>
            <a:spLocks noGrp="1"/>
          </p:cNvSpPr>
          <p:nvPr/>
        </p:nvSpPr>
        <p:spPr>
          <a:xfrm>
            <a:off x="8115300" y="3638550"/>
            <a:ext cx="3086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ConnectAsync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926E1B-FAE1-4C05-A322-5886150CB652}"/>
              </a:ext>
            </a:extLst>
          </p:cNvPr>
          <p:cNvSpPr>
            <a:spLocks noGrp="1"/>
          </p:cNvSpPr>
          <p:nvPr/>
        </p:nvSpPr>
        <p:spPr>
          <a:xfrm>
            <a:off x="8115300" y="4000500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Установява TCP връзка.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5E99F6-1E92-4CB5-A692-11A602267A5B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Грешен IP или затворен порт означава неуспешна връзка.</a:t>
            </a:r>
          </a:p>
        </p:txBody>
      </p:sp>
    </p:spTree>
    <p:extLst>
      <p:ext uri="{BB962C8B-B14F-4D97-AF65-F5344CB8AC3E}">
        <p14:creationId xmlns:p14="http://schemas.microsoft.com/office/powerpoint/2010/main" val="307889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B72FDDD-68DA-4AFB-82B5-CF065666A8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D5518D-C94F-485A-BEA2-4D2016DB7AA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Цикълът на клиента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655CF-2CF2-44A2-8EC1-B8F92687D991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2A2214-9698-41AE-81DB-6FA46D250A06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955B54-A177-452F-BA56-D6B7AD3D5B80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6858000" cy="4819650"/>
          </a:xfrm>
          <a:prstGeom prst="roundRect">
            <a:avLst>
              <a:gd name="adj" fmla="val 158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45490-617D-4662-BD64-57A222C4C4DD}"/>
              </a:ext>
            </a:extLst>
          </p:cNvPr>
          <p:cNvSpPr>
            <a:spLocks noGrp="1"/>
          </p:cNvSpPr>
          <p:nvPr/>
        </p:nvSpPr>
        <p:spPr>
          <a:xfrm>
            <a:off x="781050" y="1009650"/>
            <a:ext cx="65151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ChatClient/Program.cs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7C7346-B6D5-48CB-968D-04E8FA298D0E}"/>
              </a:ext>
            </a:extLst>
          </p:cNvPr>
          <p:cNvSpPr>
            <a:spLocks noGrp="1"/>
          </p:cNvSpPr>
          <p:nvPr/>
        </p:nvSpPr>
        <p:spPr>
          <a:xfrm>
            <a:off x="800100" y="1276350"/>
            <a:ext cx="6477000" cy="434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var reader = new </a:t>
            </a:r>
            <a:r>
              <a:rPr sz="12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StreamReader</a:t>
            </a: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(stream);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var writer = new </a:t>
            </a:r>
            <a:r>
              <a:rPr sz="12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StreamWriter</a:t>
            </a: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(stream) { </a:t>
            </a:r>
            <a:r>
              <a:rPr sz="12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AutoFlush</a:t>
            </a: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= true };</a:t>
            </a:r>
          </a:p>
          <a:p>
            <a:endParaRPr sz="12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 (true)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</a:t>
            </a:r>
            <a:r>
              <a:rPr sz="12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</a:t>
            </a: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("Client: " );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string message = </a:t>
            </a:r>
            <a:r>
              <a:rPr sz="12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Console.ReadLine</a:t>
            </a: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() ?? </a:t>
            </a:r>
            <a:r>
              <a:rPr sz="12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string.Empty</a:t>
            </a: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;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await </a:t>
            </a:r>
            <a:r>
              <a:rPr sz="12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writer.WriteLineAsync</a:t>
            </a: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(message);</a:t>
            </a:r>
          </a:p>
          <a:p>
            <a:endParaRPr sz="12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(message == "/exit")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break;</a:t>
            </a:r>
          </a:p>
          <a:p>
            <a:endParaRPr sz="12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string? reply = await </a:t>
            </a:r>
            <a:r>
              <a:rPr sz="12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reader.ReadLineAsync</a:t>
            </a: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();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(reply is null) break;</a:t>
            </a:r>
          </a:p>
          <a:p>
            <a:endParaRPr sz="12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Console.WriteLine($"Server: {reply}");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383A08-1852-4034-A68B-3EB5B6AE0A5F}"/>
              </a:ext>
            </a:extLst>
          </p:cNvPr>
          <p:cNvSpPr>
            <a:spLocks noGrp="1"/>
          </p:cNvSpPr>
          <p:nvPr/>
        </p:nvSpPr>
        <p:spPr>
          <a:xfrm>
            <a:off x="7943850" y="1181100"/>
            <a:ext cx="3429000" cy="1066800"/>
          </a:xfrm>
          <a:prstGeom prst="roundRect">
            <a:avLst>
              <a:gd name="adj" fmla="val 7143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96C00D-EFF9-4499-AFFE-CC85447DAC64}"/>
              </a:ext>
            </a:extLst>
          </p:cNvPr>
          <p:cNvSpPr>
            <a:spLocks noGrp="1"/>
          </p:cNvSpPr>
          <p:nvPr/>
        </p:nvSpPr>
        <p:spPr>
          <a:xfrm>
            <a:off x="8115300" y="1295400"/>
            <a:ext cx="3086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1. SEND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1E202-28E3-4BD2-8265-838B915562C6}"/>
              </a:ext>
            </a:extLst>
          </p:cNvPr>
          <p:cNvSpPr>
            <a:spLocks noGrp="1"/>
          </p:cNvSpPr>
          <p:nvPr/>
        </p:nvSpPr>
        <p:spPr>
          <a:xfrm>
            <a:off x="8115300" y="1657350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изпраща един ред.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F07E61-14E6-49B0-93DC-33C5D854F83D}"/>
              </a:ext>
            </a:extLst>
          </p:cNvPr>
          <p:cNvSpPr>
            <a:spLocks noGrp="1"/>
          </p:cNvSpPr>
          <p:nvPr/>
        </p:nvSpPr>
        <p:spPr>
          <a:xfrm>
            <a:off x="7943850" y="2457450"/>
            <a:ext cx="3429000" cy="1066800"/>
          </a:xfrm>
          <a:prstGeom prst="roundRect">
            <a:avLst>
              <a:gd name="adj" fmla="val 714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9CC6C2-25FF-49BB-99E9-D6CFA95924EA}"/>
              </a:ext>
            </a:extLst>
          </p:cNvPr>
          <p:cNvSpPr>
            <a:spLocks noGrp="1"/>
          </p:cNvSpPr>
          <p:nvPr/>
        </p:nvSpPr>
        <p:spPr>
          <a:xfrm>
            <a:off x="8115300" y="2571750"/>
            <a:ext cx="3086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2. WAIT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9A9F0D-07E1-41CC-A3B7-D05B8099A53A}"/>
              </a:ext>
            </a:extLst>
          </p:cNvPr>
          <p:cNvSpPr>
            <a:spLocks noGrp="1"/>
          </p:cNvSpPr>
          <p:nvPr/>
        </p:nvSpPr>
        <p:spPr>
          <a:xfrm>
            <a:off x="8115300" y="2933700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чака отговор.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D769C5-FBBC-498B-87B5-DE548900C549}"/>
              </a:ext>
            </a:extLst>
          </p:cNvPr>
          <p:cNvSpPr>
            <a:spLocks noGrp="1"/>
          </p:cNvSpPr>
          <p:nvPr/>
        </p:nvSpPr>
        <p:spPr>
          <a:xfrm>
            <a:off x="7943850" y="3733800"/>
            <a:ext cx="3429000" cy="1066800"/>
          </a:xfrm>
          <a:prstGeom prst="roundRect">
            <a:avLst>
              <a:gd name="adj" fmla="val 7143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7203F2-D8D6-41B2-9FC2-7B2A1B5FDDA4}"/>
              </a:ext>
            </a:extLst>
          </p:cNvPr>
          <p:cNvSpPr>
            <a:spLocks noGrp="1"/>
          </p:cNvSpPr>
          <p:nvPr/>
        </p:nvSpPr>
        <p:spPr>
          <a:xfrm>
            <a:off x="8115300" y="3848100"/>
            <a:ext cx="3086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3. SHOW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68EE5F-A15D-4D89-BDB6-07E95D2601F3}"/>
              </a:ext>
            </a:extLst>
          </p:cNvPr>
          <p:cNvSpPr>
            <a:spLocks noGrp="1"/>
          </p:cNvSpPr>
          <p:nvPr/>
        </p:nvSpPr>
        <p:spPr>
          <a:xfrm>
            <a:off x="8115300" y="4210050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Полученият ред се отпечатва.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55AC98-5AC0-4FF4-94A7-89A2820BE07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Редът на send/read трябва да допълва read/send в сървъра.</a:t>
            </a:r>
          </a:p>
        </p:txBody>
      </p:sp>
    </p:spTree>
    <p:extLst>
      <p:ext uri="{BB962C8B-B14F-4D97-AF65-F5344CB8AC3E}">
        <p14:creationId xmlns:p14="http://schemas.microsoft.com/office/powerpoint/2010/main" val="1938145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5F480CA-2D34-4702-B490-E6202E50C8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0E2BEB-0E17-4ADE-9F80-81B87AF398F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Първи разговор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60DD38-FC07-4F40-9A49-C28A90AEA2FD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282F4-F320-4340-8C49-21E18EDE2B7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5250DE-28EF-47ED-A8CB-E350AEA2F3C6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5143500" cy="78105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CF60F5-55A2-4148-8189-DC2BAE81577E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4800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B18B93-C6A7-4969-8282-1625B5ED401D}"/>
              </a:ext>
            </a:extLst>
          </p:cNvPr>
          <p:cNvSpPr>
            <a:spLocks noGrp="1"/>
          </p:cNvSpPr>
          <p:nvPr/>
        </p:nvSpPr>
        <p:spPr>
          <a:xfrm>
            <a:off x="800100" y="15811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 --project ChatServer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8CA1D5-9097-4D3D-A033-545E6267B599}"/>
              </a:ext>
            </a:extLst>
          </p:cNvPr>
          <p:cNvSpPr>
            <a:spLocks noGrp="1"/>
          </p:cNvSpPr>
          <p:nvPr/>
        </p:nvSpPr>
        <p:spPr>
          <a:xfrm>
            <a:off x="6438900" y="1219200"/>
            <a:ext cx="5143500" cy="78105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E09D2D-BC07-4F70-BE6C-11C6F7D11A91}"/>
              </a:ext>
            </a:extLst>
          </p:cNvPr>
          <p:cNvSpPr>
            <a:spLocks noGrp="1"/>
          </p:cNvSpPr>
          <p:nvPr/>
        </p:nvSpPr>
        <p:spPr>
          <a:xfrm>
            <a:off x="6610350" y="1314450"/>
            <a:ext cx="48006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CDD44D-BE91-4E96-817A-2D76BD75D9C1}"/>
              </a:ext>
            </a:extLst>
          </p:cNvPr>
          <p:cNvSpPr>
            <a:spLocks noGrp="1"/>
          </p:cNvSpPr>
          <p:nvPr/>
        </p:nvSpPr>
        <p:spPr>
          <a:xfrm>
            <a:off x="6629400" y="15811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 --project ChatClient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0F5AB4-9E4D-4267-BE43-65416BAF4D10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5143500" cy="2152650"/>
          </a:xfrm>
          <a:prstGeom prst="roundRect">
            <a:avLst>
              <a:gd name="adj" fmla="val 3540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5A87FC-A76B-4599-9B4F-9E9BB34A673E}"/>
              </a:ext>
            </a:extLst>
          </p:cNvPr>
          <p:cNvSpPr>
            <a:spLocks noGrp="1"/>
          </p:cNvSpPr>
          <p:nvPr/>
        </p:nvSpPr>
        <p:spPr>
          <a:xfrm>
            <a:off x="895350" y="2705100"/>
            <a:ext cx="4572000" cy="1657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 listening...</a:t>
            </a:r>
          </a:p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 connected.</a:t>
            </a:r>
          </a:p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Client: Здравей!</a:t>
            </a:r>
          </a:p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Server: Здравей, клиент!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C893DE-6416-407B-BF40-2BBE5EC6A10D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5143500" cy="2152650"/>
          </a:xfrm>
          <a:prstGeom prst="roundRect">
            <a:avLst>
              <a:gd name="adj" fmla="val 3540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6B4C27-50FC-4A49-93B8-77F9E9E6549A}"/>
              </a:ext>
            </a:extLst>
          </p:cNvPr>
          <p:cNvSpPr>
            <a:spLocks noGrp="1"/>
          </p:cNvSpPr>
          <p:nvPr/>
        </p:nvSpPr>
        <p:spPr>
          <a:xfrm>
            <a:off x="6724650" y="2705100"/>
            <a:ext cx="4572000" cy="1657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Connected to server.</a:t>
            </a:r>
          </a:p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Client: Здравей!</a:t>
            </a:r>
          </a:p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Server: Здравей, клиент!</a:t>
            </a:r>
          </a:p>
          <a:p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Client: /exit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B97F02-80BE-4E57-9F59-6175AE5DF67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Винаги стартираме сървъра преди клиента.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F7A708-F6A2-4A56-AB66-3A4DEB0AD099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Проверете кой текст се въвежда и кой пристига по мрежата.</a:t>
            </a:r>
          </a:p>
        </p:txBody>
      </p:sp>
    </p:spTree>
    <p:extLst>
      <p:ext uri="{BB962C8B-B14F-4D97-AF65-F5344CB8AC3E}">
        <p14:creationId xmlns:p14="http://schemas.microsoft.com/office/powerpoint/2010/main" val="98809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1FF370-BE47-42C3-AA4A-272B4DC8DF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6B755-3B3C-40D1-9353-8CD12CE1F95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Проверка след първия час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4A9AAC-8828-47E1-8FD3-3D7A809E279A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КРАЙ НА ЧАС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2A745C-7641-466A-ADDD-22077A223EDC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C05841-2BB3-44AE-A8EB-021F19D1ED89}"/>
              </a:ext>
            </a:extLst>
          </p:cNvPr>
          <p:cNvSpPr>
            <a:spLocks noGrp="1"/>
          </p:cNvSpPr>
          <p:nvPr/>
        </p:nvSpPr>
        <p:spPr>
          <a:xfrm>
            <a:off x="990600" y="1104900"/>
            <a:ext cx="10210800" cy="781050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1E4D7-F210-4EA1-94F9-34BDFD2B5996}"/>
              </a:ext>
            </a:extLst>
          </p:cNvPr>
          <p:cNvSpPr>
            <a:spLocks noGrp="1"/>
          </p:cNvSpPr>
          <p:nvPr/>
        </p:nvSpPr>
        <p:spPr>
          <a:xfrm>
            <a:off x="1238250" y="1238250"/>
            <a:ext cx="5619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Кой отваря порта?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E393BF-0501-4C05-A5DA-F56A8A9891DB}"/>
              </a:ext>
            </a:extLst>
          </p:cNvPr>
          <p:cNvSpPr>
            <a:spLocks noGrp="1"/>
          </p:cNvSpPr>
          <p:nvPr/>
        </p:nvSpPr>
        <p:spPr>
          <a:xfrm>
            <a:off x="7239000" y="130492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E15DB8-AA27-4FB2-AB6C-2CED95DED085}"/>
              </a:ext>
            </a:extLst>
          </p:cNvPr>
          <p:cNvSpPr>
            <a:spLocks noGrp="1"/>
          </p:cNvSpPr>
          <p:nvPr/>
        </p:nvSpPr>
        <p:spPr>
          <a:xfrm>
            <a:off x="7239000" y="13239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TcpListener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05DE31-EA5A-49FC-9856-55C742A3110D}"/>
              </a:ext>
            </a:extLst>
          </p:cNvPr>
          <p:cNvSpPr>
            <a:spLocks noGrp="1"/>
          </p:cNvSpPr>
          <p:nvPr/>
        </p:nvSpPr>
        <p:spPr>
          <a:xfrm>
            <a:off x="990600" y="2133600"/>
            <a:ext cx="10210800" cy="781050"/>
          </a:xfrm>
          <a:prstGeom prst="roundRect">
            <a:avLst>
              <a:gd name="adj" fmla="val 975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03864F-436C-4A48-8E2D-4CE4C489401F}"/>
              </a:ext>
            </a:extLst>
          </p:cNvPr>
          <p:cNvSpPr>
            <a:spLocks noGrp="1"/>
          </p:cNvSpPr>
          <p:nvPr/>
        </p:nvSpPr>
        <p:spPr>
          <a:xfrm>
            <a:off x="1238250" y="2266950"/>
            <a:ext cx="5619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Кой започва връзката?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0A2800-DBC2-4FC5-B24E-13B89B3010D3}"/>
              </a:ext>
            </a:extLst>
          </p:cNvPr>
          <p:cNvSpPr>
            <a:spLocks noGrp="1"/>
          </p:cNvSpPr>
          <p:nvPr/>
        </p:nvSpPr>
        <p:spPr>
          <a:xfrm>
            <a:off x="7239000" y="233362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350A60-33BB-41F6-AB79-2DE8361070A7}"/>
              </a:ext>
            </a:extLst>
          </p:cNvPr>
          <p:cNvSpPr>
            <a:spLocks noGrp="1"/>
          </p:cNvSpPr>
          <p:nvPr/>
        </p:nvSpPr>
        <p:spPr>
          <a:xfrm>
            <a:off x="7239000" y="23526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TcpClient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B32229-162B-4F09-A831-79E11F7D180E}"/>
              </a:ext>
            </a:extLst>
          </p:cNvPr>
          <p:cNvSpPr>
            <a:spLocks noGrp="1"/>
          </p:cNvSpPr>
          <p:nvPr/>
        </p:nvSpPr>
        <p:spPr>
          <a:xfrm>
            <a:off x="990600" y="3162300"/>
            <a:ext cx="10210800" cy="781050"/>
          </a:xfrm>
          <a:prstGeom prst="roundRect">
            <a:avLst>
              <a:gd name="adj" fmla="val 9756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B9CE46-1366-4580-B15B-AB9BC7B44A50}"/>
              </a:ext>
            </a:extLst>
          </p:cNvPr>
          <p:cNvSpPr>
            <a:spLocks noGrp="1"/>
          </p:cNvSpPr>
          <p:nvPr/>
        </p:nvSpPr>
        <p:spPr>
          <a:xfrm>
            <a:off x="1238250" y="3295650"/>
            <a:ext cx="5619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 се отделят съобщенията?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167102-8EC4-4DA5-AE64-F30F841F4E4E}"/>
              </a:ext>
            </a:extLst>
          </p:cNvPr>
          <p:cNvSpPr>
            <a:spLocks noGrp="1"/>
          </p:cNvSpPr>
          <p:nvPr/>
        </p:nvSpPr>
        <p:spPr>
          <a:xfrm>
            <a:off x="7239000" y="336232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31CE5D-5AA6-4472-997F-E17A9BB64A93}"/>
              </a:ext>
            </a:extLst>
          </p:cNvPr>
          <p:cNvSpPr>
            <a:spLocks noGrp="1"/>
          </p:cNvSpPr>
          <p:nvPr/>
        </p:nvSpPr>
        <p:spPr>
          <a:xfrm>
            <a:off x="7239000" y="33813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Един ред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5E12BB9-F21E-40D1-881D-6291382B84BC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10210800" cy="781050"/>
          </a:xfrm>
          <a:prstGeom prst="roundRect">
            <a:avLst>
              <a:gd name="adj" fmla="val 975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4F66BF-AC8F-4B6B-A2A4-5000DDBD2B3C}"/>
              </a:ext>
            </a:extLst>
          </p:cNvPr>
          <p:cNvSpPr>
            <a:spLocks noGrp="1"/>
          </p:cNvSpPr>
          <p:nvPr/>
        </p:nvSpPr>
        <p:spPr>
          <a:xfrm>
            <a:off x="1238250" y="4324350"/>
            <a:ext cx="5619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Защо AutoFlush = true?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82FFE8-44B6-43CA-AB8E-6564A58F9B3B}"/>
              </a:ext>
            </a:extLst>
          </p:cNvPr>
          <p:cNvSpPr>
            <a:spLocks noGrp="1"/>
          </p:cNvSpPr>
          <p:nvPr/>
        </p:nvSpPr>
        <p:spPr>
          <a:xfrm>
            <a:off x="7239000" y="4391025"/>
            <a:ext cx="361950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DA2068-8CFB-415C-B0E7-B1E8C7E964A3}"/>
              </a:ext>
            </a:extLst>
          </p:cNvPr>
          <p:cNvSpPr>
            <a:spLocks noGrp="1"/>
          </p:cNvSpPr>
          <p:nvPr/>
        </p:nvSpPr>
        <p:spPr>
          <a:xfrm>
            <a:off x="7239000" y="44100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Незабавно изпращане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629210-40CD-4022-BEF2-B52ADCD0280D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След почивката: тест между два компютъра, диагностика и практическа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238409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6659499-B5B5-4D6B-A970-0E31EE5867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B7984C-8D09-4054-BC24-A570AA0BD2C0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Час 2: връзка през локалната мрежа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062434-124F-4091-8C36-85955B0E026A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ЧАС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813A47-111F-4300-B6FC-1A779A3ADB1A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82256C4-2D71-4DCB-9FF7-B9BE53EF9E70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3543300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7BC59-63C9-4618-8BD8-806D6B931B98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PC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1370D4-1F35-4BC4-B662-4AC5160C8B1D}"/>
              </a:ext>
            </a:extLst>
          </p:cNvPr>
          <p:cNvSpPr>
            <a:spLocks noGrp="1"/>
          </p:cNvSpPr>
          <p:nvPr/>
        </p:nvSpPr>
        <p:spPr>
          <a:xfrm>
            <a:off x="704850" y="22479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ChatServer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3755DE-F8AC-4A25-9FD5-AC96DB993EC0}"/>
              </a:ext>
            </a:extLst>
          </p:cNvPr>
          <p:cNvSpPr>
            <a:spLocks noGrp="1"/>
          </p:cNvSpPr>
          <p:nvPr/>
        </p:nvSpPr>
        <p:spPr>
          <a:xfrm>
            <a:off x="4152900" y="205740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BD6F3B-7011-414A-8BA4-C42B36C77DBE}"/>
              </a:ext>
            </a:extLst>
          </p:cNvPr>
          <p:cNvSpPr>
            <a:spLocks noGrp="1"/>
          </p:cNvSpPr>
          <p:nvPr/>
        </p:nvSpPr>
        <p:spPr>
          <a:xfrm>
            <a:off x="4324350" y="1847850"/>
            <a:ext cx="3543300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312E6E-9558-4EE9-B135-D19C326C7F8F}"/>
              </a:ext>
            </a:extLst>
          </p:cNvPr>
          <p:cNvSpPr>
            <a:spLocks noGrp="1"/>
          </p:cNvSpPr>
          <p:nvPr/>
        </p:nvSpPr>
        <p:spPr>
          <a:xfrm>
            <a:off x="4419600" y="19431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B41154-D16E-40F9-9B3F-C8B8678F4F71}"/>
              </a:ext>
            </a:extLst>
          </p:cNvPr>
          <p:cNvSpPr>
            <a:spLocks noGrp="1"/>
          </p:cNvSpPr>
          <p:nvPr/>
        </p:nvSpPr>
        <p:spPr>
          <a:xfrm>
            <a:off x="4419600" y="22479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TCP :5000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A1676F-7416-4CBF-916F-FBAE84DBEED6}"/>
              </a:ext>
            </a:extLst>
          </p:cNvPr>
          <p:cNvSpPr>
            <a:spLocks noGrp="1"/>
          </p:cNvSpPr>
          <p:nvPr/>
        </p:nvSpPr>
        <p:spPr>
          <a:xfrm>
            <a:off x="7867650" y="205740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2223B1-0EB4-46EC-BA53-A477321DAF75}"/>
              </a:ext>
            </a:extLst>
          </p:cNvPr>
          <p:cNvSpPr>
            <a:spLocks noGrp="1"/>
          </p:cNvSpPr>
          <p:nvPr/>
        </p:nvSpPr>
        <p:spPr>
          <a:xfrm>
            <a:off x="8039100" y="1847850"/>
            <a:ext cx="3543300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44F085-5D41-4998-98B1-E0218255AE41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335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PC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467091-73F4-46F6-A4A6-8C1C065A5667}"/>
              </a:ext>
            </a:extLst>
          </p:cNvPr>
          <p:cNvSpPr>
            <a:spLocks noGrp="1"/>
          </p:cNvSpPr>
          <p:nvPr/>
        </p:nvSpPr>
        <p:spPr>
          <a:xfrm>
            <a:off x="8134350" y="22479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ChatClient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CCF883-1BD9-45E9-BDFF-DD4DFEF69BF2}"/>
              </a:ext>
            </a:extLst>
          </p:cNvPr>
          <p:cNvSpPr>
            <a:spLocks noGrp="1"/>
          </p:cNvSpPr>
          <p:nvPr/>
        </p:nvSpPr>
        <p:spPr>
          <a:xfrm>
            <a:off x="1562100" y="3219450"/>
            <a:ext cx="4095750" cy="78105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65ADC4-A78A-4725-8ECA-CE969DD1CCEF}"/>
              </a:ext>
            </a:extLst>
          </p:cNvPr>
          <p:cNvSpPr>
            <a:spLocks noGrp="1"/>
          </p:cNvSpPr>
          <p:nvPr/>
        </p:nvSpPr>
        <p:spPr>
          <a:xfrm>
            <a:off x="1733550" y="3314700"/>
            <a:ext cx="3752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НА СЪРВЪРА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68CBDF-ADDB-4C12-B157-417E632E81C7}"/>
              </a:ext>
            </a:extLst>
          </p:cNvPr>
          <p:cNvSpPr>
            <a:spLocks noGrp="1"/>
          </p:cNvSpPr>
          <p:nvPr/>
        </p:nvSpPr>
        <p:spPr>
          <a:xfrm>
            <a:off x="1752600" y="358140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ipconfig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815B559-23E2-4EF4-B364-F6019032B2BD}"/>
              </a:ext>
            </a:extLst>
          </p:cNvPr>
          <p:cNvSpPr>
            <a:spLocks noGrp="1"/>
          </p:cNvSpPr>
          <p:nvPr/>
        </p:nvSpPr>
        <p:spPr>
          <a:xfrm>
            <a:off x="5943600" y="3219450"/>
            <a:ext cx="4686300" cy="78105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DBF850-A561-4FFB-B7FD-2C06234271F3}"/>
              </a:ext>
            </a:extLst>
          </p:cNvPr>
          <p:cNvSpPr>
            <a:spLocks noGrp="1"/>
          </p:cNvSpPr>
          <p:nvPr/>
        </p:nvSpPr>
        <p:spPr>
          <a:xfrm>
            <a:off x="6115050" y="3314700"/>
            <a:ext cx="43434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 КЛИЕНТА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632A29-34EB-4226-BDF8-028646448DDB}"/>
              </a:ext>
            </a:extLst>
          </p:cNvPr>
          <p:cNvSpPr>
            <a:spLocks noGrp="1"/>
          </p:cNvSpPr>
          <p:nvPr/>
        </p:nvSpPr>
        <p:spPr>
          <a:xfrm>
            <a:off x="6134100" y="3581400"/>
            <a:ext cx="43053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const string serverIp = "192.168.1.25";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D8A320-E7B4-420F-B44F-D39D7D891F6D}"/>
              </a:ext>
            </a:extLst>
          </p:cNvPr>
          <p:cNvSpPr>
            <a:spLocks noGrp="1"/>
          </p:cNvSpPr>
          <p:nvPr/>
        </p:nvSpPr>
        <p:spPr>
          <a:xfrm>
            <a:off x="1562100" y="4495800"/>
            <a:ext cx="9067800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9488D7-9A06-447C-A1C3-00CD0C09A8DD}"/>
              </a:ext>
            </a:extLst>
          </p:cNvPr>
          <p:cNvSpPr>
            <a:spLocks noGrp="1"/>
          </p:cNvSpPr>
          <p:nvPr/>
        </p:nvSpPr>
        <p:spPr>
          <a:xfrm>
            <a:off x="1809750" y="4667250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Заменете примерния адрес с IPv4 адреса на компютъра, който изпълнява ChatServer.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03555E-2F22-4CF4-B65E-F56955D25666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Двата компютъра трябва да са в една мрежа и портът да не е блокиран.</a:t>
            </a:r>
          </a:p>
        </p:txBody>
      </p:sp>
    </p:spTree>
    <p:extLst>
      <p:ext uri="{BB962C8B-B14F-4D97-AF65-F5344CB8AC3E}">
        <p14:creationId xmlns:p14="http://schemas.microsoft.com/office/powerpoint/2010/main" val="42526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01F7854-631E-4EFF-980C-A3BC07E8D1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719FBB-2FB2-42C6-AE6E-EE32171EF50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Проверяваме достъпността на сървъра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D35A69-E3B8-460B-AB7E-6EADF650FB2B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8CCC46-DC2B-443A-A4D7-FF69BEB852B9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A336C6-DBA2-4F95-9210-AC2893D62796}"/>
              </a:ext>
            </a:extLst>
          </p:cNvPr>
          <p:cNvSpPr>
            <a:spLocks noGrp="1"/>
          </p:cNvSpPr>
          <p:nvPr/>
        </p:nvSpPr>
        <p:spPr>
          <a:xfrm>
            <a:off x="1562100" y="1200150"/>
            <a:ext cx="9067800" cy="1600200"/>
          </a:xfrm>
          <a:prstGeom prst="roundRect">
            <a:avLst>
              <a:gd name="adj" fmla="val 4762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4387D8-B7B7-43E3-A410-448E176B4497}"/>
              </a:ext>
            </a:extLst>
          </p:cNvPr>
          <p:cNvSpPr>
            <a:spLocks noGrp="1"/>
          </p:cNvSpPr>
          <p:nvPr/>
        </p:nvSpPr>
        <p:spPr>
          <a:xfrm>
            <a:off x="1733550" y="12954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POWERSHELL НА КЛИЕНТА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D1657-260B-484F-B71D-269DB6262E5A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8686800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ping 192.168.1.25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Test-NetConnection 192.168.1.25 -Port 5000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96D1D6-8D46-4656-9599-AC56617DCEEF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3F2701-A112-40D2-A420-FC3A0450349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Ping работи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C3E5DA-6603-4F3C-A5FE-40BE134ACDA4}"/>
              </a:ext>
            </a:extLst>
          </p:cNvPr>
          <p:cNvSpPr>
            <a:spLocks noGrp="1"/>
          </p:cNvSpPr>
          <p:nvPr/>
        </p:nvSpPr>
        <p:spPr>
          <a:xfrm>
            <a:off x="781050" y="3867150"/>
            <a:ext cx="29908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Има IP свързаност до машината.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FB3001-8072-4FC8-A84D-9AA5979E221B}"/>
              </a:ext>
            </a:extLst>
          </p:cNvPr>
          <p:cNvSpPr>
            <a:spLocks noGrp="1"/>
          </p:cNvSpPr>
          <p:nvPr/>
        </p:nvSpPr>
        <p:spPr>
          <a:xfrm>
            <a:off x="4419600" y="339090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997B42-3619-4887-B0DE-EA66BF9AD38F}"/>
              </a:ext>
            </a:extLst>
          </p:cNvPr>
          <p:cNvSpPr>
            <a:spLocks noGrp="1"/>
          </p:cNvSpPr>
          <p:nvPr/>
        </p:nvSpPr>
        <p:spPr>
          <a:xfrm>
            <a:off x="4591050" y="35052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Портът не работи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6EE175-1461-41DC-BACB-A629C25E6B26}"/>
              </a:ext>
            </a:extLst>
          </p:cNvPr>
          <p:cNvSpPr>
            <a:spLocks noGrp="1"/>
          </p:cNvSpPr>
          <p:nvPr/>
        </p:nvSpPr>
        <p:spPr>
          <a:xfrm>
            <a:off x="4591050" y="3867150"/>
            <a:ext cx="29908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Server не слуша, адресът/портът е грешен или firewall блокира.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3A959A-BF9A-4306-B438-0F50970ED614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3333750" cy="142875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E733A8-4A9E-4730-AF0D-98193E75E4A2}"/>
              </a:ext>
            </a:extLst>
          </p:cNvPr>
          <p:cNvSpPr>
            <a:spLocks noGrp="1"/>
          </p:cNvSpPr>
          <p:nvPr/>
        </p:nvSpPr>
        <p:spPr>
          <a:xfrm>
            <a:off x="8401050" y="35052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 двете работят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A66CB-6517-4A10-8231-E5E25BC66F0E}"/>
              </a:ext>
            </a:extLst>
          </p:cNvPr>
          <p:cNvSpPr>
            <a:spLocks noGrp="1"/>
          </p:cNvSpPr>
          <p:nvPr/>
        </p:nvSpPr>
        <p:spPr>
          <a:xfrm>
            <a:off x="8401050" y="3867150"/>
            <a:ext cx="2990850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Стартирайте ChatClient с IP адреса на сървъра.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7AA2FB-CE6E-4E98-8212-E16981121F72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Ping и TCP port проверяват различни неща.</a:t>
            </a:r>
          </a:p>
        </p:txBody>
      </p:sp>
    </p:spTree>
    <p:extLst>
      <p:ext uri="{BB962C8B-B14F-4D97-AF65-F5344CB8AC3E}">
        <p14:creationId xmlns:p14="http://schemas.microsoft.com/office/powerpoint/2010/main" val="1577072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CB87ABD-50DE-4E13-A155-D8CF553D59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39F71E-F9A4-4602-897E-7DCA8DF8AC3E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Какво преминава през мрежата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AE7921-6BF0-4C6D-821B-5895CE09314A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76DB47-0960-4957-B888-30B6FE00CF14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3D9B80-D5D8-4C79-BB0D-9A7AEE817EEE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C3D31F-D7D7-4FEF-977F-3DC1029045B9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string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1B63D4-E638-4664-BE6B-EBC02CB95B91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Здравей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743504-3E28-4F5E-A179-06D180CB0572}"/>
              </a:ext>
            </a:extLst>
          </p:cNvPr>
          <p:cNvSpPr>
            <a:spLocks noGrp="1"/>
          </p:cNvSpPr>
          <p:nvPr/>
        </p:nvSpPr>
        <p:spPr>
          <a:xfrm>
            <a:off x="3224213" y="215265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73EDE8-69FF-407E-8B79-91309AE7FDCF}"/>
              </a:ext>
            </a:extLst>
          </p:cNvPr>
          <p:cNvSpPr>
            <a:spLocks noGrp="1"/>
          </p:cNvSpPr>
          <p:nvPr/>
        </p:nvSpPr>
        <p:spPr>
          <a:xfrm>
            <a:off x="3395663" y="194310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1B13DF-3628-454B-B7C0-D9733D221E97}"/>
              </a:ext>
            </a:extLst>
          </p:cNvPr>
          <p:cNvSpPr>
            <a:spLocks noGrp="1"/>
          </p:cNvSpPr>
          <p:nvPr/>
        </p:nvSpPr>
        <p:spPr>
          <a:xfrm>
            <a:off x="3490913" y="203835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encoding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5B4665-C11C-4A0F-997B-4A53044BF220}"/>
              </a:ext>
            </a:extLst>
          </p:cNvPr>
          <p:cNvSpPr>
            <a:spLocks noGrp="1"/>
          </p:cNvSpPr>
          <p:nvPr/>
        </p:nvSpPr>
        <p:spPr>
          <a:xfrm>
            <a:off x="3490913" y="234315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UTF-8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06B84C-0873-45FB-93FB-889D58CFF02C}"/>
              </a:ext>
            </a:extLst>
          </p:cNvPr>
          <p:cNvSpPr>
            <a:spLocks noGrp="1"/>
          </p:cNvSpPr>
          <p:nvPr/>
        </p:nvSpPr>
        <p:spPr>
          <a:xfrm>
            <a:off x="6010275" y="215265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DB1BA4-8877-487E-9B2D-040EAF4F5B78}"/>
              </a:ext>
            </a:extLst>
          </p:cNvPr>
          <p:cNvSpPr>
            <a:spLocks noGrp="1"/>
          </p:cNvSpPr>
          <p:nvPr/>
        </p:nvSpPr>
        <p:spPr>
          <a:xfrm>
            <a:off x="6181725" y="194310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4E718D-AC74-4E3D-933F-DDACEAA9899D}"/>
              </a:ext>
            </a:extLst>
          </p:cNvPr>
          <p:cNvSpPr>
            <a:spLocks noGrp="1"/>
          </p:cNvSpPr>
          <p:nvPr/>
        </p:nvSpPr>
        <p:spPr>
          <a:xfrm>
            <a:off x="6276975" y="203835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bytes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E7B597-E99E-4882-AF12-BA5336ACCF17}"/>
              </a:ext>
            </a:extLst>
          </p:cNvPr>
          <p:cNvSpPr>
            <a:spLocks noGrp="1"/>
          </p:cNvSpPr>
          <p:nvPr/>
        </p:nvSpPr>
        <p:spPr>
          <a:xfrm>
            <a:off x="6276975" y="234315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TCP stream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55E9DA-82E9-4B5F-B4E8-A5FF971DF43A}"/>
              </a:ext>
            </a:extLst>
          </p:cNvPr>
          <p:cNvSpPr>
            <a:spLocks noGrp="1"/>
          </p:cNvSpPr>
          <p:nvPr/>
        </p:nvSpPr>
        <p:spPr>
          <a:xfrm>
            <a:off x="8796338" y="215265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96ABFFD-CF7B-4CE2-9060-1D4C93AAC8ED}"/>
              </a:ext>
            </a:extLst>
          </p:cNvPr>
          <p:cNvSpPr>
            <a:spLocks noGrp="1"/>
          </p:cNvSpPr>
          <p:nvPr/>
        </p:nvSpPr>
        <p:spPr>
          <a:xfrm>
            <a:off x="8967788" y="194310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A68D37-8552-4FEF-9331-53B699F73C07}"/>
              </a:ext>
            </a:extLst>
          </p:cNvPr>
          <p:cNvSpPr>
            <a:spLocks noGrp="1"/>
          </p:cNvSpPr>
          <p:nvPr/>
        </p:nvSpPr>
        <p:spPr>
          <a:xfrm>
            <a:off x="9063038" y="203835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string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ACE6C3-ECA0-4AEF-A53E-7AE9B1A3A9F8}"/>
              </a:ext>
            </a:extLst>
          </p:cNvPr>
          <p:cNvSpPr>
            <a:spLocks noGrp="1"/>
          </p:cNvSpPr>
          <p:nvPr/>
        </p:nvSpPr>
        <p:spPr>
          <a:xfrm>
            <a:off x="9063038" y="234315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Здравей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45EF8C3-8341-47EA-A578-AF0E087C3278}"/>
              </a:ext>
            </a:extLst>
          </p:cNvPr>
          <p:cNvSpPr>
            <a:spLocks noGrp="1"/>
          </p:cNvSpPr>
          <p:nvPr/>
        </p:nvSpPr>
        <p:spPr>
          <a:xfrm>
            <a:off x="1562100" y="3390900"/>
            <a:ext cx="9067800" cy="1123950"/>
          </a:xfrm>
          <a:prstGeom prst="roundRect">
            <a:avLst>
              <a:gd name="adj" fmla="val 6780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B5FCB1-8E8B-4CFC-B680-AA7EE8AA3A42}"/>
              </a:ext>
            </a:extLst>
          </p:cNvPr>
          <p:cNvSpPr>
            <a:spLocks noGrp="1"/>
          </p:cNvSpPr>
          <p:nvPr/>
        </p:nvSpPr>
        <p:spPr>
          <a:xfrm>
            <a:off x="1809750" y="35433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Важно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038D3B-2179-4DA2-820C-18B6D7063BA0}"/>
              </a:ext>
            </a:extLst>
          </p:cNvPr>
          <p:cNvSpPr>
            <a:spLocks noGrp="1"/>
          </p:cNvSpPr>
          <p:nvPr/>
        </p:nvSpPr>
        <p:spPr>
          <a:xfrm>
            <a:off x="1809750" y="3905250"/>
            <a:ext cx="8382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TCP гарантира подреден поток от байтове, но нашата програма определя границата на съобщението чрез нов ред.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961468-DB3A-4613-8803-81F2B0636CB9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StreamReader и StreamWriter извършват преобразуването между текст и байтове.</a:t>
            </a:r>
          </a:p>
        </p:txBody>
      </p:sp>
    </p:spTree>
    <p:extLst>
      <p:ext uri="{BB962C8B-B14F-4D97-AF65-F5344CB8AC3E}">
        <p14:creationId xmlns:p14="http://schemas.microsoft.com/office/powerpoint/2010/main" val="1003118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19F0793-1651-44D2-8548-A0FE21B30C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5F35B-48A9-4EB9-896C-C4333F67647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Практическо разширение: потребителско име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4C4FB-EDDF-417A-B89B-0337F4AC18CF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D7E35-C273-4286-AF35-9A7A2F10CE07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A2E215-FBCC-4DFF-A572-EE481C47A8C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5810250" cy="209550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76D19-4D8D-4E8F-9001-B47AF443C813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54673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CLIENT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77F447-22EA-4182-8672-9D7CE11ECB38}"/>
              </a:ext>
            </a:extLst>
          </p:cNvPr>
          <p:cNvSpPr>
            <a:spLocks noGrp="1"/>
          </p:cNvSpPr>
          <p:nvPr/>
        </p:nvSpPr>
        <p:spPr>
          <a:xfrm>
            <a:off x="800100" y="1543050"/>
            <a:ext cx="54292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// ChatClient: преди chat цикъла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Console.Write("Your name: " );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string userName = Console.ReadLine() ?? "Anonymous";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await writer.WriteLineAsync(userName);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CEB64D-649D-4C18-8E26-AAD3FCD0FCE5}"/>
              </a:ext>
            </a:extLst>
          </p:cNvPr>
          <p:cNvSpPr>
            <a:spLocks noGrp="1"/>
          </p:cNvSpPr>
          <p:nvPr/>
        </p:nvSpPr>
        <p:spPr>
          <a:xfrm>
            <a:off x="6705600" y="1181100"/>
            <a:ext cx="4857750" cy="209550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AD4814-706A-4457-A6FB-5346BF2BC706}"/>
              </a:ext>
            </a:extLst>
          </p:cNvPr>
          <p:cNvSpPr>
            <a:spLocks noGrp="1"/>
          </p:cNvSpPr>
          <p:nvPr/>
        </p:nvSpPr>
        <p:spPr>
          <a:xfrm>
            <a:off x="6877050" y="1276350"/>
            <a:ext cx="45148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AE67ED-2898-4A2E-959B-71489E47D929}"/>
              </a:ext>
            </a:extLst>
          </p:cNvPr>
          <p:cNvSpPr>
            <a:spLocks noGrp="1"/>
          </p:cNvSpPr>
          <p:nvPr/>
        </p:nvSpPr>
        <p:spPr>
          <a:xfrm>
            <a:off x="6896100" y="1543050"/>
            <a:ext cx="4476750" cy="161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// ChatServer: преди chat цикъла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string userName =</a:t>
            </a: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await reader.ReadLineAsync() ?? "Unknown";</a:t>
            </a:r>
          </a:p>
          <a:p>
            <a:endParaRPr sz="112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Console.WriteLine($"{userName} connected.");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78513C-DB00-4A07-AC5A-BBB152E08F7F}"/>
              </a:ext>
            </a:extLst>
          </p:cNvPr>
          <p:cNvSpPr>
            <a:spLocks noGrp="1"/>
          </p:cNvSpPr>
          <p:nvPr/>
        </p:nvSpPr>
        <p:spPr>
          <a:xfrm>
            <a:off x="1562100" y="3924300"/>
            <a:ext cx="9067800" cy="781050"/>
          </a:xfrm>
          <a:prstGeom prst="roundRect">
            <a:avLst>
              <a:gd name="adj" fmla="val 9756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29E5D-B738-4842-88E6-CF1E157D264E}"/>
              </a:ext>
            </a:extLst>
          </p:cNvPr>
          <p:cNvSpPr>
            <a:spLocks noGrp="1"/>
          </p:cNvSpPr>
          <p:nvPr/>
        </p:nvSpPr>
        <p:spPr>
          <a:xfrm>
            <a:off x="1733550" y="401955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 SERVER ЦИКЪЛА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516B73-AE76-4A8E-8F1F-C792C589DF90}"/>
              </a:ext>
            </a:extLst>
          </p:cNvPr>
          <p:cNvSpPr>
            <a:spLocks noGrp="1"/>
          </p:cNvSpPr>
          <p:nvPr/>
        </p:nvSpPr>
        <p:spPr>
          <a:xfrm>
            <a:off x="1752600" y="4286250"/>
            <a:ext cx="86868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Console.WriteLine($"{userName}: {message}");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E5C236-E1BF-497D-929F-CF9100EDFB83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Новото правило на протокола: първият ред след свързване винаги съдържа име.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C2AD04-584D-4003-889C-DF2ED8408CEE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Работа по двойки • 7 минути</a:t>
            </a:r>
          </a:p>
        </p:txBody>
      </p:sp>
    </p:spTree>
    <p:extLst>
      <p:ext uri="{BB962C8B-B14F-4D97-AF65-F5344CB8AC3E}">
        <p14:creationId xmlns:p14="http://schemas.microsoft.com/office/powerpoint/2010/main" val="1950858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15E0549-34BF-4F3D-AABC-B914DFD0A7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0C4A6F-883F-4D41-8AE6-A0000557A0A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Практическа проверка: основна задача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FA5CD7-171D-4B8C-9741-8AA04C256806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ПК • УРОК 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4AC8B6-6761-4B36-A21B-60EFE5A877E3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C5D45D-02ED-4E9C-A491-7E5D365A803A}"/>
              </a:ext>
            </a:extLst>
          </p:cNvPr>
          <p:cNvSpPr>
            <a:spLocks noGrp="1"/>
          </p:cNvSpPr>
          <p:nvPr/>
        </p:nvSpPr>
        <p:spPr>
          <a:xfrm>
            <a:off x="1371600" y="990600"/>
            <a:ext cx="9448800" cy="685800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D21645-8F46-440C-8B57-366C066BD32F}"/>
              </a:ext>
            </a:extLst>
          </p:cNvPr>
          <p:cNvSpPr>
            <a:spLocks noGrp="1"/>
          </p:cNvSpPr>
          <p:nvPr/>
        </p:nvSpPr>
        <p:spPr>
          <a:xfrm>
            <a:off x="1562100" y="1143000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D677B-8367-47E5-B509-60A0D91D19D5}"/>
              </a:ext>
            </a:extLst>
          </p:cNvPr>
          <p:cNvSpPr>
            <a:spLocks noGrp="1"/>
          </p:cNvSpPr>
          <p:nvPr/>
        </p:nvSpPr>
        <p:spPr>
          <a:xfrm>
            <a:off x="1562100" y="11620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D40DEC-11C6-40C4-B235-BBB735251FB4}"/>
              </a:ext>
            </a:extLst>
          </p:cNvPr>
          <p:cNvSpPr>
            <a:spLocks noGrp="1"/>
          </p:cNvSpPr>
          <p:nvPr/>
        </p:nvSpPr>
        <p:spPr>
          <a:xfrm>
            <a:off x="2438400" y="1085850"/>
            <a:ext cx="8001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Създайте или довършете ChatServer и ChatClient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1EFD1B-195D-4372-846C-7A80F737E3F0}"/>
              </a:ext>
            </a:extLst>
          </p:cNvPr>
          <p:cNvSpPr>
            <a:spLocks noGrp="1"/>
          </p:cNvSpPr>
          <p:nvPr/>
        </p:nvSpPr>
        <p:spPr>
          <a:xfrm>
            <a:off x="1371600" y="1924050"/>
            <a:ext cx="9448800" cy="685800"/>
          </a:xfrm>
          <a:prstGeom prst="roundRect">
            <a:avLst>
              <a:gd name="adj" fmla="val 1111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E35F65-013B-4F1A-BCE2-E1407D213BE1}"/>
              </a:ext>
            </a:extLst>
          </p:cNvPr>
          <p:cNvSpPr>
            <a:spLocks noGrp="1"/>
          </p:cNvSpPr>
          <p:nvPr/>
        </p:nvSpPr>
        <p:spPr>
          <a:xfrm>
            <a:off x="1562100" y="2076450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970A94-55EA-4F6F-AC9F-6329E11CDC7A}"/>
              </a:ext>
            </a:extLst>
          </p:cNvPr>
          <p:cNvSpPr>
            <a:spLocks noGrp="1"/>
          </p:cNvSpPr>
          <p:nvPr/>
        </p:nvSpPr>
        <p:spPr>
          <a:xfrm>
            <a:off x="1562100" y="20955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098815-B363-48D6-B6AF-13BE6925CE9D}"/>
              </a:ext>
            </a:extLst>
          </p:cNvPr>
          <p:cNvSpPr>
            <a:spLocks noGrp="1"/>
          </p:cNvSpPr>
          <p:nvPr/>
        </p:nvSpPr>
        <p:spPr>
          <a:xfrm>
            <a:off x="2438400" y="2019300"/>
            <a:ext cx="8001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Използвайте избран TCP порт над 1024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39414F-61CF-4BB6-A5D6-854295B22216}"/>
              </a:ext>
            </a:extLst>
          </p:cNvPr>
          <p:cNvSpPr>
            <a:spLocks noGrp="1"/>
          </p:cNvSpPr>
          <p:nvPr/>
        </p:nvSpPr>
        <p:spPr>
          <a:xfrm>
            <a:off x="1371600" y="2857500"/>
            <a:ext cx="9448800" cy="685800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B3CAD2-531D-4209-A98E-ECC6D67D3827}"/>
              </a:ext>
            </a:extLst>
          </p:cNvPr>
          <p:cNvSpPr>
            <a:spLocks noGrp="1"/>
          </p:cNvSpPr>
          <p:nvPr/>
        </p:nvSpPr>
        <p:spPr>
          <a:xfrm>
            <a:off x="1562100" y="3009900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789FF2-C914-4286-9E1B-3BC5693AB258}"/>
              </a:ext>
            </a:extLst>
          </p:cNvPr>
          <p:cNvSpPr>
            <a:spLocks noGrp="1"/>
          </p:cNvSpPr>
          <p:nvPr/>
        </p:nvSpPr>
        <p:spPr>
          <a:xfrm>
            <a:off x="1562100" y="30289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248CCC-EAE2-416C-B649-01AA8AF83E35}"/>
              </a:ext>
            </a:extLst>
          </p:cNvPr>
          <p:cNvSpPr>
            <a:spLocks noGrp="1"/>
          </p:cNvSpPr>
          <p:nvPr/>
        </p:nvSpPr>
        <p:spPr>
          <a:xfrm>
            <a:off x="2438400" y="2952750"/>
            <a:ext cx="8001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Свържете клиента и разменете поне 3 съобщения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ABDC1D-DB8C-4271-B026-C3F11F0EA522}"/>
              </a:ext>
            </a:extLst>
          </p:cNvPr>
          <p:cNvSpPr>
            <a:spLocks noGrp="1"/>
          </p:cNvSpPr>
          <p:nvPr/>
        </p:nvSpPr>
        <p:spPr>
          <a:xfrm>
            <a:off x="1371600" y="3790950"/>
            <a:ext cx="9448800" cy="685800"/>
          </a:xfrm>
          <a:prstGeom prst="roundRect">
            <a:avLst>
              <a:gd name="adj" fmla="val 1111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A7F3D4F-0B47-46EA-8F40-EBE7C83AE0D6}"/>
              </a:ext>
            </a:extLst>
          </p:cNvPr>
          <p:cNvSpPr>
            <a:spLocks noGrp="1"/>
          </p:cNvSpPr>
          <p:nvPr/>
        </p:nvSpPr>
        <p:spPr>
          <a:xfrm>
            <a:off x="1562100" y="3943350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686BC3-118A-49B0-A1A1-BCBA8136EA92}"/>
              </a:ext>
            </a:extLst>
          </p:cNvPr>
          <p:cNvSpPr>
            <a:spLocks noGrp="1"/>
          </p:cNvSpPr>
          <p:nvPr/>
        </p:nvSpPr>
        <p:spPr>
          <a:xfrm>
            <a:off x="1562100" y="396240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6B57E6-A829-4ADE-905F-AA3EF56DEC6F}"/>
              </a:ext>
            </a:extLst>
          </p:cNvPr>
          <p:cNvSpPr>
            <a:spLocks noGrp="1"/>
          </p:cNvSpPr>
          <p:nvPr/>
        </p:nvSpPr>
        <p:spPr>
          <a:xfrm>
            <a:off x="2438400" y="3886200"/>
            <a:ext cx="8001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потребителско име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513B38-7D9A-413B-AE46-523BBDE50160}"/>
              </a:ext>
            </a:extLst>
          </p:cNvPr>
          <p:cNvSpPr>
            <a:spLocks noGrp="1"/>
          </p:cNvSpPr>
          <p:nvPr/>
        </p:nvSpPr>
        <p:spPr>
          <a:xfrm>
            <a:off x="1371600" y="4724400"/>
            <a:ext cx="9448800" cy="685800"/>
          </a:xfrm>
          <a:prstGeom prst="roundRect">
            <a:avLst>
              <a:gd name="adj" fmla="val 11111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61FF003-4F93-4101-9FC2-FAF61757309E}"/>
              </a:ext>
            </a:extLst>
          </p:cNvPr>
          <p:cNvSpPr>
            <a:spLocks noGrp="1"/>
          </p:cNvSpPr>
          <p:nvPr/>
        </p:nvSpPr>
        <p:spPr>
          <a:xfrm>
            <a:off x="1562100" y="4876800"/>
            <a:ext cx="5524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B19B72-89C5-4BA8-B3DC-32EC2DED145D}"/>
              </a:ext>
            </a:extLst>
          </p:cNvPr>
          <p:cNvSpPr>
            <a:spLocks noGrp="1"/>
          </p:cNvSpPr>
          <p:nvPr/>
        </p:nvSpPr>
        <p:spPr>
          <a:xfrm>
            <a:off x="1562100" y="4895850"/>
            <a:ext cx="552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ACD4DD-109A-4AFB-92EB-A7FA9A544666}"/>
              </a:ext>
            </a:extLst>
          </p:cNvPr>
          <p:cNvSpPr>
            <a:spLocks noGrp="1"/>
          </p:cNvSpPr>
          <p:nvPr/>
        </p:nvSpPr>
        <p:spPr>
          <a:xfrm>
            <a:off x="2438400" y="4819650"/>
            <a:ext cx="8001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Завършете разговора с /exit без crash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DDE3B-6FD6-4957-AB85-5242B6366FA8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Самостоятелна работа • 20 минути</a:t>
            </a:r>
          </a:p>
        </p:txBody>
      </p:sp>
    </p:spTree>
    <p:extLst>
      <p:ext uri="{BB962C8B-B14F-4D97-AF65-F5344CB8AC3E}">
        <p14:creationId xmlns:p14="http://schemas.microsoft.com/office/powerpoint/2010/main" val="1048482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D353E29-2814-42A6-B38E-89F2487B6D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07004B-9163-4285-9159-4C71B4D1EC2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Критерии за оценяване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859466-2552-4993-9362-15E288F88A42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ПК • УРОК 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C54D0A-9924-4781-A11D-569A8136AC72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E6CB6A-6FFC-4114-8B9B-E3C8E882027A}"/>
              </a:ext>
            </a:extLst>
          </p:cNvPr>
          <p:cNvSpPr>
            <a:spLocks noGrp="1"/>
          </p:cNvSpPr>
          <p:nvPr/>
        </p:nvSpPr>
        <p:spPr>
          <a:xfrm>
            <a:off x="1562100" y="10287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C7575-C2FC-41E0-875A-281E5A114C11}"/>
              </a:ext>
            </a:extLst>
          </p:cNvPr>
          <p:cNvSpPr>
            <a:spLocks noGrp="1"/>
          </p:cNvSpPr>
          <p:nvPr/>
        </p:nvSpPr>
        <p:spPr>
          <a:xfrm>
            <a:off x="1809750" y="112395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Работеща връзка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C7B0EA-6306-48F9-8170-262E96BD6147}"/>
              </a:ext>
            </a:extLst>
          </p:cNvPr>
          <p:cNvSpPr>
            <a:spLocks noGrp="1"/>
          </p:cNvSpPr>
          <p:nvPr/>
        </p:nvSpPr>
        <p:spPr>
          <a:xfrm>
            <a:off x="8667750" y="1171575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176BC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B4F39-E5D9-411F-9AE7-097303359C94}"/>
              </a:ext>
            </a:extLst>
          </p:cNvPr>
          <p:cNvSpPr>
            <a:spLocks noGrp="1"/>
          </p:cNvSpPr>
          <p:nvPr/>
        </p:nvSpPr>
        <p:spPr>
          <a:xfrm>
            <a:off x="8667750" y="11906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т.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882B0C-3B18-4541-A03A-8BA7AA216BCA}"/>
              </a:ext>
            </a:extLst>
          </p:cNvPr>
          <p:cNvSpPr>
            <a:spLocks noGrp="1"/>
          </p:cNvSpPr>
          <p:nvPr/>
        </p:nvSpPr>
        <p:spPr>
          <a:xfrm>
            <a:off x="1562100" y="19431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B12935-8920-4C6B-8935-253F7F567697}"/>
              </a:ext>
            </a:extLst>
          </p:cNvPr>
          <p:cNvSpPr>
            <a:spLocks noGrp="1"/>
          </p:cNvSpPr>
          <p:nvPr/>
        </p:nvSpPr>
        <p:spPr>
          <a:xfrm>
            <a:off x="1809750" y="203835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Коректен обмен на съобщения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AA43BA-980E-47A5-8BA5-26D3DBC95C95}"/>
              </a:ext>
            </a:extLst>
          </p:cNvPr>
          <p:cNvSpPr>
            <a:spLocks noGrp="1"/>
          </p:cNvSpPr>
          <p:nvPr/>
        </p:nvSpPr>
        <p:spPr>
          <a:xfrm>
            <a:off x="8667750" y="2085975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165374-B891-4C3D-AE0A-429290393675}"/>
              </a:ext>
            </a:extLst>
          </p:cNvPr>
          <p:cNvSpPr>
            <a:spLocks noGrp="1"/>
          </p:cNvSpPr>
          <p:nvPr/>
        </p:nvSpPr>
        <p:spPr>
          <a:xfrm>
            <a:off x="8667750" y="21050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т.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0DC7122-81BA-4FD0-B2DB-1427799CA9B1}"/>
              </a:ext>
            </a:extLst>
          </p:cNvPr>
          <p:cNvSpPr>
            <a:spLocks noGrp="1"/>
          </p:cNvSpPr>
          <p:nvPr/>
        </p:nvSpPr>
        <p:spPr>
          <a:xfrm>
            <a:off x="1562100" y="28575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3CDD4D-8663-41AF-947A-30668F6D4972}"/>
              </a:ext>
            </a:extLst>
          </p:cNvPr>
          <p:cNvSpPr>
            <a:spLocks noGrp="1"/>
          </p:cNvSpPr>
          <p:nvPr/>
        </p:nvSpPr>
        <p:spPr>
          <a:xfrm>
            <a:off x="1809750" y="295275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Потребителско име и /exit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FDB074-4C15-4C24-BBF3-A9032442A778}"/>
              </a:ext>
            </a:extLst>
          </p:cNvPr>
          <p:cNvSpPr>
            <a:spLocks noGrp="1"/>
          </p:cNvSpPr>
          <p:nvPr/>
        </p:nvSpPr>
        <p:spPr>
          <a:xfrm>
            <a:off x="8667750" y="3000375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ADD0B4-B180-4B0B-B74F-462BF4412F67}"/>
              </a:ext>
            </a:extLst>
          </p:cNvPr>
          <p:cNvSpPr>
            <a:spLocks noGrp="1"/>
          </p:cNvSpPr>
          <p:nvPr/>
        </p:nvSpPr>
        <p:spPr>
          <a:xfrm>
            <a:off x="8667750" y="30194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т.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CECB91-B4A1-4C07-BE1E-9C0BF67D0DD8}"/>
              </a:ext>
            </a:extLst>
          </p:cNvPr>
          <p:cNvSpPr>
            <a:spLocks noGrp="1"/>
          </p:cNvSpPr>
          <p:nvPr/>
        </p:nvSpPr>
        <p:spPr>
          <a:xfrm>
            <a:off x="1562100" y="37719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DB09D2-BC5C-4055-A876-49457992BEE2}"/>
              </a:ext>
            </a:extLst>
          </p:cNvPr>
          <p:cNvSpPr>
            <a:spLocks noGrp="1"/>
          </p:cNvSpPr>
          <p:nvPr/>
        </p:nvSpPr>
        <p:spPr>
          <a:xfrm>
            <a:off x="1809750" y="386715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Обяснение на IP, port и stream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6F8020-F326-49C8-A4FA-E57CDE397087}"/>
              </a:ext>
            </a:extLst>
          </p:cNvPr>
          <p:cNvSpPr>
            <a:spLocks noGrp="1"/>
          </p:cNvSpPr>
          <p:nvPr/>
        </p:nvSpPr>
        <p:spPr>
          <a:xfrm>
            <a:off x="8667750" y="3914775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0D74A9-A076-4493-9386-04EC2D89B296}"/>
              </a:ext>
            </a:extLst>
          </p:cNvPr>
          <p:cNvSpPr>
            <a:spLocks noGrp="1"/>
          </p:cNvSpPr>
          <p:nvPr/>
        </p:nvSpPr>
        <p:spPr>
          <a:xfrm>
            <a:off x="8667750" y="39338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т.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01316F-5185-4CC8-A448-21EBFCAC98B2}"/>
              </a:ext>
            </a:extLst>
          </p:cNvPr>
          <p:cNvSpPr>
            <a:spLocks noGrp="1"/>
          </p:cNvSpPr>
          <p:nvPr/>
        </p:nvSpPr>
        <p:spPr>
          <a:xfrm>
            <a:off x="1562100" y="4686300"/>
            <a:ext cx="9067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4F675D-792B-4661-9ED1-40784925A59D}"/>
              </a:ext>
            </a:extLst>
          </p:cNvPr>
          <p:cNvSpPr>
            <a:spLocks noGrp="1"/>
          </p:cNvSpPr>
          <p:nvPr/>
        </p:nvSpPr>
        <p:spPr>
          <a:xfrm>
            <a:off x="1809750" y="4781550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Четлив код и коректно освобождаване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672785-2C9D-4BE2-BA54-A6964FC7F75F}"/>
              </a:ext>
            </a:extLst>
          </p:cNvPr>
          <p:cNvSpPr>
            <a:spLocks noGrp="1"/>
          </p:cNvSpPr>
          <p:nvPr/>
        </p:nvSpPr>
        <p:spPr>
          <a:xfrm>
            <a:off x="8667750" y="4829175"/>
            <a:ext cx="1619250" cy="381000"/>
          </a:xfrm>
          <a:prstGeom prst="roundRect">
            <a:avLst>
              <a:gd name="adj" fmla="val 20000"/>
            </a:avLst>
          </a:prstGeom>
          <a:solidFill>
            <a:srgbClr val="8065A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76F85C-0D1D-43EF-B468-0598E89C00AB}"/>
              </a:ext>
            </a:extLst>
          </p:cNvPr>
          <p:cNvSpPr>
            <a:spLocks noGrp="1"/>
          </p:cNvSpPr>
          <p:nvPr/>
        </p:nvSpPr>
        <p:spPr>
          <a:xfrm>
            <a:off x="8667750" y="48482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т.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55AA2C-ED00-45B3-963E-B92A07CD9955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Максимум: 10 точки</a:t>
            </a:r>
          </a:p>
        </p:txBody>
      </p:sp>
    </p:spTree>
    <p:extLst>
      <p:ext uri="{BB962C8B-B14F-4D97-AF65-F5344CB8AC3E}">
        <p14:creationId xmlns:p14="http://schemas.microsoft.com/office/powerpoint/2010/main" val="1224367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C59B0C3-0ED5-480B-8991-1414778A95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733B87-1798-4B9A-97F1-C9C74C9CFEE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Диагностика на чести проблеми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DD0379-C0EB-48F1-99D8-B74AEEA404BB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85A2C-376A-4C82-8DDB-F86AD209DBE1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87EF96-9B35-4921-B039-7CFE63B3C989}"/>
              </a:ext>
            </a:extLst>
          </p:cNvPr>
          <p:cNvSpPr>
            <a:spLocks noGrp="1"/>
          </p:cNvSpPr>
          <p:nvPr/>
        </p:nvSpPr>
        <p:spPr>
          <a:xfrm>
            <a:off x="990600" y="1009650"/>
            <a:ext cx="10210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DB6405-C8C4-4CDD-908A-87FD20CB42B6}"/>
              </a:ext>
            </a:extLst>
          </p:cNvPr>
          <p:cNvSpPr>
            <a:spLocks noGrp="1"/>
          </p:cNvSpPr>
          <p:nvPr/>
        </p:nvSpPr>
        <p:spPr>
          <a:xfrm>
            <a:off x="1181100" y="1152525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D95D5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8055DB-B35B-49C4-95A0-4C321757D8F4}"/>
              </a:ext>
            </a:extLst>
          </p:cNvPr>
          <p:cNvSpPr>
            <a:spLocks noGrp="1"/>
          </p:cNvSpPr>
          <p:nvPr/>
        </p:nvSpPr>
        <p:spPr>
          <a:xfrm>
            <a:off x="1181100" y="11715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Connection refused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C2EF07-902B-4AAE-A468-24E1D7BC5DE6}"/>
              </a:ext>
            </a:extLst>
          </p:cNvPr>
          <p:cNvSpPr>
            <a:spLocks noGrp="1"/>
          </p:cNvSpPr>
          <p:nvPr/>
        </p:nvSpPr>
        <p:spPr>
          <a:xfrm>
            <a:off x="4171950" y="11049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сървърът не е стартиран или портът е грешен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A939877-49D9-4995-96CC-4C75438B85B8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210800" cy="666750"/>
          </a:xfrm>
          <a:prstGeom prst="roundRect">
            <a:avLst>
              <a:gd name="adj" fmla="val 11429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2A37D9-5F11-411B-B655-0250C49BBD48}"/>
              </a:ext>
            </a:extLst>
          </p:cNvPr>
          <p:cNvSpPr>
            <a:spLocks noGrp="1"/>
          </p:cNvSpPr>
          <p:nvPr/>
        </p:nvSpPr>
        <p:spPr>
          <a:xfrm>
            <a:off x="1181100" y="2066925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6D9C97-4214-44A9-A94C-DF19236D9B14}"/>
              </a:ext>
            </a:extLst>
          </p:cNvPr>
          <p:cNvSpPr>
            <a:spLocks noGrp="1"/>
          </p:cNvSpPr>
          <p:nvPr/>
        </p:nvSpPr>
        <p:spPr>
          <a:xfrm>
            <a:off x="1181100" y="20859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Timeout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73B951-AAC5-4F82-A724-EB85632993D9}"/>
              </a:ext>
            </a:extLst>
          </p:cNvPr>
          <p:cNvSpPr>
            <a:spLocks noGrp="1"/>
          </p:cNvSpPr>
          <p:nvPr/>
        </p:nvSpPr>
        <p:spPr>
          <a:xfrm>
            <a:off x="4171950" y="20193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грешен IP, мрежово ограничение или firewall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D79B52-DC67-4717-8DBE-73607DEE47AF}"/>
              </a:ext>
            </a:extLst>
          </p:cNvPr>
          <p:cNvSpPr>
            <a:spLocks noGrp="1"/>
          </p:cNvSpPr>
          <p:nvPr/>
        </p:nvSpPr>
        <p:spPr>
          <a:xfrm>
            <a:off x="990600" y="2838450"/>
            <a:ext cx="10210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C89D84-4C22-4595-BFB3-2043586363DA}"/>
              </a:ext>
            </a:extLst>
          </p:cNvPr>
          <p:cNvSpPr>
            <a:spLocks noGrp="1"/>
          </p:cNvSpPr>
          <p:nvPr/>
        </p:nvSpPr>
        <p:spPr>
          <a:xfrm>
            <a:off x="1181100" y="2981325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4A2625-87B3-4947-8183-D5FB6CA6D481}"/>
              </a:ext>
            </a:extLst>
          </p:cNvPr>
          <p:cNvSpPr>
            <a:spLocks noGrp="1"/>
          </p:cNvSpPr>
          <p:nvPr/>
        </p:nvSpPr>
        <p:spPr>
          <a:xfrm>
            <a:off x="1181100" y="30003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 двете програми чакат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5C371F-B0E5-4AE4-B1DB-4282337B5EDA}"/>
              </a:ext>
            </a:extLst>
          </p:cNvPr>
          <p:cNvSpPr>
            <a:spLocks noGrp="1"/>
          </p:cNvSpPr>
          <p:nvPr/>
        </p:nvSpPr>
        <p:spPr>
          <a:xfrm>
            <a:off x="4171950" y="29337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несъвпадащ ред read/write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2625DE-B9E4-4609-8A7D-0706575F1D39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10210800" cy="666750"/>
          </a:xfrm>
          <a:prstGeom prst="roundRect">
            <a:avLst>
              <a:gd name="adj" fmla="val 11429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7B1EA1F-8BB0-4A52-9DE8-79CF3DF86366}"/>
              </a:ext>
            </a:extLst>
          </p:cNvPr>
          <p:cNvSpPr>
            <a:spLocks noGrp="1"/>
          </p:cNvSpPr>
          <p:nvPr/>
        </p:nvSpPr>
        <p:spPr>
          <a:xfrm>
            <a:off x="1181100" y="3895725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053393-43B1-45A2-A155-AFC323397CFD}"/>
              </a:ext>
            </a:extLst>
          </p:cNvPr>
          <p:cNvSpPr>
            <a:spLocks noGrp="1"/>
          </p:cNvSpPr>
          <p:nvPr/>
        </p:nvSpPr>
        <p:spPr>
          <a:xfrm>
            <a:off x="1181100" y="39147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Съобщението не пристига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AFCAFA-45C5-4998-94BA-D3AEC090B713}"/>
              </a:ext>
            </a:extLst>
          </p:cNvPr>
          <p:cNvSpPr>
            <a:spLocks noGrp="1"/>
          </p:cNvSpPr>
          <p:nvPr/>
        </p:nvSpPr>
        <p:spPr>
          <a:xfrm>
            <a:off x="4171950" y="38481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липсва AutoFlush или нов ред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045F81-99DA-481D-A221-6B9D3E7E9907}"/>
              </a:ext>
            </a:extLst>
          </p:cNvPr>
          <p:cNvSpPr>
            <a:spLocks noGrp="1"/>
          </p:cNvSpPr>
          <p:nvPr/>
        </p:nvSpPr>
        <p:spPr>
          <a:xfrm>
            <a:off x="990600" y="4667250"/>
            <a:ext cx="10210800" cy="666750"/>
          </a:xfrm>
          <a:prstGeom prst="roundRect">
            <a:avLst>
              <a:gd name="adj" fmla="val 11429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5F4C4E3-3CE5-4293-8552-19244B27DDAF}"/>
              </a:ext>
            </a:extLst>
          </p:cNvPr>
          <p:cNvSpPr>
            <a:spLocks noGrp="1"/>
          </p:cNvSpPr>
          <p:nvPr/>
        </p:nvSpPr>
        <p:spPr>
          <a:xfrm>
            <a:off x="1181100" y="4810125"/>
            <a:ext cx="2667000" cy="381000"/>
          </a:xfrm>
          <a:prstGeom prst="roundRect">
            <a:avLst>
              <a:gd name="adj" fmla="val 20000"/>
            </a:avLst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EB9CE-D311-4487-85C5-3CC06F716FA7}"/>
              </a:ext>
            </a:extLst>
          </p:cNvPr>
          <p:cNvSpPr>
            <a:spLocks noGrp="1"/>
          </p:cNvSpPr>
          <p:nvPr/>
        </p:nvSpPr>
        <p:spPr>
          <a:xfrm>
            <a:off x="1181100" y="48291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Само един клиент работи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697A45-C829-484A-B2B1-8BAE85330999}"/>
              </a:ext>
            </a:extLst>
          </p:cNvPr>
          <p:cNvSpPr>
            <a:spLocks noGrp="1"/>
          </p:cNvSpPr>
          <p:nvPr/>
        </p:nvSpPr>
        <p:spPr>
          <a:xfrm>
            <a:off x="4171950" y="47625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текущият server приема точно една връзка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7042CA-9995-4BF5-A66B-5C2BA677518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Диагнозата започва от състоянието на server, IP адреса, порта и реда на операциите.</a:t>
            </a:r>
          </a:p>
        </p:txBody>
      </p:sp>
    </p:spTree>
    <p:extLst>
      <p:ext uri="{BB962C8B-B14F-4D97-AF65-F5344CB8AC3E}">
        <p14:creationId xmlns:p14="http://schemas.microsoft.com/office/powerpoint/2010/main" val="611529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2D04A53-C464-458A-9FA5-9A364A77AF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F19A3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F55369-F338-4066-A038-44516B014D9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Безопасност и ограничения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47D95B-454A-46F9-8514-7BFF3D7E52B1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773C04-3961-4A86-B1F7-58E025ECDF62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A1445E-932D-4C05-A57F-272C0674A072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FCEEEE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E8058-A4B6-4F34-9940-DF20D6272A52}"/>
              </a:ext>
            </a:extLst>
          </p:cNvPr>
          <p:cNvSpPr>
            <a:spLocks noGrp="1"/>
          </p:cNvSpPr>
          <p:nvPr/>
        </p:nvSpPr>
        <p:spPr>
          <a:xfrm>
            <a:off x="781050" y="13144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Няма криптиране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B1D0CD-6B0B-4BD8-A243-A06ECE7DE49F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2990850" cy="137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Текстът се предава без TLS. Не изпращаме истински пароли и лични данни.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A8DC71-8A39-4FA3-9AF2-9150C4FF423C}"/>
              </a:ext>
            </a:extLst>
          </p:cNvPr>
          <p:cNvSpPr>
            <a:spLocks noGrp="1"/>
          </p:cNvSpPr>
          <p:nvPr/>
        </p:nvSpPr>
        <p:spPr>
          <a:xfrm>
            <a:off x="4419600" y="120015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9EB27-7696-4675-9822-5D8A8F98A885}"/>
              </a:ext>
            </a:extLst>
          </p:cNvPr>
          <p:cNvSpPr>
            <a:spLocks noGrp="1"/>
          </p:cNvSpPr>
          <p:nvPr/>
        </p:nvSpPr>
        <p:spPr>
          <a:xfrm>
            <a:off x="4591050" y="13144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Няма удостоверяване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960460-E8DC-4916-9AB4-93064733518C}"/>
              </a:ext>
            </a:extLst>
          </p:cNvPr>
          <p:cNvSpPr>
            <a:spLocks noGrp="1"/>
          </p:cNvSpPr>
          <p:nvPr/>
        </p:nvSpPr>
        <p:spPr>
          <a:xfrm>
            <a:off x="4591050" y="1676400"/>
            <a:ext cx="2990850" cy="137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Сървърът приема името, което клиентът изпрати.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35477C-0212-4014-B207-8D51F3A0C439}"/>
              </a:ext>
            </a:extLst>
          </p:cNvPr>
          <p:cNvSpPr>
            <a:spLocks noGrp="1"/>
          </p:cNvSpPr>
          <p:nvPr/>
        </p:nvSpPr>
        <p:spPr>
          <a:xfrm>
            <a:off x="8229600" y="120015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AE0A89-77CD-4DF3-91BD-C6752CCA3918}"/>
              </a:ext>
            </a:extLst>
          </p:cNvPr>
          <p:cNvSpPr>
            <a:spLocks noGrp="1"/>
          </p:cNvSpPr>
          <p:nvPr/>
        </p:nvSpPr>
        <p:spPr>
          <a:xfrm>
            <a:off x="8401050" y="131445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Само един клиент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A4FA92-D83F-492C-8A23-9000AE66AA7B}"/>
              </a:ext>
            </a:extLst>
          </p:cNvPr>
          <p:cNvSpPr>
            <a:spLocks noGrp="1"/>
          </p:cNvSpPr>
          <p:nvPr/>
        </p:nvSpPr>
        <p:spPr>
          <a:xfrm>
            <a:off x="8401050" y="1676400"/>
            <a:ext cx="2990850" cy="1371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След Accept server работи с една връзка и приключва.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BBA2A4-9C53-4FE4-9E88-8C5CE4A783AB}"/>
              </a:ext>
            </a:extLst>
          </p:cNvPr>
          <p:cNvSpPr>
            <a:spLocks noGrp="1"/>
          </p:cNvSpPr>
          <p:nvPr/>
        </p:nvSpPr>
        <p:spPr>
          <a:xfrm>
            <a:off x="1562100" y="3790950"/>
            <a:ext cx="9067800" cy="1009650"/>
          </a:xfrm>
          <a:prstGeom prst="roundRect">
            <a:avLst>
              <a:gd name="adj" fmla="val 7547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900EFF-3DEA-4AE8-A68F-67C5ED39B40F}"/>
              </a:ext>
            </a:extLst>
          </p:cNvPr>
          <p:cNvSpPr>
            <a:spLocks noGrp="1"/>
          </p:cNvSpPr>
          <p:nvPr/>
        </p:nvSpPr>
        <p:spPr>
          <a:xfrm>
            <a:off x="1809750" y="392430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Учебната стойност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365002-25FB-45F6-8B8F-FC694EE36189}"/>
              </a:ext>
            </a:extLst>
          </p:cNvPr>
          <p:cNvSpPr>
            <a:spLocks noGrp="1"/>
          </p:cNvSpPr>
          <p:nvPr/>
        </p:nvSpPr>
        <p:spPr>
          <a:xfrm>
            <a:off x="1809750" y="4286250"/>
            <a:ext cx="838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000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Малкият проект прави връзката, потока и протокола видими. Следваща версия може да добави TLS и множество клиенти.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4F102C-03D4-49CF-AD7B-A76AF4E489BE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Не отваряйте порта към интернет. Работете само на localhost или в учебната LAN.</a:t>
            </a:r>
          </a:p>
        </p:txBody>
      </p:sp>
    </p:spTree>
    <p:extLst>
      <p:ext uri="{BB962C8B-B14F-4D97-AF65-F5344CB8AC3E}">
        <p14:creationId xmlns:p14="http://schemas.microsoft.com/office/powerpoint/2010/main" val="2046637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1AB44BE-7690-4237-8D4C-E3C7FD6B85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0B8CD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E5D181-E7ED-469C-AB48-26D4E511098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Допълнителни задачи при останало време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B2AA6F-4127-4960-86F6-4C56343ABE0B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226D63-D799-4DCF-853E-8764F33BB8DC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89FD2E-B703-4AFC-A956-15B255215B2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FB832-68E6-4879-B034-F38D4EE5A1F0}"/>
              </a:ext>
            </a:extLst>
          </p:cNvPr>
          <p:cNvSpPr>
            <a:spLocks noGrp="1"/>
          </p:cNvSpPr>
          <p:nvPr/>
        </p:nvSpPr>
        <p:spPr>
          <a:xfrm>
            <a:off x="781050" y="12954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Ниво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FCE6FB-E64F-42CA-98F9-99DD2412CC23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29908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Показвайте часа пред всяко получено съобщение.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5D0F12-9BA0-4092-8FAC-464821263BAB}"/>
              </a:ext>
            </a:extLst>
          </p:cNvPr>
          <p:cNvSpPr>
            <a:spLocks noGrp="1"/>
          </p:cNvSpPr>
          <p:nvPr/>
        </p:nvSpPr>
        <p:spPr>
          <a:xfrm>
            <a:off x="4419600" y="118110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96EEE6-8431-4022-9B4C-E92B97C84D55}"/>
              </a:ext>
            </a:extLst>
          </p:cNvPr>
          <p:cNvSpPr>
            <a:spLocks noGrp="1"/>
          </p:cNvSpPr>
          <p:nvPr/>
        </p:nvSpPr>
        <p:spPr>
          <a:xfrm>
            <a:off x="4591050" y="12954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Ниво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45A5D8-4E89-4C8B-B95B-E60CB4941649}"/>
              </a:ext>
            </a:extLst>
          </p:cNvPr>
          <p:cNvSpPr>
            <a:spLocks noGrp="1"/>
          </p:cNvSpPr>
          <p:nvPr/>
        </p:nvSpPr>
        <p:spPr>
          <a:xfrm>
            <a:off x="4591050" y="1657350"/>
            <a:ext cx="29908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Проверете празно съобщение и не го изпращайте.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03056C-C0F8-4E03-BB56-DFA906977E5B}"/>
              </a:ext>
            </a:extLst>
          </p:cNvPr>
          <p:cNvSpPr>
            <a:spLocks noGrp="1"/>
          </p:cNvSpPr>
          <p:nvPr/>
        </p:nvSpPr>
        <p:spPr>
          <a:xfrm>
            <a:off x="8229600" y="1181100"/>
            <a:ext cx="3333750" cy="1752600"/>
          </a:xfrm>
          <a:prstGeom prst="roundRect">
            <a:avLst>
              <a:gd name="adj" fmla="val 4348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1D7822-77FB-472A-932D-5908F93E8DF3}"/>
              </a:ext>
            </a:extLst>
          </p:cNvPr>
          <p:cNvSpPr>
            <a:spLocks noGrp="1"/>
          </p:cNvSpPr>
          <p:nvPr/>
        </p:nvSpPr>
        <p:spPr>
          <a:xfrm>
            <a:off x="8401050" y="1295400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Ниво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D67C98-0014-416B-A606-6D796229362F}"/>
              </a:ext>
            </a:extLst>
          </p:cNvPr>
          <p:cNvSpPr>
            <a:spLocks noGrp="1"/>
          </p:cNvSpPr>
          <p:nvPr/>
        </p:nvSpPr>
        <p:spPr>
          <a:xfrm>
            <a:off x="8401050" y="1657350"/>
            <a:ext cx="299085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Позволете server да приеме нов client след приключване на стария.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D7EB1E-7DF7-4043-933F-5FFECC037BE5}"/>
              </a:ext>
            </a:extLst>
          </p:cNvPr>
          <p:cNvSpPr>
            <a:spLocks noGrp="1"/>
          </p:cNvSpPr>
          <p:nvPr/>
        </p:nvSpPr>
        <p:spPr>
          <a:xfrm>
            <a:off x="1562100" y="3600450"/>
            <a:ext cx="9067800" cy="838200"/>
          </a:xfrm>
          <a:prstGeom prst="roundRect">
            <a:avLst>
              <a:gd name="adj" fmla="val 9091"/>
            </a:avLst>
          </a:prstGeom>
          <a:solidFill>
            <a:srgbClr val="172033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39F7C8-3212-4264-AEF2-FC6E2DE26FD1}"/>
              </a:ext>
            </a:extLst>
          </p:cNvPr>
          <p:cNvSpPr>
            <a:spLocks noGrp="1"/>
          </p:cNvSpPr>
          <p:nvPr/>
        </p:nvSpPr>
        <p:spPr>
          <a:xfrm>
            <a:off x="1733550" y="3695700"/>
            <a:ext cx="872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ПОДСКАЗКА ЗА НИВО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57FBA6-5210-49F6-9D68-4F66FB2FD808}"/>
              </a:ext>
            </a:extLst>
          </p:cNvPr>
          <p:cNvSpPr>
            <a:spLocks noGrp="1"/>
          </p:cNvSpPr>
          <p:nvPr/>
        </p:nvSpPr>
        <p:spPr>
          <a:xfrm>
            <a:off x="1752600" y="3962400"/>
            <a:ext cx="86868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Console.WriteLine($"[{DateTime.Now:HH:mm:ss}] {userName}: {message}");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4722A2-9ECA-4DD3-A2F0-A83883FACA8C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Предизвикателство: какво трябва да обградим с външен цикъл, за да приемем следващ клиент?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F2EFB9-A9D9-4D4A-BA17-10C83880B6F4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Множество едновременни клиенти остават извън задължителната задача.</a:t>
            </a:r>
          </a:p>
        </p:txBody>
      </p:sp>
    </p:spTree>
    <p:extLst>
      <p:ext uri="{BB962C8B-B14F-4D97-AF65-F5344CB8AC3E}">
        <p14:creationId xmlns:p14="http://schemas.microsoft.com/office/powerpoint/2010/main" val="870175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E947770-B076-4126-B5D5-D2E00CF385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E9B72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654178-E3BB-46A0-85C9-11D0E9B74232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9334500" cy="533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Обобщение и изходен билет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050FD8-EA19-41C2-B6F8-8769C8F6C077}"/>
              </a:ext>
            </a:extLst>
          </p:cNvPr>
          <p:cNvSpPr>
            <a:spLocks noGrp="1"/>
          </p:cNvSpPr>
          <p:nvPr/>
        </p:nvSpPr>
        <p:spPr>
          <a:xfrm>
            <a:off x="9810750" y="266700"/>
            <a:ext cx="17907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КРАЙ НА ПРОЕКТА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4FD42D-EECF-4DC9-8E3E-2B6FB91311FE}"/>
              </a:ext>
            </a:extLst>
          </p:cNvPr>
          <p:cNvSpPr>
            <a:spLocks noGrp="1"/>
          </p:cNvSpPr>
          <p:nvPr/>
        </p:nvSpPr>
        <p:spPr>
          <a:xfrm>
            <a:off x="11144250" y="62674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528CC7-BBB8-42E4-B164-0D9F255963A8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EAF4F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3C4D3-12E9-4499-B97E-75C4338F9038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TcpListener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03A9FE-BCA2-4530-9FEC-191C325E1345}"/>
              </a:ext>
            </a:extLst>
          </p:cNvPr>
          <p:cNvSpPr>
            <a:spLocks noGrp="1"/>
          </p:cNvSpPr>
          <p:nvPr/>
        </p:nvSpPr>
        <p:spPr>
          <a:xfrm>
            <a:off x="704850" y="188595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слуша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960490-0F9C-47C8-B857-4869D4F5532C}"/>
              </a:ext>
            </a:extLst>
          </p:cNvPr>
          <p:cNvSpPr>
            <a:spLocks noGrp="1"/>
          </p:cNvSpPr>
          <p:nvPr/>
        </p:nvSpPr>
        <p:spPr>
          <a:xfrm>
            <a:off x="3224213" y="169545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06B6BD-92F1-4E7F-9FCA-0BECA0D730D3}"/>
              </a:ext>
            </a:extLst>
          </p:cNvPr>
          <p:cNvSpPr>
            <a:spLocks noGrp="1"/>
          </p:cNvSpPr>
          <p:nvPr/>
        </p:nvSpPr>
        <p:spPr>
          <a:xfrm>
            <a:off x="3395663" y="148590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FFF4E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058ECE-87B0-426B-BA2C-9D7891ABDECF}"/>
              </a:ext>
            </a:extLst>
          </p:cNvPr>
          <p:cNvSpPr>
            <a:spLocks noGrp="1"/>
          </p:cNvSpPr>
          <p:nvPr/>
        </p:nvSpPr>
        <p:spPr>
          <a:xfrm>
            <a:off x="3490913" y="158115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TcpClient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4E76D4-0F04-48BC-9FE8-7275A2248A8F}"/>
              </a:ext>
            </a:extLst>
          </p:cNvPr>
          <p:cNvSpPr>
            <a:spLocks noGrp="1"/>
          </p:cNvSpPr>
          <p:nvPr/>
        </p:nvSpPr>
        <p:spPr>
          <a:xfrm>
            <a:off x="3490913" y="188595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свързва се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04C1C2-89BB-465A-9B18-118A4F3E200D}"/>
              </a:ext>
            </a:extLst>
          </p:cNvPr>
          <p:cNvSpPr>
            <a:spLocks noGrp="1"/>
          </p:cNvSpPr>
          <p:nvPr/>
        </p:nvSpPr>
        <p:spPr>
          <a:xfrm>
            <a:off x="6010275" y="169545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775105-9C4F-4945-B247-DAC826D118A4}"/>
              </a:ext>
            </a:extLst>
          </p:cNvPr>
          <p:cNvSpPr>
            <a:spLocks noGrp="1"/>
          </p:cNvSpPr>
          <p:nvPr/>
        </p:nvSpPr>
        <p:spPr>
          <a:xfrm>
            <a:off x="6181725" y="148590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F4EE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9B7C33-8F4C-41AF-B12F-8BE177CAE922}"/>
              </a:ext>
            </a:extLst>
          </p:cNvPr>
          <p:cNvSpPr>
            <a:spLocks noGrp="1"/>
          </p:cNvSpPr>
          <p:nvPr/>
        </p:nvSpPr>
        <p:spPr>
          <a:xfrm>
            <a:off x="6276975" y="158115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NetworkStream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47C5D8-197D-476C-9853-CFEAFE61E9E7}"/>
              </a:ext>
            </a:extLst>
          </p:cNvPr>
          <p:cNvSpPr>
            <a:spLocks noGrp="1"/>
          </p:cNvSpPr>
          <p:nvPr/>
        </p:nvSpPr>
        <p:spPr>
          <a:xfrm>
            <a:off x="6276975" y="188595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пренася bytes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9AECEF-D3F8-46EB-BB4A-3C5F8AFEB934}"/>
              </a:ext>
            </a:extLst>
          </p:cNvPr>
          <p:cNvSpPr>
            <a:spLocks noGrp="1"/>
          </p:cNvSpPr>
          <p:nvPr/>
        </p:nvSpPr>
        <p:spPr>
          <a:xfrm>
            <a:off x="8796338" y="1695450"/>
            <a:ext cx="1714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"/>
          </a:bodyPr>
          <a:lstStyle/>
          <a:p>
            <a:pPr algn="ctr">
              <a:def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6EBB96-590C-4715-9BCD-F20CBC16D977}"/>
              </a:ext>
            </a:extLst>
          </p:cNvPr>
          <p:cNvSpPr>
            <a:spLocks noGrp="1"/>
          </p:cNvSpPr>
          <p:nvPr/>
        </p:nvSpPr>
        <p:spPr>
          <a:xfrm>
            <a:off x="8967788" y="1485900"/>
            <a:ext cx="2614613" cy="876300"/>
          </a:xfrm>
          <a:prstGeom prst="roundRect">
            <a:avLst>
              <a:gd name="adj" fmla="val 8696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813A52-67F2-4CF1-B105-46E90686E7FA}"/>
              </a:ext>
            </a:extLst>
          </p:cNvPr>
          <p:cNvSpPr>
            <a:spLocks noGrp="1"/>
          </p:cNvSpPr>
          <p:nvPr/>
        </p:nvSpPr>
        <p:spPr>
          <a:xfrm>
            <a:off x="9063038" y="1581150"/>
            <a:ext cx="2424113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Read/WriteLine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D74F8B-5CA5-4DC3-94FA-F6EE832F6974}"/>
              </a:ext>
            </a:extLst>
          </p:cNvPr>
          <p:cNvSpPr>
            <a:spLocks noGrp="1"/>
          </p:cNvSpPr>
          <p:nvPr/>
        </p:nvSpPr>
        <p:spPr>
          <a:xfrm>
            <a:off x="9063038" y="1885950"/>
            <a:ext cx="2424113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chat protocol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68AAFFB-0A00-4CA9-BC44-87AA5269357B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10210800" cy="1181100"/>
          </a:xfrm>
          <a:prstGeom prst="roundRect">
            <a:avLst>
              <a:gd name="adj" fmla="val 6452"/>
            </a:avLst>
          </a:prstGeom>
          <a:solidFill>
            <a:srgbClr val="F3F6FA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DBE337-2F56-40BC-87EA-98F98899BD99}"/>
              </a:ext>
            </a:extLst>
          </p:cNvPr>
          <p:cNvSpPr>
            <a:spLocks noGrp="1"/>
          </p:cNvSpPr>
          <p:nvPr/>
        </p:nvSpPr>
        <p:spPr>
          <a:xfrm>
            <a:off x="1219200" y="312420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Изходен билет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04841E-7990-45F4-8EB8-F8027C71D397}"/>
              </a:ext>
            </a:extLst>
          </p:cNvPr>
          <p:cNvSpPr>
            <a:spLocks noGrp="1"/>
          </p:cNvSpPr>
          <p:nvPr/>
        </p:nvSpPr>
        <p:spPr>
          <a:xfrm>
            <a:off x="1219200" y="3505200"/>
            <a:ext cx="9525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48"/>
          </a:bodyPr>
          <a:lstStyle/>
          <a:p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Защо IP адресът и портът са нужни едновременно и защо client/server трябва да спазват един и същ ред на четене и писане?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880AE4-61CF-47CC-A1E7-2466B4DD6F55}"/>
              </a:ext>
            </a:extLst>
          </p:cNvPr>
          <p:cNvSpPr>
            <a:spLocks noGrp="1"/>
          </p:cNvSpPr>
          <p:nvPr/>
        </p:nvSpPr>
        <p:spPr>
          <a:xfrm>
            <a:off x="1562100" y="4610100"/>
            <a:ext cx="9067800" cy="895350"/>
          </a:xfrm>
          <a:prstGeom prst="roundRect">
            <a:avLst>
              <a:gd name="adj" fmla="val 8511"/>
            </a:avLst>
          </a:prstGeom>
          <a:solidFill>
            <a:srgbClr val="EDF8F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C76711-EA85-42A2-B26D-B201003E4DBC}"/>
              </a:ext>
            </a:extLst>
          </p:cNvPr>
          <p:cNvSpPr>
            <a:spLocks noGrp="1"/>
          </p:cNvSpPr>
          <p:nvPr/>
        </p:nvSpPr>
        <p:spPr>
          <a:xfrm>
            <a:off x="1809750" y="4762500"/>
            <a:ext cx="8572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Следващият цялостен web проект ще започне отделно и ще се развива заедно с HTML, CSS, JavaScript, MVC, база данни и REST API.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F2D38D-E2CB-4174-B3C6-FAD9198021E5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ctr">
              <a:def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Запазете двата проекта като пример за директна TCP client-server комуникация.</a:t>
            </a:r>
          </a:p>
        </p:txBody>
      </p:sp>
    </p:spTree>
    <p:extLst>
      <p:ext uri="{BB962C8B-B14F-4D97-AF65-F5344CB8AC3E}">
        <p14:creationId xmlns:p14="http://schemas.microsoft.com/office/powerpoint/2010/main" val="18695178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2470</Words>
  <Application>Microsoft Office PowerPoint</Application>
  <DocSecurity>0</DocSecurity>
  <PresentationFormat>Widescreen</PresentationFormat>
  <Paragraphs>418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4</cp:revision>
  <dcterms:created xsi:type="dcterms:W3CDTF">2026-10-05T18:51:02Z</dcterms:created>
  <dcterms:modified xsi:type="dcterms:W3CDTF">2026-10-05T19:42:32Z</dcterms:modified>
</cp:coreProperties>
</file>