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325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680960" y="228600"/>
            <a:ext cx="4114800" cy="4114800"/>
          </a:xfrm>
          <a:prstGeom prst="arc">
            <a:avLst/>
          </a:prstGeom>
          <a:solidFill>
            <a:srgbClr val="20B8CD">
              <a:alpha val="85000"/>
            </a:srgbClr>
          </a:solidFill>
          <a:ln w="12700">
            <a:solidFill>
              <a:srgbClr val="20B8C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2600000">
            <a:off x="8366760" y="2971800"/>
            <a:ext cx="3383280" cy="3383280"/>
          </a:xfrm>
          <a:prstGeom prst="arc">
            <a:avLst/>
          </a:prstGeom>
          <a:solidFill>
            <a:srgbClr val="176BCE"/>
          </a:solidFill>
          <a:ln w="12700">
            <a:solidFill>
              <a:srgbClr val="176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58368" y="566928"/>
            <a:ext cx="3730752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3584448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Учебна практика • Интернет програмиране • 12. клас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690372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Основи на интернет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76656" y="2212848"/>
            <a:ext cx="699516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B9EAF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Мрежови протоколи и HTTP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85800" y="5413248"/>
            <a:ext cx="48006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3CCD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 учебни часа  |  90 минути  |  теория + практика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870448"/>
            <a:ext cx="36576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93A2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Ахмед Матем Ахмед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Какво ще можем след двата часа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0B8C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143000"/>
            <a:ext cx="5308092" cy="1554480"/>
          </a:xfrm>
          <a:prstGeom prst="roundRect">
            <a:avLst>
              <a:gd name="adj" fmla="val 2941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41248" y="127101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Интернет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682496"/>
            <a:ext cx="4942332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Разграничаваме интернет, уеб и отделна мрежа.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22492" y="1143000"/>
            <a:ext cx="5308092" cy="1554480"/>
          </a:xfrm>
          <a:prstGeom prst="roundRect">
            <a:avLst>
              <a:gd name="adj" fmla="val 2941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5372" y="127101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Протоколи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5372" y="1682496"/>
            <a:ext cx="4942332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Обясняваме защо са нужни общи правила.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2990088"/>
            <a:ext cx="5308092" cy="1554480"/>
          </a:xfrm>
          <a:prstGeom prst="roundRect">
            <a:avLst>
              <a:gd name="adj" fmla="val 2941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41248" y="311810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3529584"/>
            <a:ext cx="4942332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Разчитаме заявка, отговор и код за състояние.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22492" y="2990088"/>
            <a:ext cx="5308092" cy="1554480"/>
          </a:xfrm>
          <a:prstGeom prst="roundRect">
            <a:avLst>
              <a:gd name="adj" fmla="val 2941"/>
            </a:avLst>
          </a:prstGeom>
          <a:solidFill>
            <a:srgbClr val="F4EEFA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05372" y="311810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Практика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5372" y="3529584"/>
            <a:ext cx="4942332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Наблюдаваме трафик в браузъра и изпращаме заявка.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Интернет, мрежа и Web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188720"/>
            <a:ext cx="3453384" cy="2423160"/>
          </a:xfrm>
          <a:prstGeom prst="roundRect">
            <a:avLst>
              <a:gd name="adj" fmla="val 188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41248" y="131673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Компютърна мрежа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728216"/>
            <a:ext cx="3087624" cy="1764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Свързани устройства, които обменят данни и споделят ресурси.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67784" y="1188720"/>
            <a:ext cx="3453384" cy="2423160"/>
          </a:xfrm>
          <a:prstGeom prst="roundRect">
            <a:avLst>
              <a:gd name="adj" fmla="val 188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50664" y="131673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Интернет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50664" y="1728216"/>
            <a:ext cx="3087624" cy="1764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Глобална система от взаимосвързани мрежи, които използват IP.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77200" y="1188720"/>
            <a:ext cx="3453384" cy="2423160"/>
          </a:xfrm>
          <a:prstGeom prst="roundRect">
            <a:avLst>
              <a:gd name="adj" fmla="val 1887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260080" y="131673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World Wide Web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60080" y="1728216"/>
            <a:ext cx="3087624" cy="1764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Уеб ресурси, свързани чрез адреси и достъпвани основно с HTTP.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343400"/>
            <a:ext cx="1014984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Web е услуга върху интернет. Интернет включва и други услуги.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Какво участва при отваряне на сайт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0B8C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572768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EAF4FB"/>
          </a:solidFill>
          <a:ln w="1651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67512" y="1847088"/>
            <a:ext cx="16916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Клиент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" y="2304288"/>
            <a:ext cx="1691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браузърът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87752" y="2039112"/>
            <a:ext cx="228600" cy="384048"/>
          </a:xfrm>
          <a:prstGeom prst="chevron">
            <a:avLst/>
          </a:prstGeom>
          <a:solidFill>
            <a:srgbClr val="97A5B6"/>
          </a:solidFill>
          <a:ln w="12700">
            <a:solidFill>
              <a:srgbClr val="97A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862072" y="1572768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EDF8F5"/>
          </a:solidFill>
          <a:ln w="1651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999232" y="1847088"/>
            <a:ext cx="16916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99232" y="2304288"/>
            <a:ext cx="1691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намира IP адрес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19472" y="2039112"/>
            <a:ext cx="228600" cy="384048"/>
          </a:xfrm>
          <a:prstGeom prst="chevron">
            <a:avLst/>
          </a:prstGeom>
          <a:solidFill>
            <a:srgbClr val="97A5B6"/>
          </a:solidFill>
          <a:ln w="12700">
            <a:solidFill>
              <a:srgbClr val="97A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193792" y="1572768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EAF4FB"/>
          </a:solidFill>
          <a:ln w="1651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330952" y="1847088"/>
            <a:ext cx="16916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Мрежа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30952" y="2304288"/>
            <a:ext cx="1691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пренася данните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51192" y="2039112"/>
            <a:ext cx="228600" cy="384048"/>
          </a:xfrm>
          <a:prstGeom prst="chevron">
            <a:avLst/>
          </a:prstGeom>
          <a:solidFill>
            <a:srgbClr val="97A5B6"/>
          </a:solidFill>
          <a:ln w="12700">
            <a:solidFill>
              <a:srgbClr val="97A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525512" y="1572768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EDF8F5"/>
          </a:solidFill>
          <a:ln w="16510">
            <a:solidFill>
              <a:srgbClr val="F19A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662672" y="1847088"/>
            <a:ext cx="16916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Сървър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62672" y="2304288"/>
            <a:ext cx="1691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обработва заявката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582912" y="2039112"/>
            <a:ext cx="228600" cy="384048"/>
          </a:xfrm>
          <a:prstGeom prst="chevron">
            <a:avLst/>
          </a:prstGeom>
          <a:solidFill>
            <a:srgbClr val="97A5B6"/>
          </a:solidFill>
          <a:ln w="12700">
            <a:solidFill>
              <a:srgbClr val="97A5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9857232" y="1572768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EAF4FB"/>
          </a:solidFill>
          <a:ln w="1651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994392" y="1847088"/>
            <a:ext cx="16916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Ресурс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94392" y="2304288"/>
            <a:ext cx="1691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HTML, CSS, JSON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160520"/>
            <a:ext cx="10332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Потребителят вижда една страница, но браузърът може да изпрати десетки заявки.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065A8"/>
          </a:solidFill>
          <a:ln w="12700">
            <a:solidFill>
              <a:srgbClr val="8065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Мрежовият протокол задава общи правила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065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5212080" cy="2423160"/>
          </a:xfrm>
          <a:prstGeom prst="roundRect">
            <a:avLst>
              <a:gd name="adj" fmla="val 188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14400" y="1271016"/>
            <a:ext cx="48463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Протокол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682496"/>
            <a:ext cx="4846320" cy="1764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Определя формата на съобщенията, реда на обмена и действията при получаване или грешка.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143000"/>
            <a:ext cx="5212080" cy="2423160"/>
          </a:xfrm>
          <a:prstGeom prst="roundRect">
            <a:avLst>
              <a:gd name="adj" fmla="val 188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46520" y="1271016"/>
            <a:ext cx="48463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Аналогия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1682496"/>
            <a:ext cx="4846320" cy="1764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 телефонен разговор участниците използват общ език, представят се и спазват ред на говорене.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51960"/>
            <a:ext cx="1033272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8065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Без съвместими правила клиентът и сървърът не могат да се разберат.</a:t>
            </a:r>
            <a:endParaRPr 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Протоколи, които работят заедно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051560"/>
            <a:ext cx="5308092" cy="1828800"/>
          </a:xfrm>
          <a:prstGeom prst="roundRect">
            <a:avLst>
              <a:gd name="adj" fmla="val 2500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41248" y="117957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591056"/>
            <a:ext cx="4942332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Domain Name System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Име на домейн към IP адрес.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22492" y="1051560"/>
            <a:ext cx="5308092" cy="1828800"/>
          </a:xfrm>
          <a:prstGeom prst="roundRect">
            <a:avLst>
              <a:gd name="adj" fmla="val 2500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5372" y="117957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/ HTTPS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5372" y="1591056"/>
            <a:ext cx="4942332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HyperText Transfer Protocol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Обмен на уеб ресурси.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3172968"/>
            <a:ext cx="5308092" cy="1828800"/>
          </a:xfrm>
          <a:prstGeom prst="roundRect">
            <a:avLst>
              <a:gd name="adj" fmla="val 2500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41248" y="330098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TCP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3712464"/>
            <a:ext cx="4942332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Transmission Control Protocol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Надеждна доставка и портове.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22492" y="3172968"/>
            <a:ext cx="5308092" cy="1828800"/>
          </a:xfrm>
          <a:prstGeom prst="roundRect">
            <a:avLst>
              <a:gd name="adj" fmla="val 2500"/>
            </a:avLst>
          </a:prstGeom>
          <a:solidFill>
            <a:srgbClr val="FCEEEE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05372" y="330098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5372" y="3712464"/>
            <a:ext cx="4942332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Internet Protocol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Адресиране и маршрутизиране.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Клиент и сървър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4983480" cy="2514600"/>
          </a:xfrm>
          <a:prstGeom prst="roundRect">
            <a:avLst>
              <a:gd name="adj" fmla="val 1818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14400" y="1316736"/>
            <a:ext cx="46177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Клиент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728216"/>
            <a:ext cx="4617720" cy="1856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Инициира комуникацията. Изпраща заявка за ресурс или действие.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Пример: браузър, мобилно приложение.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73952" y="1188720"/>
            <a:ext cx="4983480" cy="2514600"/>
          </a:xfrm>
          <a:prstGeom prst="roundRect">
            <a:avLst>
              <a:gd name="adj" fmla="val 1818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656832" y="1316736"/>
            <a:ext cx="46177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Сървър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56832" y="1728216"/>
            <a:ext cx="4617720" cy="1856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Слуша на определен порт, обработва заявката и връща отговор.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Пример: уеб сървър или Web API.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74520" y="4251960"/>
            <a:ext cx="18288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Заявка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94760" y="4297680"/>
            <a:ext cx="1554480" cy="320040"/>
          </a:xfrm>
          <a:prstGeom prst="chevron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430768" y="4251960"/>
            <a:ext cx="18288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Отговор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6839712" y="4800600"/>
            <a:ext cx="1554480" cy="320040"/>
          </a:xfrm>
          <a:prstGeom prst="chevron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 адреса до сървъра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0B8C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" y="1261872"/>
            <a:ext cx="2039112" cy="2212848"/>
          </a:xfrm>
          <a:prstGeom prst="roundRect">
            <a:avLst>
              <a:gd name="adj" fmla="val 2242"/>
            </a:avLst>
          </a:prstGeom>
          <a:solidFill>
            <a:srgbClr val="EAF4FB"/>
          </a:solidFill>
          <a:ln w="1524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13232" y="1517904"/>
            <a:ext cx="32918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" y="1993392"/>
            <a:ext cx="1572768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URL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8368" y="2569464"/>
            <a:ext cx="1673352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https://example.com/page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16352" y="1261872"/>
            <a:ext cx="2039112" cy="2212848"/>
          </a:xfrm>
          <a:prstGeom prst="roundRect">
            <a:avLst>
              <a:gd name="adj" fmla="val 2242"/>
            </a:avLst>
          </a:prstGeom>
          <a:solidFill>
            <a:srgbClr val="EDF8F5"/>
          </a:solidFill>
          <a:ln w="1524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980944" y="1463040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054096" y="1517904"/>
            <a:ext cx="32918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44952" y="1993392"/>
            <a:ext cx="1572768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DNS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999232" y="2569464"/>
            <a:ext cx="1673352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example.com → IP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57216" y="1261872"/>
            <a:ext cx="2039112" cy="2212848"/>
          </a:xfrm>
          <a:prstGeom prst="roundRect">
            <a:avLst>
              <a:gd name="adj" fmla="val 2242"/>
            </a:avLst>
          </a:prstGeom>
          <a:solidFill>
            <a:srgbClr val="EAF4FB"/>
          </a:solidFill>
          <a:ln w="1524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321808" y="1463040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394960" y="1517904"/>
            <a:ext cx="32918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85816" y="1993392"/>
            <a:ext cx="1572768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TCP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340096" y="2569464"/>
            <a:ext cx="1673352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връзка към порт 443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0" y="1261872"/>
            <a:ext cx="2039112" cy="2212848"/>
          </a:xfrm>
          <a:prstGeom prst="roundRect">
            <a:avLst>
              <a:gd name="adj" fmla="val 2242"/>
            </a:avLst>
          </a:prstGeom>
          <a:solidFill>
            <a:srgbClr val="EDF8F5"/>
          </a:solidFill>
          <a:ln w="15240">
            <a:solidFill>
              <a:srgbClr val="F19A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662672" y="1463040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735824" y="1517904"/>
            <a:ext cx="32918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26680" y="1993392"/>
            <a:ext cx="1572768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680960" y="2569464"/>
            <a:ext cx="1673352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заявка за /page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838944" y="1261872"/>
            <a:ext cx="2039112" cy="2212848"/>
          </a:xfrm>
          <a:prstGeom prst="roundRect">
            <a:avLst>
              <a:gd name="adj" fmla="val 2242"/>
            </a:avLst>
          </a:prstGeom>
          <a:solidFill>
            <a:srgbClr val="EAF4FB"/>
          </a:solidFill>
          <a:ln w="1524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0003536" y="1463040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0076688" y="1517904"/>
            <a:ext cx="32918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67544" y="1993392"/>
            <a:ext cx="1572768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Отговор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0021824" y="2569464"/>
            <a:ext cx="1673352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код, заглавни части, съдържание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37560" y="4160520"/>
            <a:ext cx="54864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0B8C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URL = Uniform Resource Locator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Структура на URL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170432"/>
            <a:ext cx="10789920" cy="713232"/>
          </a:xfrm>
          <a:prstGeom prst="roundRect">
            <a:avLst>
              <a:gd name="adj" fmla="val 5128"/>
            </a:avLst>
          </a:prstGeom>
          <a:solidFill>
            <a:srgbClr val="F3F6FA"/>
          </a:solidFill>
          <a:ln w="15240">
            <a:solidFill>
              <a:srgbClr val="C9D5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102870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https://school.example:443/resources?id=25#details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" y="2514600"/>
            <a:ext cx="3401568" cy="987552"/>
          </a:xfrm>
          <a:prstGeom prst="roundRect">
            <a:avLst>
              <a:gd name="adj" fmla="val 4630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41248" y="2642616"/>
            <a:ext cx="303580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3054096"/>
            <a:ext cx="303580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схема / протокол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61688" y="2514600"/>
            <a:ext cx="3401568" cy="987552"/>
          </a:xfrm>
          <a:prstGeom prst="roundRect">
            <a:avLst>
              <a:gd name="adj" fmla="val 4630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44568" y="2642616"/>
            <a:ext cx="303580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school.example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44568" y="3054096"/>
            <a:ext cx="303580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хост / домейн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65008" y="2514600"/>
            <a:ext cx="3401568" cy="987552"/>
          </a:xfrm>
          <a:prstGeom prst="roundRect">
            <a:avLst>
              <a:gd name="adj" fmla="val 4630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247888" y="2642616"/>
            <a:ext cx="303580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443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47888" y="3054096"/>
            <a:ext cx="303580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порт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3813048"/>
            <a:ext cx="3401568" cy="987552"/>
          </a:xfrm>
          <a:prstGeom prst="roundRect">
            <a:avLst>
              <a:gd name="adj" fmla="val 4630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41248" y="3941064"/>
            <a:ext cx="303580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/resources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4352544"/>
            <a:ext cx="303580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61688" y="3813048"/>
            <a:ext cx="3401568" cy="987552"/>
          </a:xfrm>
          <a:prstGeom prst="roundRect">
            <a:avLst>
              <a:gd name="adj" fmla="val 4630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544568" y="3941064"/>
            <a:ext cx="303580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?id=25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44568" y="4352544"/>
            <a:ext cx="303580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параметър на заявката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65008" y="3813048"/>
            <a:ext cx="3401568" cy="987552"/>
          </a:xfrm>
          <a:prstGeom prst="roundRect">
            <a:avLst>
              <a:gd name="adj" fmla="val 4630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247888" y="3941064"/>
            <a:ext cx="303580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#details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47888" y="4352544"/>
            <a:ext cx="303580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фрагмент в документа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Първа практическа проверка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9144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04672" y="969264"/>
            <a:ext cx="12710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 минути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4864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Отворете браузъра и изпълнете: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8368" y="2057400"/>
            <a:ext cx="5308092" cy="1234440"/>
          </a:xfrm>
          <a:prstGeom prst="roundRect">
            <a:avLst>
              <a:gd name="adj" fmla="val 3704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41248" y="218541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4942332" cy="576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Отворете избран публичен сайт.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22492" y="2057400"/>
            <a:ext cx="5308092" cy="1234440"/>
          </a:xfrm>
          <a:prstGeom prst="roundRect">
            <a:avLst>
              <a:gd name="adj" fmla="val 3704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5372" y="218541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5372" y="2596896"/>
            <a:ext cx="4942332" cy="576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Натиснете F12 и изберете Network.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3584448"/>
            <a:ext cx="5308092" cy="1234440"/>
          </a:xfrm>
          <a:prstGeom prst="roundRect">
            <a:avLst>
              <a:gd name="adj" fmla="val 3704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41248" y="371246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" y="4123944"/>
            <a:ext cx="4942332" cy="576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Презаредете страницата.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22492" y="3584448"/>
            <a:ext cx="5308092" cy="1234440"/>
          </a:xfrm>
          <a:prstGeom prst="roundRect">
            <a:avLst>
              <a:gd name="adj" fmla="val 3704"/>
            </a:avLst>
          </a:prstGeom>
          <a:solidFill>
            <a:srgbClr val="F4EEFA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05372" y="371246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5372" y="4123944"/>
            <a:ext cx="4942332" cy="576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Намерете заявката с тип document.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5010912"/>
            <a:ext cx="10058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Запишете: URL, Method, Status Code и Remote Address.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Проверка след първия час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КРАЙ НА ЧАС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097280"/>
            <a:ext cx="5349240" cy="1417320"/>
          </a:xfrm>
          <a:prstGeom prst="roundRect">
            <a:avLst>
              <a:gd name="adj" fmla="val 3226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41248" y="1225296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636776"/>
            <a:ext cx="4983480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Internet и Web едно и също ли са?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45936" y="1097280"/>
            <a:ext cx="5349240" cy="1417320"/>
          </a:xfrm>
          <a:prstGeom prst="roundRect">
            <a:avLst>
              <a:gd name="adj" fmla="val 3226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528816" y="1225296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28816" y="1636776"/>
            <a:ext cx="4983480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Каква задача изпълнява DNS?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2971800"/>
            <a:ext cx="5349240" cy="1417320"/>
          </a:xfrm>
          <a:prstGeom prst="roundRect">
            <a:avLst>
              <a:gd name="adj" fmla="val 3226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41248" y="3099816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3511296"/>
            <a:ext cx="4983480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Коя страна изпраща заявката?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45936" y="2971800"/>
            <a:ext cx="5349240" cy="1417320"/>
          </a:xfrm>
          <a:prstGeom prst="roundRect">
            <a:avLst>
              <a:gd name="adj" fmla="val 3226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528816" y="3099816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28816" y="3511296"/>
            <a:ext cx="4983480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Къде виждаме HTTP трафика в браузъра?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17520" y="5138928"/>
            <a:ext cx="61264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Пауза между двата учебни часа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работи чрез заявка и отговор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0B8C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ВТОРИ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4983480" cy="2377440"/>
          </a:xfrm>
          <a:prstGeom prst="roundRect">
            <a:avLst>
              <a:gd name="adj" fmla="val 1923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14400" y="1271016"/>
            <a:ext cx="46177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заявка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682496"/>
            <a:ext cx="4617720" cy="1719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Метод, адрес на ресурса, версия, заглавни части и понякога тяло.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73952" y="1143000"/>
            <a:ext cx="4983480" cy="2377440"/>
          </a:xfrm>
          <a:prstGeom prst="roundRect">
            <a:avLst>
              <a:gd name="adj" fmla="val 1923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656832" y="1271016"/>
            <a:ext cx="46177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отговор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56832" y="1682496"/>
            <a:ext cx="4617720" cy="1719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Версия, код за състояние, заглавни части и обикновено тяло.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10332720" cy="113351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B8C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е stateless: всяка заявка се разглежда като самостоятелна.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Анатомия на HTTP заявка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ВТОРИ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960120"/>
            <a:ext cx="5669280" cy="4526280"/>
          </a:xfrm>
          <a:prstGeom prst="roundRect">
            <a:avLst>
              <a:gd name="adj" fmla="val 808"/>
            </a:avLst>
          </a:prstGeom>
          <a:solidFill>
            <a:srgbClr val="F3F6FA"/>
          </a:solidFill>
          <a:ln w="12700">
            <a:solidFill>
              <a:srgbClr val="CBD7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5074920" cy="2423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GET /products/25 HTTP/1.1
Host: api.example.com
Accept: application/json
User-Agent: Mozilla/5.0
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12280" y="1051560"/>
            <a:ext cx="4297680" cy="1143000"/>
          </a:xfrm>
          <a:prstGeom prst="roundRect">
            <a:avLst>
              <a:gd name="adj" fmla="val 4000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995160" y="1179576"/>
            <a:ext cx="39319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Начален ред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95160" y="1591056"/>
            <a:ext cx="3931920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Метод + път + версия на HTTP.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12280" y="2487168"/>
            <a:ext cx="4297680" cy="1325880"/>
          </a:xfrm>
          <a:prstGeom prst="roundRect">
            <a:avLst>
              <a:gd name="adj" fmla="val 3448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995160" y="2615184"/>
            <a:ext cx="39319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Headers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95160" y="3026664"/>
            <a:ext cx="3931920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Допълнителни данни за клиента, формата и заявката.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12280" y="4105656"/>
            <a:ext cx="4297680" cy="1143000"/>
          </a:xfrm>
          <a:prstGeom prst="roundRect">
            <a:avLst>
              <a:gd name="adj" fmla="val 4000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995160" y="4233672"/>
            <a:ext cx="39319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Body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95160" y="4645152"/>
            <a:ext cx="3931920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Незадължително съдържание. При GET обикновено липсва.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Анатомия на HTTP отговор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ВТОРИ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960120"/>
            <a:ext cx="5669280" cy="4526280"/>
          </a:xfrm>
          <a:prstGeom prst="roundRect">
            <a:avLst>
              <a:gd name="adj" fmla="val 808"/>
            </a:avLst>
          </a:prstGeom>
          <a:solidFill>
            <a:srgbClr val="F3F6FA"/>
          </a:solidFill>
          <a:ln w="12700">
            <a:solidFill>
              <a:srgbClr val="CBD7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5074920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HTTP/1.1 200 OK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Content-Type: application/json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Content-Length: 42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{ "id": 25, "name": "Book" }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12280" y="1051560"/>
            <a:ext cx="4297680" cy="1143000"/>
          </a:xfrm>
          <a:prstGeom prst="roundRect">
            <a:avLst>
              <a:gd name="adj" fmla="val 4000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995160" y="1179576"/>
            <a:ext cx="39319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Status line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95160" y="1591056"/>
            <a:ext cx="3931920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Версия + код + кратко описание.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12280" y="2487168"/>
            <a:ext cx="4297680" cy="1325880"/>
          </a:xfrm>
          <a:prstGeom prst="roundRect">
            <a:avLst>
              <a:gd name="adj" fmla="val 3448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995160" y="2615184"/>
            <a:ext cx="39319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Headers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95160" y="3026664"/>
            <a:ext cx="3931920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Тип, размер, кеширане и друга метаинформация.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12280" y="4105656"/>
            <a:ext cx="4297680" cy="1143000"/>
          </a:xfrm>
          <a:prstGeom prst="roundRect">
            <a:avLst>
              <a:gd name="adj" fmla="val 4000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995160" y="4233672"/>
            <a:ext cx="39319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Body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95160" y="4645152"/>
            <a:ext cx="3931920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Ресурсът или данните, които сървърът връща.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Кодове за състояние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ВТОРИ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88720" y="868680"/>
            <a:ext cx="9784080" cy="731520"/>
          </a:xfrm>
          <a:prstGeom prst="roundRect">
            <a:avLst>
              <a:gd name="adj" fmla="val 5000"/>
            </a:avLst>
          </a:prstGeom>
          <a:solidFill>
            <a:srgbClr val="F4EEFA"/>
          </a:solidFill>
          <a:ln w="12700">
            <a:solidFill>
              <a:srgbClr val="D3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444752" y="105156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517904" y="1106424"/>
            <a:ext cx="8138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1xx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1024128"/>
            <a:ext cx="22402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Информация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64608" y="1024128"/>
            <a:ext cx="54406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заявката продължава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1856232"/>
            <a:ext cx="9784080" cy="731520"/>
          </a:xfrm>
          <a:prstGeom prst="roundRect">
            <a:avLst>
              <a:gd name="adj" fmla="val 5000"/>
            </a:avLst>
          </a:prstGeom>
          <a:solidFill>
            <a:srgbClr val="EDF8F5"/>
          </a:solidFill>
          <a:ln w="12700">
            <a:solidFill>
              <a:srgbClr val="D3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444752" y="2039112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517904" y="2093976"/>
            <a:ext cx="8138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2xx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011680"/>
            <a:ext cx="22402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Успех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64608" y="2011680"/>
            <a:ext cx="54406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200 OK, 201 Created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2843784"/>
            <a:ext cx="9784080" cy="731520"/>
          </a:xfrm>
          <a:prstGeom prst="roundRect">
            <a:avLst>
              <a:gd name="adj" fmla="val 5000"/>
            </a:avLst>
          </a:prstGeom>
          <a:solidFill>
            <a:srgbClr val="EAF4FB"/>
          </a:solidFill>
          <a:ln w="12700">
            <a:solidFill>
              <a:srgbClr val="D3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444752" y="3026664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517904" y="3081528"/>
            <a:ext cx="8138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3xx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2999232"/>
            <a:ext cx="22402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Пренасочване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64608" y="2999232"/>
            <a:ext cx="54406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301 Moved Permanently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88720" y="3831336"/>
            <a:ext cx="9784080" cy="731520"/>
          </a:xfrm>
          <a:prstGeom prst="roundRect">
            <a:avLst>
              <a:gd name="adj" fmla="val 5000"/>
            </a:avLst>
          </a:prstGeom>
          <a:solidFill>
            <a:srgbClr val="FFF4E8"/>
          </a:solidFill>
          <a:ln w="12700">
            <a:solidFill>
              <a:srgbClr val="D3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444752" y="4014216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517904" y="4069080"/>
            <a:ext cx="8138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4xx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3986784"/>
            <a:ext cx="22402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Грешка на клиента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64608" y="3986784"/>
            <a:ext cx="54406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400 Bad Request, 404 Not Found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88720" y="4818888"/>
            <a:ext cx="9784080" cy="731520"/>
          </a:xfrm>
          <a:prstGeom prst="roundRect">
            <a:avLst>
              <a:gd name="adj" fmla="val 5000"/>
            </a:avLst>
          </a:prstGeom>
          <a:solidFill>
            <a:srgbClr val="FCEEEE"/>
          </a:solidFill>
          <a:ln w="12700">
            <a:solidFill>
              <a:srgbClr val="D3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444752" y="5001768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517904" y="5056632"/>
            <a:ext cx="8138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5xx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51760" y="4974336"/>
            <a:ext cx="22402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Грешка на сървъра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864608" y="4974336"/>
            <a:ext cx="54406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500 Internal Server Error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065A8"/>
          </a:solidFill>
          <a:ln w="12700">
            <a:solidFill>
              <a:srgbClr val="8065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и HTTPS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065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ВТОРИ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4983480" cy="2423160"/>
          </a:xfrm>
          <a:prstGeom prst="roundRect">
            <a:avLst>
              <a:gd name="adj" fmla="val 1887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14400" y="1316736"/>
            <a:ext cx="46177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728216"/>
            <a:ext cx="4617720" cy="1764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Данните преминават без TLS защита. Стандартният порт е 80.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73952" y="1188720"/>
            <a:ext cx="4983480" cy="2423160"/>
          </a:xfrm>
          <a:prstGeom prst="roundRect">
            <a:avLst>
              <a:gd name="adj" fmla="val 188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656832" y="1316736"/>
            <a:ext cx="46177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56832" y="1728216"/>
            <a:ext cx="4617720" cy="1764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комуникация, защитена чрез TLS. Стандартният порт е 443.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51960"/>
            <a:ext cx="1033272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065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TLS осигурява поверителност, цялост и удостоверяване на сървъра.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Практика в Developer Tools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ВТОРИ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91440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04672" y="969264"/>
            <a:ext cx="13624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 минути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1600200"/>
            <a:ext cx="5308092" cy="1325880"/>
          </a:xfrm>
          <a:prstGeom prst="roundRect">
            <a:avLst>
              <a:gd name="adj" fmla="val 3448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41248" y="172821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Network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2139696"/>
            <a:ext cx="4942332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Изчистете списъка и презаредете страницата.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22492" y="1600200"/>
            <a:ext cx="5308092" cy="1325880"/>
          </a:xfrm>
          <a:prstGeom prst="roundRect">
            <a:avLst>
              <a:gd name="adj" fmla="val 3448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05372" y="172821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Headers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5372" y="2139696"/>
            <a:ext cx="4942332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Открийте Request URL, Method и Status Code.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3218688"/>
            <a:ext cx="5308092" cy="1325880"/>
          </a:xfrm>
          <a:prstGeom prst="roundRect">
            <a:avLst>
              <a:gd name="adj" fmla="val 3448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41248" y="334670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Response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" y="3758184"/>
            <a:ext cx="4942332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Разгледайте върнатото съдържание.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22492" y="3218688"/>
            <a:ext cx="5308092" cy="1325880"/>
          </a:xfrm>
          <a:prstGeom prst="roundRect">
            <a:avLst>
              <a:gd name="adj" fmla="val 3448"/>
            </a:avLst>
          </a:prstGeom>
          <a:solidFill>
            <a:srgbClr val="F4EEFA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405372" y="334670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Timing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5372" y="3758184"/>
            <a:ext cx="4942332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Вижте колко време отнемат етапите.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983480"/>
            <a:ext cx="1024128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Сравнете заявката за document с една заявка за CSS, JS или изображение.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Практика с команден ред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ВТОРИ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051560"/>
            <a:ext cx="6035040" cy="2331720"/>
          </a:xfrm>
          <a:prstGeom prst="roundRect">
            <a:avLst>
              <a:gd name="adj" fmla="val 1569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24128" y="1389888"/>
            <a:ext cx="544068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AF4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curl -I https://example.com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EAF4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curl https://example.com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50608" y="1051560"/>
            <a:ext cx="4160520" cy="1143000"/>
          </a:xfrm>
          <a:prstGeom prst="roundRect">
            <a:avLst>
              <a:gd name="adj" fmla="val 4000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333488" y="1179576"/>
            <a:ext cx="37947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curl -I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33488" y="1591056"/>
            <a:ext cx="3794760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Показва само заглавните части на отговора.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50608" y="2560320"/>
            <a:ext cx="4160520" cy="1143000"/>
          </a:xfrm>
          <a:prstGeom prst="roundRect">
            <a:avLst>
              <a:gd name="adj" fmla="val 4000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333488" y="2688336"/>
            <a:ext cx="37947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curl URL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33488" y="3099816"/>
            <a:ext cx="3794760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Изпраща GET заявка и показва съдържанието.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315968"/>
            <a:ext cx="10332720" cy="5852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Задача: намерете кода за състояние, Content-Type и сървъра, ако е посочен.</a:t>
            </a:r>
            <a:endParaRPr lang="en-US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Мини тест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ВТОРИ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024128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41248" y="1152144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Какво прави DNS?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563624"/>
            <a:ext cx="4983480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Форматира HTML   B) Намира IP по име   C) Създава CSS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45936" y="1024128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528816" y="1152144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Кой изпраща HTTP заявката?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28816" y="1563624"/>
            <a:ext cx="4983480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Клиентът   B) Само рутерът   C) Кабелът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3081528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41248" y="3209544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Какво означава 404?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3621024"/>
            <a:ext cx="4983480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Успех   B) Пренасочване   C) Ресурсът не е намерен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45936" y="3081528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528816" y="3209544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Къде се описва Content-Type?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28816" y="3621024"/>
            <a:ext cx="4983480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В header   B) В IP адреса   C) В URL фрагмента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8755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Обобщение и изходен билет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12680" y="41148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0B8C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КРАЙ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051560"/>
            <a:ext cx="3453384" cy="1828800"/>
          </a:xfrm>
          <a:prstGeom prst="roundRect">
            <a:avLst>
              <a:gd name="adj" fmla="val 2500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41248" y="117957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Интернет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591056"/>
            <a:ext cx="3087624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Свързва мрежи чрез общ набор от протоколи.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67784" y="1051560"/>
            <a:ext cx="3453384" cy="1828800"/>
          </a:xfrm>
          <a:prstGeom prst="roundRect">
            <a:avLst>
              <a:gd name="adj" fmla="val 2500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50664" y="117957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Протоколи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50664" y="1591056"/>
            <a:ext cx="3087624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DNS, TCP, IP и HTTP изпълняват различни задачи.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77200" y="1051560"/>
            <a:ext cx="3453384" cy="1828800"/>
          </a:xfrm>
          <a:prstGeom prst="roundRect">
            <a:avLst>
              <a:gd name="adj" fmla="val 2500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260080" y="117957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60080" y="1591056"/>
            <a:ext cx="3087624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Клиентът изпраща заявка, сървърът връща отговор.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657600"/>
            <a:ext cx="2377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Изходен билет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1042416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Запишете един примерен URL, един HTTP код и какво научихте от Network панела.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063240" y="5230368"/>
            <a:ext cx="61264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Следваща тема: видове HTTP заявки.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1121</Words>
  <Application>Microsoft Office PowerPoint</Application>
  <PresentationFormat>Widescreen</PresentationFormat>
  <Paragraphs>280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DejaVu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Основи на интернет. Мрежови протоколи. HTTP</dc:title>
  <dc:subject>Учебна практика по интернет програмиране, 12. клас</dc:subject>
  <dc:creator>Ахмед Матем Ахмед</dc:creator>
  <cp:lastModifiedBy>Ahmed Ahmed</cp:lastModifiedBy>
  <cp:revision>4</cp:revision>
  <dcterms:created xsi:type="dcterms:W3CDTF">2026-09-20T19:35:39Z</dcterms:created>
  <dcterms:modified xsi:type="dcterms:W3CDTF">2026-09-20T19:50:15Z</dcterms:modified>
</cp:coreProperties>
</file>