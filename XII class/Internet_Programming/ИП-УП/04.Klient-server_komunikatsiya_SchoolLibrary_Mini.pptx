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Представете часа като лаборатория: днес няма само да говорим за client-server, а ще проследим реални HTTP заявки в нашето MVC приложение. Покажете, че продължаваме същия проект.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Уточнете границата на часа: целта е комуникацията. Използваме временен списък в паметта, за да не смесваме темата с Entity Framework Core и база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60 секунди за отговори. Ако учениците кажат, че View се изпълнява в браузъра, коригирайте: Razor се изпълнява на сървъра, а браузърът получава готов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Ако проектът вече е създаден от предния урок, пропуснете командите и само го стартирайте. При първо HTTPS стартиране може да се поиска доверяване на development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Демонстрирайте само нужните полета в Network. Целта не е изучаване на DevTools, а да видят реалната заявка и отговор. Дайте 3–4 минути учениците да намерят четирите стойности.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Разглобете URL на дъската. Подчертайте, че route template описва структурата на адреса. В този пример параметърът id има стойност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Работа за 5 минути. След създаването умишлено отворете /Books преди да има View. Обсъдете защо request стига до controller, но приложението не може да завърши response успешно.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4 минути за създаване на папка Views/Books и Index.cshtml. Покажете View Source, за да докажете, че Razor кодът остава на сървъра.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Обяснете накратко model binding: ASP.NET Core извлича стойността от route и я преобразува към int. Не навлизайте в сложни binding сценарии.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Обиколете и проверете дали учениците разграничават URL от response body. Ако няма дебъгер, използвайте Console.WriteLine($"Requested book: {id}").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Използвайте въпросите като бърза устна проверка. Не показвайте веднага отговорите, ако презентирате в режим с анимации; при статичен слайд може да закриете дясната част 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Свържете с първия час: route parameter вече е познат. Сега добавяме query string за търсене и form body за промяна на състояние.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6 минути за добавяне на action и view. Покажете как името на input полето term съвпада с параметъра term. Погледнете Query String Parameters в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Очакван отговор: търсенето използва GET, добавянето POST. Напомнете, че HTTPS защитава преноса, но не превръща URL в място за пароли или чувствителни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Разграничете input model от бъдещия domain model Book. Днес input model съдържа само Title и Author. Това пази action параметрите ясни.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ключовият момент. Един и същ логически адрес може да обслужва показване и изпращане на формата. Атрибутите HttpGet и HttpPost разграничават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7–8 минути за създаване на формата. Учениците изпращат примерна книга и намират Form Data или Payload в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Подчертайте, че static List не е решение за реално приложение. Използваме го за един час, защото база данни и data layer идват по тематичното разпределение.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Покажете трите реда в Network. Обяснете, че redirect response не съдържа финалната страница; той казва на клиента да направи нова GET заявка.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Критерий за успех: учениците могат да покажат всички заявки и да обяснят защо данните изчезват след рестарт. Ако времето не стига, стъпка E остава за финална демонстрация.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Използвайте като бърз troubleshooting чеклист. Може умишлено да отворите несъществуващ URL и да изпратите POST към action само с HttpGet, за да покажете 404/405.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Очакван изходен билет: POST изпраща данните, сървърът ги обработва и връща 302, а браузърът изпълнява нов GET към каталога. Завършете с връзката към предстоящите слоеве.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3DA8752-B8E8-4586-9965-D45E9AD98DD2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8DD285F-0BD1-4D14-8224-FC2277E8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4741D01-6222-4559-BA17-9113D7C40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9FF90B0-A5C1-4CFF-B217-2A3DBF64BD5A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E6B5BBA-F48B-4331-B7A2-2391CAF3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16DF80C-26C0-419E-B97A-067DA37E756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9AA4907-787E-4EFA-9504-7F9C9EDF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0B5F33B-1D92-439D-A025-6EC7FF7FA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709AFBA-23E2-49D6-AC92-0EB0C47FDD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5BF68B-0FE2-4C8F-B0A3-BF2892CE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ED9FCDF3-8D33-4879-B404-6174798E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1093D5A0-DC98-42EE-AACB-98FDF83B183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D506FB34-598F-4DD0-8114-EAB9618BCFC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5B45069-D432-4881-AF21-23AE886B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202909C-5CFE-4666-A24D-8DA5C4AFC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EEC7EC-57E7-4DE9-A3C0-7839A98B998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000500" cy="304800"/>
          </a:xfrm>
          <a:prstGeom prst="roundRect">
            <a:avLst>
              <a:gd name="adj" fmla="val 25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2AEEA7-58C5-4D51-8086-FE12BD81AD3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Учебна практика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79FFC8-5A08-4A34-A884-C2CCCC505E4D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9239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Клиент–сървър комуникация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9FF25-D6F8-41DD-8C79-AE49BA4F3A19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SchoolLibrary Mini с ASP.NET Core MVC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0C580F-C3C0-4506-A9D1-862040962B90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1FFA33-0999-471A-972D-8BA25908DF3F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4F5EC-27B9-4858-A3FE-AAF0C34386A5}"/>
              </a:ext>
            </a:extLst>
          </p:cNvPr>
          <p:cNvSpPr>
            <a:spLocks noGrp="1"/>
          </p:cNvSpPr>
          <p:nvPr/>
        </p:nvSpPr>
        <p:spPr>
          <a:xfrm>
            <a:off x="2343150" y="3476625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ctr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⇄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F5211F-3CFD-4AF9-8D58-ACDF4B5C0E1D}"/>
              </a:ext>
            </a:extLst>
          </p:cNvPr>
          <p:cNvSpPr>
            <a:spLocks noGrp="1"/>
          </p:cNvSpPr>
          <p:nvPr/>
        </p:nvSpPr>
        <p:spPr>
          <a:xfrm>
            <a:off x="3276600" y="352425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C0F6B-B5BA-468C-BE25-8F1C59B3F6FA}"/>
              </a:ext>
            </a:extLst>
          </p:cNvPr>
          <p:cNvSpPr>
            <a:spLocks noGrp="1"/>
          </p:cNvSpPr>
          <p:nvPr/>
        </p:nvSpPr>
        <p:spPr>
          <a:xfrm>
            <a:off x="3276600" y="35433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DF6C0-D6A9-471F-A787-6C4D8F1206EB}"/>
              </a:ext>
            </a:extLst>
          </p:cNvPr>
          <p:cNvSpPr>
            <a:spLocks noGrp="1"/>
          </p:cNvSpPr>
          <p:nvPr/>
        </p:nvSpPr>
        <p:spPr>
          <a:xfrm>
            <a:off x="4876800" y="3476625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ctr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⇄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0C694D-8661-4FB3-83C5-B597791D06D5}"/>
              </a:ext>
            </a:extLst>
          </p:cNvPr>
          <p:cNvSpPr>
            <a:spLocks noGrp="1"/>
          </p:cNvSpPr>
          <p:nvPr/>
        </p:nvSpPr>
        <p:spPr>
          <a:xfrm>
            <a:off x="5810250" y="3524250"/>
            <a:ext cx="20955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A0C091-5073-4214-BEE0-F0A4800391D4}"/>
              </a:ext>
            </a:extLst>
          </p:cNvPr>
          <p:cNvSpPr>
            <a:spLocks noGrp="1"/>
          </p:cNvSpPr>
          <p:nvPr/>
        </p:nvSpPr>
        <p:spPr>
          <a:xfrm>
            <a:off x="5810250" y="35433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MVC СЪРВЪР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DFC26C-BD12-41CE-8593-5E007D10B903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2 учебни часа • практическо занятие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37A6B-30AF-4B99-8589-AE95C1B492ED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Продължение на проекта SchoolLibrary Mini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E45B88-0B1D-4BB2-95EA-46E20307169D}"/>
              </a:ext>
            </a:extLst>
          </p:cNvPr>
          <p:cNvSpPr>
            <a:spLocks noGrp="1"/>
          </p:cNvSpPr>
          <p:nvPr/>
        </p:nvSpPr>
        <p:spPr>
          <a:xfrm>
            <a:off x="10096500" y="800100"/>
            <a:ext cx="1123950" cy="2724150"/>
          </a:xfrm>
          <a:prstGeom prst="roundRect">
            <a:avLst>
              <a:gd name="adj" fmla="val 678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5FF085-FA35-48A3-889A-075CFB57D71F}"/>
              </a:ext>
            </a:extLst>
          </p:cNvPr>
          <p:cNvSpPr>
            <a:spLocks noGrp="1"/>
          </p:cNvSpPr>
          <p:nvPr/>
        </p:nvSpPr>
        <p:spPr>
          <a:xfrm>
            <a:off x="9010650" y="4171950"/>
            <a:ext cx="1257300" cy="1562100"/>
          </a:xfrm>
          <a:prstGeom prst="roundRect">
            <a:avLst>
              <a:gd name="adj" fmla="val 6061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C3F05D3-A078-45FE-BBC3-EEEBAC827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4E671-036F-4243-AFDC-8AC41AFB7E5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Резултатът от двата часа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422A24-2CB7-4146-AE61-1CC2BE7CB263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9D65EE-02B4-4CB9-B77F-BF69F8EC7055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4ABABB-639E-4C06-81F6-9D425AB19E6A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3333750" cy="1714500"/>
          </a:xfrm>
          <a:prstGeom prst="roundRect">
            <a:avLst>
              <a:gd name="adj" fmla="val 4444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BCA5C-DF08-491F-9DDB-8183815D9ED0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Проследяване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043CE3-E2C5-4A4A-B25F-D043A9898528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29908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Ученикът обяснява пътя browser → route → controller → view → response.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2DEB0A-17B7-4872-ABA7-15CAF7CCB00D}"/>
              </a:ext>
            </a:extLst>
          </p:cNvPr>
          <p:cNvSpPr>
            <a:spLocks noGrp="1"/>
          </p:cNvSpPr>
          <p:nvPr/>
        </p:nvSpPr>
        <p:spPr>
          <a:xfrm>
            <a:off x="4419600" y="1143000"/>
            <a:ext cx="3333750" cy="1714500"/>
          </a:xfrm>
          <a:prstGeom prst="roundRect">
            <a:avLst>
              <a:gd name="adj" fmla="val 4444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3764D3-5DE6-450F-814F-A19C5EC7E93B}"/>
              </a:ext>
            </a:extLst>
          </p:cNvPr>
          <p:cNvSpPr>
            <a:spLocks noGrp="1"/>
          </p:cNvSpPr>
          <p:nvPr/>
        </p:nvSpPr>
        <p:spPr>
          <a:xfrm>
            <a:off x="4591050" y="12573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Наблюдение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3DAAA-3407-4716-99D5-441D4E2AD702}"/>
              </a:ext>
            </a:extLst>
          </p:cNvPr>
          <p:cNvSpPr>
            <a:spLocks noGrp="1"/>
          </p:cNvSpPr>
          <p:nvPr/>
        </p:nvSpPr>
        <p:spPr>
          <a:xfrm>
            <a:off x="4591050" y="1619250"/>
            <a:ext cx="29908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Разпознава method, URL, status code, headers и response body.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F47A7D-3750-4541-B065-8482F347BF28}"/>
              </a:ext>
            </a:extLst>
          </p:cNvPr>
          <p:cNvSpPr>
            <a:spLocks noGrp="1"/>
          </p:cNvSpPr>
          <p:nvPr/>
        </p:nvSpPr>
        <p:spPr>
          <a:xfrm>
            <a:off x="8229600" y="1143000"/>
            <a:ext cx="3333750" cy="1714500"/>
          </a:xfrm>
          <a:prstGeom prst="roundRect">
            <a:avLst>
              <a:gd name="adj" fmla="val 4444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970FD0-C3F8-4629-8BA2-31E69FF7A1C5}"/>
              </a:ext>
            </a:extLst>
          </p:cNvPr>
          <p:cNvSpPr>
            <a:spLocks noGrp="1"/>
          </p:cNvSpPr>
          <p:nvPr/>
        </p:nvSpPr>
        <p:spPr>
          <a:xfrm>
            <a:off x="8401050" y="12573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Изпълнение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76C82A-5F4F-4EF5-A4E9-2C96C0361686}"/>
              </a:ext>
            </a:extLst>
          </p:cNvPr>
          <p:cNvSpPr>
            <a:spLocks noGrp="1"/>
          </p:cNvSpPr>
          <p:nvPr/>
        </p:nvSpPr>
        <p:spPr>
          <a:xfrm>
            <a:off x="8401050" y="1619250"/>
            <a:ext cx="29908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Създава GET и POST заявки чрез MVC route, query string и form.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CFB859-1E14-49BC-9214-AC00B0FEE5E7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9067800" cy="1047750"/>
          </a:xfrm>
          <a:prstGeom prst="roundRect">
            <a:avLst>
              <a:gd name="adj" fmla="val 7273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55827-9698-4EE6-B603-E9FC955DC1E2}"/>
              </a:ext>
            </a:extLst>
          </p:cNvPr>
          <p:cNvSpPr>
            <a:spLocks noGrp="1"/>
          </p:cNvSpPr>
          <p:nvPr/>
        </p:nvSpPr>
        <p:spPr>
          <a:xfrm>
            <a:off x="1809750" y="36576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Краен продукт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F768BD-523B-4CF3-AC19-9ECCBA198A7C}"/>
              </a:ext>
            </a:extLst>
          </p:cNvPr>
          <p:cNvSpPr>
            <a:spLocks noGrp="1"/>
          </p:cNvSpPr>
          <p:nvPr/>
        </p:nvSpPr>
        <p:spPr>
          <a:xfrm>
            <a:off x="1809750" y="4000500"/>
            <a:ext cx="838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86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Работещ каталог с търсене и форма за добавяне на книга в паметта на приложението.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A9BA4A-F54F-4952-AC64-CB51BC7BCB16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Не използваме база данни още. Data слой ще добавим в следващите теми.</a:t>
            </a:r>
          </a:p>
        </p:txBody>
      </p:sp>
    </p:spTree>
    <p:extLst>
      <p:ext uri="{BB962C8B-B14F-4D97-AF65-F5344CB8AC3E}">
        <p14:creationId xmlns:p14="http://schemas.microsoft.com/office/powerpoint/2010/main" val="192637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54A1-9EE2-4716-BC55-55EB416F6C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E2AAAC-87A0-423B-9B22-DB3141DB170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Припомняне: кой каква роля има?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3EF8E-E7EA-43FD-9770-C3C215E02E51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C9FBE-FF90-46C7-9125-1C17EA0AAE3D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072B5C-B337-4656-AF5D-1B6DEF768E69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333750" cy="2095500"/>
          </a:xfrm>
          <a:prstGeom prst="roundRect">
            <a:avLst>
              <a:gd name="adj" fmla="val 363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FD96C7-4F97-43D0-A123-8597581600C5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78F148-FAC8-4C01-BEA9-38C1F67EA65A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2990850" cy="1485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Браузърът изпраща HTTP request и визуализира получения HTML.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11127A-25C1-415C-B38B-3A3B7C1AD119}"/>
              </a:ext>
            </a:extLst>
          </p:cNvPr>
          <p:cNvSpPr>
            <a:spLocks noGrp="1"/>
          </p:cNvSpPr>
          <p:nvPr/>
        </p:nvSpPr>
        <p:spPr>
          <a:xfrm>
            <a:off x="4419600" y="1200150"/>
            <a:ext cx="3333750" cy="2095500"/>
          </a:xfrm>
          <a:prstGeom prst="roundRect">
            <a:avLst>
              <a:gd name="adj" fmla="val 363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7189C0-C4E4-40AC-B925-ED6A8E107B45}"/>
              </a:ext>
            </a:extLst>
          </p:cNvPr>
          <p:cNvSpPr>
            <a:spLocks noGrp="1"/>
          </p:cNvSpPr>
          <p:nvPr/>
        </p:nvSpPr>
        <p:spPr>
          <a:xfrm>
            <a:off x="4591050" y="13144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HTTP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49BE5-4AB7-45C0-9120-21E48B5EEA83}"/>
              </a:ext>
            </a:extLst>
          </p:cNvPr>
          <p:cNvSpPr>
            <a:spLocks noGrp="1"/>
          </p:cNvSpPr>
          <p:nvPr/>
        </p:nvSpPr>
        <p:spPr>
          <a:xfrm>
            <a:off x="4591050" y="1676400"/>
            <a:ext cx="2990850" cy="1485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Правила за обмен: method, URL, headers, body и status code.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7A420C-3411-47DD-AB0B-DBF67BDE1DDC}"/>
              </a:ext>
            </a:extLst>
          </p:cNvPr>
          <p:cNvSpPr>
            <a:spLocks noGrp="1"/>
          </p:cNvSpPr>
          <p:nvPr/>
        </p:nvSpPr>
        <p:spPr>
          <a:xfrm>
            <a:off x="8229600" y="1200150"/>
            <a:ext cx="3333750" cy="2095500"/>
          </a:xfrm>
          <a:prstGeom prst="roundRect">
            <a:avLst>
              <a:gd name="adj" fmla="val 363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64431-EDD9-47ED-9469-E6F9DD91143A}"/>
              </a:ext>
            </a:extLst>
          </p:cNvPr>
          <p:cNvSpPr>
            <a:spLocks noGrp="1"/>
          </p:cNvSpPr>
          <p:nvPr/>
        </p:nvSpPr>
        <p:spPr>
          <a:xfrm>
            <a:off x="8401050" y="13144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36648-D959-4044-B9DC-4C0147F13E17}"/>
              </a:ext>
            </a:extLst>
          </p:cNvPr>
          <p:cNvSpPr>
            <a:spLocks noGrp="1"/>
          </p:cNvSpPr>
          <p:nvPr/>
        </p:nvSpPr>
        <p:spPr>
          <a:xfrm>
            <a:off x="8401050" y="1676400"/>
            <a:ext cx="2990850" cy="1485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ASP.NET Core приема request, изпълнява action и създава response.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3E393-5B19-494A-9E45-E9A5BAFB130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Въпрос към класа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92F972-E0BD-44BD-8698-7B7BC75E3C1B}"/>
              </a:ext>
            </a:extLst>
          </p:cNvPr>
          <p:cNvSpPr>
            <a:spLocks noGrp="1"/>
          </p:cNvSpPr>
          <p:nvPr/>
        </p:nvSpPr>
        <p:spPr>
          <a:xfrm>
            <a:off x="1562100" y="4400550"/>
            <a:ext cx="9067800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EA3DC-DB5F-4976-8AA2-507C544E6DDE}"/>
              </a:ext>
            </a:extLst>
          </p:cNvPr>
          <p:cNvSpPr>
            <a:spLocks noGrp="1"/>
          </p:cNvSpPr>
          <p:nvPr/>
        </p:nvSpPr>
        <p:spPr>
          <a:xfrm>
            <a:off x="1809750" y="457200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Кое се изпълнява в браузъра и кое на сървъра при GET /Books?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3633B5-A84A-4486-A0D2-39818688426E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 err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Очакван</a:t>
            </a:r>
            <a:r>
              <a:rPr sz="1200" b="1" dirty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1" dirty="0" err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отговор</a:t>
            </a:r>
            <a:r>
              <a:rPr sz="1200" b="1" dirty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200" b="1" dirty="0" err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браузърът</a:t>
            </a:r>
            <a:r>
              <a:rPr sz="1200" b="1" dirty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1" dirty="0" err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</a:t>
            </a:r>
            <a:r>
              <a:rPr sz="1200" b="1" dirty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 заявката, MVC приложението </a:t>
            </a:r>
            <a:r>
              <a:rPr sz="1200" b="1" dirty="0" err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генерира</a:t>
            </a:r>
            <a:r>
              <a:rPr sz="1200" b="1" dirty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 HTML.</a:t>
            </a:r>
          </a:p>
        </p:txBody>
      </p:sp>
    </p:spTree>
    <p:extLst>
      <p:ext uri="{BB962C8B-B14F-4D97-AF65-F5344CB8AC3E}">
        <p14:creationId xmlns:p14="http://schemas.microsoft.com/office/powerpoint/2010/main" val="11959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C106F7E-B30E-43C4-83AF-2C1D6D62FB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2FD09B-C8CB-488E-BDC7-7DA507EBD82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Лабораторна среда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566AC-D838-43C4-993C-8382706F151A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8D6EF-5643-4392-BC9E-A004CCDB809C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8C9199-2FE1-4B21-AC05-1ADC7820F9E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3333750" cy="1657350"/>
          </a:xfrm>
          <a:prstGeom prst="roundRect">
            <a:avLst>
              <a:gd name="adj" fmla="val 4598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D18520-61C0-41C2-9E77-107CA23FBF99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1. Проект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E5D45-7266-4A54-8A8F-4F6BBB2DA4E8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9908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ASP.NET Core Web App (Model-View-Controller)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765338-E6BD-4593-8616-97005000AEB4}"/>
              </a:ext>
            </a:extLst>
          </p:cNvPr>
          <p:cNvSpPr>
            <a:spLocks noGrp="1"/>
          </p:cNvSpPr>
          <p:nvPr/>
        </p:nvSpPr>
        <p:spPr>
          <a:xfrm>
            <a:off x="4419600" y="1123950"/>
            <a:ext cx="3333750" cy="1657350"/>
          </a:xfrm>
          <a:prstGeom prst="roundRect">
            <a:avLst>
              <a:gd name="adj" fmla="val 4598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970E2-E601-4A94-8341-DC0878055093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2. Инструменти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D5D61-65E0-4E65-BBC9-92E1A3981CF9}"/>
              </a:ext>
            </a:extLst>
          </p:cNvPr>
          <p:cNvSpPr>
            <a:spLocks noGrp="1"/>
          </p:cNvSpPr>
          <p:nvPr/>
        </p:nvSpPr>
        <p:spPr>
          <a:xfrm>
            <a:off x="4591050" y="1600200"/>
            <a:ext cx="29908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Visual Studio или VS Code, браузър и Developer Tools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46FB75-5B7C-4492-80E3-55BBC06DDA96}"/>
              </a:ext>
            </a:extLst>
          </p:cNvPr>
          <p:cNvSpPr>
            <a:spLocks noGrp="1"/>
          </p:cNvSpPr>
          <p:nvPr/>
        </p:nvSpPr>
        <p:spPr>
          <a:xfrm>
            <a:off x="8229600" y="1123950"/>
            <a:ext cx="3333750" cy="1657350"/>
          </a:xfrm>
          <a:prstGeom prst="roundRect">
            <a:avLst>
              <a:gd name="adj" fmla="val 4598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2A6C54-FDE2-4945-9406-7794A9B77E5F}"/>
              </a:ext>
            </a:extLst>
          </p:cNvPr>
          <p:cNvSpPr>
            <a:spLocks noGrp="1"/>
          </p:cNvSpPr>
          <p:nvPr/>
        </p:nvSpPr>
        <p:spPr>
          <a:xfrm>
            <a:off x="8401050" y="12382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3. Адрес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2454AC-BBA6-4D5B-9352-CB45DAA1B496}"/>
              </a:ext>
            </a:extLst>
          </p:cNvPr>
          <p:cNvSpPr>
            <a:spLocks noGrp="1"/>
          </p:cNvSpPr>
          <p:nvPr/>
        </p:nvSpPr>
        <p:spPr>
          <a:xfrm>
            <a:off x="8401050" y="1600200"/>
            <a:ext cx="29908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HTTPS localhost адресът се показва при стартиране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D88E2F-4C5A-42CD-94B4-823E8034D3D0}"/>
              </a:ext>
            </a:extLst>
          </p:cNvPr>
          <p:cNvSpPr>
            <a:spLocks noGrp="1"/>
          </p:cNvSpPr>
          <p:nvPr/>
        </p:nvSpPr>
        <p:spPr>
          <a:xfrm>
            <a:off x="1562100" y="3448050"/>
            <a:ext cx="9067800" cy="1390650"/>
          </a:xfrm>
          <a:prstGeom prst="roundRect">
            <a:avLst>
              <a:gd name="adj" fmla="val 5479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7A648E-5EFE-4CC8-A671-1E6EDF326574}"/>
              </a:ext>
            </a:extLst>
          </p:cNvPr>
          <p:cNvSpPr>
            <a:spLocks noGrp="1"/>
          </p:cNvSpPr>
          <p:nvPr/>
        </p:nvSpPr>
        <p:spPr>
          <a:xfrm>
            <a:off x="1733550" y="35433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• вариант за VS 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D7D7C-9D18-45E9-9658-2B58E1739B6B}"/>
              </a:ext>
            </a:extLst>
          </p:cNvPr>
          <p:cNvSpPr>
            <a:spLocks noGrp="1"/>
          </p:cNvSpPr>
          <p:nvPr/>
        </p:nvSpPr>
        <p:spPr>
          <a:xfrm>
            <a:off x="1752600" y="3810000"/>
            <a:ext cx="86868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new mvc -n SchoolLibrary.Web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cd SchoolLibrary.Web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EF485B-F4F7-42EB-AE16-FB91E9491826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 Visual Studio: Create a new project → ASP.NET Core Web App (Model-View-Controller)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91FF01-E777-4170-96F3-D640139C599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Проверка: началната страница се отваря без грешка.</a:t>
            </a:r>
          </a:p>
        </p:txBody>
      </p:sp>
    </p:spTree>
    <p:extLst>
      <p:ext uri="{BB962C8B-B14F-4D97-AF65-F5344CB8AC3E}">
        <p14:creationId xmlns:p14="http://schemas.microsoft.com/office/powerpoint/2010/main" val="4999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808665C-815B-4D14-8CC1-B1BE96FB0C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4235C3-4C08-40C2-BEAC-78360514A44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Първо наблюдение в браузъра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F91002-BB4D-416E-8176-4393BBE9BC1C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F7A01-BA45-4D57-B4C8-73DAC190889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A51B8A-3E51-4A78-A13B-5BBA84F46F0A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ABF4B-0800-49ED-82FB-39209CC44AD4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1. URL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BC7FB1-C6D5-49EE-83DA-C6D5AC90D33F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/Home/Index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60FF0-6641-4992-AB1A-434BD167FFA4}"/>
              </a:ext>
            </a:extLst>
          </p:cNvPr>
          <p:cNvSpPr>
            <a:spLocks noGrp="1"/>
          </p:cNvSpPr>
          <p:nvPr/>
        </p:nvSpPr>
        <p:spPr>
          <a:xfrm>
            <a:off x="3209925" y="24765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5CABC7-A35E-42A1-9724-483697E314F5}"/>
              </a:ext>
            </a:extLst>
          </p:cNvPr>
          <p:cNvSpPr>
            <a:spLocks noGrp="1"/>
          </p:cNvSpPr>
          <p:nvPr/>
        </p:nvSpPr>
        <p:spPr>
          <a:xfrm>
            <a:off x="3400425" y="22669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AD048-87FF-4828-80E2-C4C344C73C2D}"/>
              </a:ext>
            </a:extLst>
          </p:cNvPr>
          <p:cNvSpPr>
            <a:spLocks noGrp="1"/>
          </p:cNvSpPr>
          <p:nvPr/>
        </p:nvSpPr>
        <p:spPr>
          <a:xfrm>
            <a:off x="3514725" y="23622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2. 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50167-EAEC-47BD-9E32-D0078D5DF114}"/>
              </a:ext>
            </a:extLst>
          </p:cNvPr>
          <p:cNvSpPr>
            <a:spLocks noGrp="1"/>
          </p:cNvSpPr>
          <p:nvPr/>
        </p:nvSpPr>
        <p:spPr>
          <a:xfrm>
            <a:off x="3514725" y="26670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637716-9931-45A2-B5CA-CDC920195092}"/>
              </a:ext>
            </a:extLst>
          </p:cNvPr>
          <p:cNvSpPr>
            <a:spLocks noGrp="1"/>
          </p:cNvSpPr>
          <p:nvPr/>
        </p:nvSpPr>
        <p:spPr>
          <a:xfrm>
            <a:off x="6000750" y="24765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35E330-FE95-45FD-9814-5A296BE68030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D734A-AE2E-4C9D-B296-A8921281C77F}"/>
              </a:ext>
            </a:extLst>
          </p:cNvPr>
          <p:cNvSpPr>
            <a:spLocks noGrp="1"/>
          </p:cNvSpPr>
          <p:nvPr/>
        </p:nvSpPr>
        <p:spPr>
          <a:xfrm>
            <a:off x="6305550" y="23622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3. SERVER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8D5957-6CF5-48F4-B327-B19B0AE12FC9}"/>
              </a:ext>
            </a:extLst>
          </p:cNvPr>
          <p:cNvSpPr>
            <a:spLocks noGrp="1"/>
          </p:cNvSpPr>
          <p:nvPr/>
        </p:nvSpPr>
        <p:spPr>
          <a:xfrm>
            <a:off x="6305550" y="26670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MVC 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BA38D-4015-436C-B417-2C324F4BFB34}"/>
              </a:ext>
            </a:extLst>
          </p:cNvPr>
          <p:cNvSpPr>
            <a:spLocks noGrp="1"/>
          </p:cNvSpPr>
          <p:nvPr/>
        </p:nvSpPr>
        <p:spPr>
          <a:xfrm>
            <a:off x="8791575" y="24765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D85555-910F-41D7-8DE7-D8BF6A7398B8}"/>
              </a:ext>
            </a:extLst>
          </p:cNvPr>
          <p:cNvSpPr>
            <a:spLocks noGrp="1"/>
          </p:cNvSpPr>
          <p:nvPr/>
        </p:nvSpPr>
        <p:spPr>
          <a:xfrm>
            <a:off x="8982075" y="22669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8B643C-FBA5-41D5-8447-548FBF13BA38}"/>
              </a:ext>
            </a:extLst>
          </p:cNvPr>
          <p:cNvSpPr>
            <a:spLocks noGrp="1"/>
          </p:cNvSpPr>
          <p:nvPr/>
        </p:nvSpPr>
        <p:spPr>
          <a:xfrm>
            <a:off x="9096375" y="23622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4.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3CC08A-978E-4796-B8C5-5E0A963078C9}"/>
              </a:ext>
            </a:extLst>
          </p:cNvPr>
          <p:cNvSpPr>
            <a:spLocks noGrp="1"/>
          </p:cNvSpPr>
          <p:nvPr/>
        </p:nvSpPr>
        <p:spPr>
          <a:xfrm>
            <a:off x="9096375" y="26670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200 + HTML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100DDF-C597-44F3-917A-673671586617}"/>
              </a:ext>
            </a:extLst>
          </p:cNvPr>
          <p:cNvSpPr>
            <a:spLocks noGrp="1"/>
          </p:cNvSpPr>
          <p:nvPr/>
        </p:nvSpPr>
        <p:spPr>
          <a:xfrm>
            <a:off x="1562100" y="3829050"/>
            <a:ext cx="9067800" cy="1085850"/>
          </a:xfrm>
          <a:prstGeom prst="roundRect">
            <a:avLst>
              <a:gd name="adj" fmla="val 7018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36C66D-6D30-4FE3-B832-B3004962B2CE}"/>
              </a:ext>
            </a:extLst>
          </p:cNvPr>
          <p:cNvSpPr>
            <a:spLocks noGrp="1"/>
          </p:cNvSpPr>
          <p:nvPr/>
        </p:nvSpPr>
        <p:spPr>
          <a:xfrm>
            <a:off x="1809750" y="39624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Практическа проверка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02B179-B8AF-44D2-9AE9-FA74740608CF}"/>
              </a:ext>
            </a:extLst>
          </p:cNvPr>
          <p:cNvSpPr>
            <a:spLocks noGrp="1"/>
          </p:cNvSpPr>
          <p:nvPr/>
        </p:nvSpPr>
        <p:spPr>
          <a:xfrm>
            <a:off x="1809750" y="4305300"/>
            <a:ext cx="838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6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Отворете Developer Tools → Network → презаредете страницата → изберете основния document.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B6B02B-7399-4546-B0E9-29ABF1360DC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Запишете: Request Method, Status Code, Request URL и Content-Type.</a:t>
            </a:r>
          </a:p>
        </p:txBody>
      </p:sp>
    </p:spTree>
    <p:extLst>
      <p:ext uri="{BB962C8B-B14F-4D97-AF65-F5344CB8AC3E}">
        <p14:creationId xmlns:p14="http://schemas.microsoft.com/office/powerpoint/2010/main" val="72392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4C8E406-6FE9-4C2D-83AD-DEA146447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4040EF-1097-4297-B468-09D938E564D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 MVC намира правилния код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B6518-0A98-4E69-A72E-01E438B5FD75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AA7E6-6D59-4E88-801D-B3E6AA50067F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395692-AECF-4615-B396-DA7191863F4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5334000" cy="209550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3E7E06-355C-4169-A8D6-3F7CA074A647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4991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Program.cs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A2002-60DD-41C3-B1AB-0BC613EAA328}"/>
              </a:ext>
            </a:extLst>
          </p:cNvPr>
          <p:cNvSpPr>
            <a:spLocks noGrp="1"/>
          </p:cNvSpPr>
          <p:nvPr/>
        </p:nvSpPr>
        <p:spPr>
          <a:xfrm>
            <a:off x="800100" y="1581150"/>
            <a:ext cx="49530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app.MapControllerRoute(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name: "default",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pattern: "{controller=Home}/{action=Index}/{id?}");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1F45F2-D5CB-42D2-908E-BF1DED1C6710}"/>
              </a:ext>
            </a:extLst>
          </p:cNvPr>
          <p:cNvSpPr>
            <a:spLocks noGrp="1"/>
          </p:cNvSpPr>
          <p:nvPr/>
        </p:nvSpPr>
        <p:spPr>
          <a:xfrm>
            <a:off x="6515100" y="1219200"/>
            <a:ext cx="5048250" cy="781050"/>
          </a:xfrm>
          <a:prstGeom prst="roundRect">
            <a:avLst>
              <a:gd name="adj" fmla="val 975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5C2539-5463-42AC-A99F-C784708C7120}"/>
              </a:ext>
            </a:extLst>
          </p:cNvPr>
          <p:cNvSpPr>
            <a:spLocks noGrp="1"/>
          </p:cNvSpPr>
          <p:nvPr/>
        </p:nvSpPr>
        <p:spPr>
          <a:xfrm>
            <a:off x="6686550" y="1333500"/>
            <a:ext cx="4705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controller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E80D8B-5A1B-431F-A827-068DAC10B946}"/>
              </a:ext>
            </a:extLst>
          </p:cNvPr>
          <p:cNvSpPr>
            <a:spLocks noGrp="1"/>
          </p:cNvSpPr>
          <p:nvPr/>
        </p:nvSpPr>
        <p:spPr>
          <a:xfrm>
            <a:off x="6686550" y="1695450"/>
            <a:ext cx="47053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Books → BooksController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E526AF-E317-4B83-8CA6-B9805FBEEA8B}"/>
              </a:ext>
            </a:extLst>
          </p:cNvPr>
          <p:cNvSpPr>
            <a:spLocks noGrp="1"/>
          </p:cNvSpPr>
          <p:nvPr/>
        </p:nvSpPr>
        <p:spPr>
          <a:xfrm>
            <a:off x="6515100" y="2152650"/>
            <a:ext cx="5048250" cy="781050"/>
          </a:xfrm>
          <a:prstGeom prst="roundRect">
            <a:avLst>
              <a:gd name="adj" fmla="val 975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1DA68-1A61-47B4-AF7F-8A4BD5B81481}"/>
              </a:ext>
            </a:extLst>
          </p:cNvPr>
          <p:cNvSpPr>
            <a:spLocks noGrp="1"/>
          </p:cNvSpPr>
          <p:nvPr/>
        </p:nvSpPr>
        <p:spPr>
          <a:xfrm>
            <a:off x="6686550" y="2266950"/>
            <a:ext cx="4705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158CE4-EB9E-4BC5-9A5C-929F5CA58650}"/>
              </a:ext>
            </a:extLst>
          </p:cNvPr>
          <p:cNvSpPr>
            <a:spLocks noGrp="1"/>
          </p:cNvSpPr>
          <p:nvPr/>
        </p:nvSpPr>
        <p:spPr>
          <a:xfrm>
            <a:off x="6686550" y="2628900"/>
            <a:ext cx="47053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Details → Details(...)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DC0F63-7DE0-4FDC-BD80-932CFA51EA77}"/>
              </a:ext>
            </a:extLst>
          </p:cNvPr>
          <p:cNvSpPr>
            <a:spLocks noGrp="1"/>
          </p:cNvSpPr>
          <p:nvPr/>
        </p:nvSpPr>
        <p:spPr>
          <a:xfrm>
            <a:off x="6515100" y="3086100"/>
            <a:ext cx="5048250" cy="781050"/>
          </a:xfrm>
          <a:prstGeom prst="roundRect">
            <a:avLst>
              <a:gd name="adj" fmla="val 975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56F2E-9746-44A0-99EF-DCC50E1C554E}"/>
              </a:ext>
            </a:extLst>
          </p:cNvPr>
          <p:cNvSpPr>
            <a:spLocks noGrp="1"/>
          </p:cNvSpPr>
          <p:nvPr/>
        </p:nvSpPr>
        <p:spPr>
          <a:xfrm>
            <a:off x="6686550" y="3200400"/>
            <a:ext cx="4705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id?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952D2-1579-467A-8FBD-6095CA8599A5}"/>
              </a:ext>
            </a:extLst>
          </p:cNvPr>
          <p:cNvSpPr>
            <a:spLocks noGrp="1"/>
          </p:cNvSpPr>
          <p:nvPr/>
        </p:nvSpPr>
        <p:spPr>
          <a:xfrm>
            <a:off x="6686550" y="3562350"/>
            <a:ext cx="47053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незадължителна стойност от URL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1BE139-7FD7-45C9-BB2A-40911EC38F47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90678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43C67-EC6F-4882-BC1E-394DEA616BD1}"/>
              </a:ext>
            </a:extLst>
          </p:cNvPr>
          <p:cNvSpPr>
            <a:spLocks noGrp="1"/>
          </p:cNvSpPr>
          <p:nvPr/>
        </p:nvSpPr>
        <p:spPr>
          <a:xfrm>
            <a:off x="1733550" y="46101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URL ПРИМЕР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3596B9-E1A1-491D-ACE7-832D986DA8BF}"/>
              </a:ext>
            </a:extLst>
          </p:cNvPr>
          <p:cNvSpPr>
            <a:spLocks noGrp="1"/>
          </p:cNvSpPr>
          <p:nvPr/>
        </p:nvSpPr>
        <p:spPr>
          <a:xfrm>
            <a:off x="1752600" y="4876800"/>
            <a:ext cx="8686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/Books/Details/5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D3504C-F106-4889-8D91-1CA63C92E30F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Routing свързва адреса с controller action и подава стойността 5 като id.</a:t>
            </a:r>
          </a:p>
        </p:txBody>
      </p:sp>
    </p:spTree>
    <p:extLst>
      <p:ext uri="{BB962C8B-B14F-4D97-AF65-F5344CB8AC3E}">
        <p14:creationId xmlns:p14="http://schemas.microsoft.com/office/powerpoint/2010/main" val="203999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FD60CCE-CB6D-4D3E-AA49-DF58EEB7D3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466EB-9946-463C-9DF0-E6FE3B13D6A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Създаваме първия BooksController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8BC05-F927-42EA-8B2F-948FBF46B7D6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B4E5FC-5F82-4879-A734-DF8539D4ADF5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5C0771-1D46-4F05-B7ED-D870BBAF7658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6381750" cy="4095750"/>
          </a:xfrm>
          <a:prstGeom prst="roundRect">
            <a:avLst>
              <a:gd name="adj" fmla="val 1860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53884-5AFA-4A61-8462-E7E3863A81C2}"/>
              </a:ext>
            </a:extLst>
          </p:cNvPr>
          <p:cNvSpPr>
            <a:spLocks noGrp="1"/>
          </p:cNvSpPr>
          <p:nvPr/>
        </p:nvSpPr>
        <p:spPr>
          <a:xfrm>
            <a:off x="781050" y="1219200"/>
            <a:ext cx="6038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Controllers/BooksController.cs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C9571-46DE-425B-A12C-2C01164E3A9F}"/>
              </a:ext>
            </a:extLst>
          </p:cNvPr>
          <p:cNvSpPr>
            <a:spLocks noGrp="1"/>
          </p:cNvSpPr>
          <p:nvPr/>
        </p:nvSpPr>
        <p:spPr>
          <a:xfrm>
            <a:off x="800100" y="1485900"/>
            <a:ext cx="600075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Microsoft.AspNetCore.Mvc;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BooksController : Controller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IActionResult Index()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return View();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E0D86B-DEA3-476E-A77A-3BAFCF5311E9}"/>
              </a:ext>
            </a:extLst>
          </p:cNvPr>
          <p:cNvSpPr>
            <a:spLocks noGrp="1"/>
          </p:cNvSpPr>
          <p:nvPr/>
        </p:nvSpPr>
        <p:spPr>
          <a:xfrm>
            <a:off x="7467600" y="1219200"/>
            <a:ext cx="3905250" cy="914400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7F9BC1-EE4E-43E7-8994-810C014A59CB}"/>
              </a:ext>
            </a:extLst>
          </p:cNvPr>
          <p:cNvSpPr>
            <a:spLocks noGrp="1"/>
          </p:cNvSpPr>
          <p:nvPr/>
        </p:nvSpPr>
        <p:spPr>
          <a:xfrm>
            <a:off x="7639050" y="1333500"/>
            <a:ext cx="3562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B98F7-0EED-4C92-B5BD-CAC9CC470F47}"/>
              </a:ext>
            </a:extLst>
          </p:cNvPr>
          <p:cNvSpPr>
            <a:spLocks noGrp="1"/>
          </p:cNvSpPr>
          <p:nvPr/>
        </p:nvSpPr>
        <p:spPr>
          <a:xfrm>
            <a:off x="7639050" y="1695450"/>
            <a:ext cx="35623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GET /Books или /Books/Index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D9BB86-D58F-426B-A6D8-50D724114750}"/>
              </a:ext>
            </a:extLst>
          </p:cNvPr>
          <p:cNvSpPr>
            <a:spLocks noGrp="1"/>
          </p:cNvSpPr>
          <p:nvPr/>
        </p:nvSpPr>
        <p:spPr>
          <a:xfrm>
            <a:off x="7467600" y="2324100"/>
            <a:ext cx="3905250" cy="914400"/>
          </a:xfrm>
          <a:prstGeom prst="roundRect">
            <a:avLst>
              <a:gd name="adj" fmla="val 833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96123A-0D8C-4168-B02B-80A183B8369C}"/>
              </a:ext>
            </a:extLst>
          </p:cNvPr>
          <p:cNvSpPr>
            <a:spLocks noGrp="1"/>
          </p:cNvSpPr>
          <p:nvPr/>
        </p:nvSpPr>
        <p:spPr>
          <a:xfrm>
            <a:off x="7639050" y="2438400"/>
            <a:ext cx="3562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E33ACD-5BF4-47B5-802A-85F37ABC6DA5}"/>
              </a:ext>
            </a:extLst>
          </p:cNvPr>
          <p:cNvSpPr>
            <a:spLocks noGrp="1"/>
          </p:cNvSpPr>
          <p:nvPr/>
        </p:nvSpPr>
        <p:spPr>
          <a:xfrm>
            <a:off x="7639050" y="2800350"/>
            <a:ext cx="35623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Методът Index() се изпълнява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9F1A4E-1D28-4A5C-9E03-90FB8F0EB0D5}"/>
              </a:ext>
            </a:extLst>
          </p:cNvPr>
          <p:cNvSpPr>
            <a:spLocks noGrp="1"/>
          </p:cNvSpPr>
          <p:nvPr/>
        </p:nvSpPr>
        <p:spPr>
          <a:xfrm>
            <a:off x="7467600" y="3429000"/>
            <a:ext cx="3905250" cy="914400"/>
          </a:xfrm>
          <a:prstGeom prst="roundRect">
            <a:avLst>
              <a:gd name="adj" fmla="val 833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4112A0-FA68-451A-B6FE-9ADBDB6584F7}"/>
              </a:ext>
            </a:extLst>
          </p:cNvPr>
          <p:cNvSpPr>
            <a:spLocks noGrp="1"/>
          </p:cNvSpPr>
          <p:nvPr/>
        </p:nvSpPr>
        <p:spPr>
          <a:xfrm>
            <a:off x="7639050" y="3543300"/>
            <a:ext cx="3562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Резултат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01288A-0C4C-4404-AC85-794A6017E1E2}"/>
              </a:ext>
            </a:extLst>
          </p:cNvPr>
          <p:cNvSpPr>
            <a:spLocks noGrp="1"/>
          </p:cNvSpPr>
          <p:nvPr/>
        </p:nvSpPr>
        <p:spPr>
          <a:xfrm>
            <a:off x="7639050" y="3905250"/>
            <a:ext cx="35623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View() търси Views/Books/Index.cshtml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14466A-D332-42F1-8E2A-10233AEB2551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Задача: създайте controller файла и компилирайте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53660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CA64FA0-6432-4883-AEA1-F580CE2FE3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2C485A-0BE2-4FE1-A63F-75EF783F7C0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View превръща данните в 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178AD-61D3-4355-99E5-3CD45A289445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6885E-B46C-47D9-B571-7AC54563D40D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98CC87-A7E9-4EF0-A92A-F81EEFAE8207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6477000" cy="3105150"/>
          </a:xfrm>
          <a:prstGeom prst="roundRect">
            <a:avLst>
              <a:gd name="adj" fmla="val 2454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CF9CE-0B94-49C8-9704-6EEAB049A5D7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6134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Views/Books/Index.cshtml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F4B41-05C5-49D4-AAE9-C066FB95DC9D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6096000" cy="2628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@{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ViewData["Title"] = "Каталог";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&lt;h1&gt;Каталог на библиотеката&lt;/h1&gt;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&lt;p&gt;Клиентът получава този текст като HTML.&lt;/p&gt;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B877C5-0FF0-4311-BC04-7DEDCAB64E46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3530600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D3B38-9B54-430B-B663-92F2A1B29CE3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330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Razor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CED3B-C0BA-484E-BD86-EAAEEFBC865A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3302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D59DF1-168F-4246-9E11-5CA1D54D2FD3}"/>
              </a:ext>
            </a:extLst>
          </p:cNvPr>
          <p:cNvSpPr>
            <a:spLocks noGrp="1"/>
          </p:cNvSpPr>
          <p:nvPr/>
        </p:nvSpPr>
        <p:spPr>
          <a:xfrm>
            <a:off x="4140200" y="49720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5F8EFA-BEA8-41B3-9AC8-434726E4DC18}"/>
              </a:ext>
            </a:extLst>
          </p:cNvPr>
          <p:cNvSpPr>
            <a:spLocks noGrp="1"/>
          </p:cNvSpPr>
          <p:nvPr/>
        </p:nvSpPr>
        <p:spPr>
          <a:xfrm>
            <a:off x="4330700" y="4762500"/>
            <a:ext cx="3530600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5F3B8-A676-48F4-BF63-41A7FF45EDDC}"/>
              </a:ext>
            </a:extLst>
          </p:cNvPr>
          <p:cNvSpPr>
            <a:spLocks noGrp="1"/>
          </p:cNvSpPr>
          <p:nvPr/>
        </p:nvSpPr>
        <p:spPr>
          <a:xfrm>
            <a:off x="4445000" y="4857750"/>
            <a:ext cx="330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C16C4-85BD-41D8-BDD8-9DD395AF82B0}"/>
              </a:ext>
            </a:extLst>
          </p:cNvPr>
          <p:cNvSpPr>
            <a:spLocks noGrp="1"/>
          </p:cNvSpPr>
          <p:nvPr/>
        </p:nvSpPr>
        <p:spPr>
          <a:xfrm>
            <a:off x="4445000" y="5162550"/>
            <a:ext cx="3302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response body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22D294-7338-4F91-BF80-43BD0D3F4EA9}"/>
              </a:ext>
            </a:extLst>
          </p:cNvPr>
          <p:cNvSpPr>
            <a:spLocks noGrp="1"/>
          </p:cNvSpPr>
          <p:nvPr/>
        </p:nvSpPr>
        <p:spPr>
          <a:xfrm>
            <a:off x="7861300" y="49720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16D3E6-184B-4D3A-BCAF-72B7C2E87F4C}"/>
              </a:ext>
            </a:extLst>
          </p:cNvPr>
          <p:cNvSpPr>
            <a:spLocks noGrp="1"/>
          </p:cNvSpPr>
          <p:nvPr/>
        </p:nvSpPr>
        <p:spPr>
          <a:xfrm>
            <a:off x="8051800" y="4762500"/>
            <a:ext cx="3530600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58601C-8CC6-4F8E-8CE8-48654A61DDC9}"/>
              </a:ext>
            </a:extLst>
          </p:cNvPr>
          <p:cNvSpPr>
            <a:spLocks noGrp="1"/>
          </p:cNvSpPr>
          <p:nvPr/>
        </p:nvSpPr>
        <p:spPr>
          <a:xfrm>
            <a:off x="8166100" y="4857750"/>
            <a:ext cx="330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Browser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35745-5083-4737-85AC-32FB9C9453C9}"/>
              </a:ext>
            </a:extLst>
          </p:cNvPr>
          <p:cNvSpPr>
            <a:spLocks noGrp="1"/>
          </p:cNvSpPr>
          <p:nvPr/>
        </p:nvSpPr>
        <p:spPr>
          <a:xfrm>
            <a:off x="8166100" y="5162550"/>
            <a:ext cx="3302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визуализация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975E4A-3CA9-44C2-BEB1-4107A34D76D8}"/>
              </a:ext>
            </a:extLst>
          </p:cNvPr>
          <p:cNvSpPr>
            <a:spLocks noGrp="1"/>
          </p:cNvSpPr>
          <p:nvPr/>
        </p:nvSpPr>
        <p:spPr>
          <a:xfrm>
            <a:off x="7562850" y="1200150"/>
            <a:ext cx="3810000" cy="1238250"/>
          </a:xfrm>
          <a:prstGeom prst="roundRect">
            <a:avLst>
              <a:gd name="adj" fmla="val 6154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11F02B-3629-46EC-B1D0-8798F0418563}"/>
              </a:ext>
            </a:extLst>
          </p:cNvPr>
          <p:cNvSpPr>
            <a:spLocks noGrp="1"/>
          </p:cNvSpPr>
          <p:nvPr/>
        </p:nvSpPr>
        <p:spPr>
          <a:xfrm>
            <a:off x="7734300" y="131445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17E3BF-8522-4FF2-830C-AA49B4B298B7}"/>
              </a:ext>
            </a:extLst>
          </p:cNvPr>
          <p:cNvSpPr>
            <a:spLocks noGrp="1"/>
          </p:cNvSpPr>
          <p:nvPr/>
        </p:nvSpPr>
        <p:spPr>
          <a:xfrm>
            <a:off x="7734300" y="1676400"/>
            <a:ext cx="34671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Отворете /Books и вижте Status Code 200 в Network.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AE2854-5015-4E7D-9397-9DD12D416F32}"/>
              </a:ext>
            </a:extLst>
          </p:cNvPr>
          <p:cNvSpPr>
            <a:spLocks noGrp="1"/>
          </p:cNvSpPr>
          <p:nvPr/>
        </p:nvSpPr>
        <p:spPr>
          <a:xfrm>
            <a:off x="7562850" y="2686050"/>
            <a:ext cx="3810000" cy="1238250"/>
          </a:xfrm>
          <a:prstGeom prst="roundRect">
            <a:avLst>
              <a:gd name="adj" fmla="val 6154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FAC0AF-085A-492B-B8B4-33A2EBF5FB70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View Source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7A2922-48FB-4EF3-A460-A9DAA9EE7092}"/>
              </a:ext>
            </a:extLst>
          </p:cNvPr>
          <p:cNvSpPr>
            <a:spLocks noGrp="1"/>
          </p:cNvSpPr>
          <p:nvPr/>
        </p:nvSpPr>
        <p:spPr>
          <a:xfrm>
            <a:off x="7734300" y="3162300"/>
            <a:ext cx="34671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вижда HTML, но не вижда Razor изразите.</a:t>
            </a:r>
          </a:p>
        </p:txBody>
      </p:sp>
    </p:spTree>
    <p:extLst>
      <p:ext uri="{BB962C8B-B14F-4D97-AF65-F5344CB8AC3E}">
        <p14:creationId xmlns:p14="http://schemas.microsoft.com/office/powerpoint/2010/main" val="130312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BA68E08-79CE-4B65-B233-8BF6DF7506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723996-7DF0-4AD2-8259-95524476234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Route parameter: конкретна книга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434D57-4C62-494F-9888-C1CB2E9E076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F68A9D-AE7A-46B7-AC3D-23A19E724156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DC3826-4741-4845-8F39-D92463388AE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619750" cy="247650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BAFDD-776F-4608-AA00-54159AC0E89F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5276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BooksController.cs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1D019-C52C-4F58-979E-7CBB9B8EAE06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5238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IActionResult Details(int id)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ViewData["BookId"] = id;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return View();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91EC2F-3570-40D5-B0F4-ABEDC2955C9B}"/>
              </a:ext>
            </a:extLst>
          </p:cNvPr>
          <p:cNvSpPr>
            <a:spLocks noGrp="1"/>
          </p:cNvSpPr>
          <p:nvPr/>
        </p:nvSpPr>
        <p:spPr>
          <a:xfrm>
            <a:off x="6515100" y="1200150"/>
            <a:ext cx="5048250" cy="15240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85EE0-DB11-4695-A903-5FCA6F81F64C}"/>
              </a:ext>
            </a:extLst>
          </p:cNvPr>
          <p:cNvSpPr>
            <a:spLocks noGrp="1"/>
          </p:cNvSpPr>
          <p:nvPr/>
        </p:nvSpPr>
        <p:spPr>
          <a:xfrm>
            <a:off x="6686550" y="1295400"/>
            <a:ext cx="4705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Views/Books/Details.cshtml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D46FC-F213-44E5-A207-683F4C837508}"/>
              </a:ext>
            </a:extLst>
          </p:cNvPr>
          <p:cNvSpPr>
            <a:spLocks noGrp="1"/>
          </p:cNvSpPr>
          <p:nvPr/>
        </p:nvSpPr>
        <p:spPr>
          <a:xfrm>
            <a:off x="6705600" y="1562100"/>
            <a:ext cx="46672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&lt;h1&gt;Книга №@ViewData["BookId"]&lt;/h1&gt;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&lt;p&gt;Стойността идва от URL адреса.&lt;/p&gt;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768F38-F28C-4B3F-89DE-1D6459AE6A76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8B72FE-617D-4F86-9AD2-882185EB178A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URL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55A6C6-AC3F-44A9-ADF5-8E07C9EBBE20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/Books/Details/5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493022-86D4-4E8A-8437-2A16299C3E8B}"/>
              </a:ext>
            </a:extLst>
          </p:cNvPr>
          <p:cNvSpPr>
            <a:spLocks noGrp="1"/>
          </p:cNvSpPr>
          <p:nvPr/>
        </p:nvSpPr>
        <p:spPr>
          <a:xfrm>
            <a:off x="3209925" y="44577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3C1B9B-01D6-431B-A36B-EDF56D8F93F8}"/>
              </a:ext>
            </a:extLst>
          </p:cNvPr>
          <p:cNvSpPr>
            <a:spLocks noGrp="1"/>
          </p:cNvSpPr>
          <p:nvPr/>
        </p:nvSpPr>
        <p:spPr>
          <a:xfrm>
            <a:off x="3400425" y="42481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8EE44-ED17-4CF6-8C6B-7520D946E826}"/>
              </a:ext>
            </a:extLst>
          </p:cNvPr>
          <p:cNvSpPr>
            <a:spLocks noGrp="1"/>
          </p:cNvSpPr>
          <p:nvPr/>
        </p:nvSpPr>
        <p:spPr>
          <a:xfrm>
            <a:off x="3514725" y="43434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MODEL BINDING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292C43-4974-4973-8B54-06693C6BF547}"/>
              </a:ext>
            </a:extLst>
          </p:cNvPr>
          <p:cNvSpPr>
            <a:spLocks noGrp="1"/>
          </p:cNvSpPr>
          <p:nvPr/>
        </p:nvSpPr>
        <p:spPr>
          <a:xfrm>
            <a:off x="3514725" y="46482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id = 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849C45-70FA-4B08-8D82-D5A9E477FC87}"/>
              </a:ext>
            </a:extLst>
          </p:cNvPr>
          <p:cNvSpPr>
            <a:spLocks noGrp="1"/>
          </p:cNvSpPr>
          <p:nvPr/>
        </p:nvSpPr>
        <p:spPr>
          <a:xfrm>
            <a:off x="6000750" y="44577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2CB4C3-70C4-4C1B-98C7-65950EED1830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559D60-3C70-44A8-BA46-D0F208A75EF3}"/>
              </a:ext>
            </a:extLst>
          </p:cNvPr>
          <p:cNvSpPr>
            <a:spLocks noGrp="1"/>
          </p:cNvSpPr>
          <p:nvPr/>
        </p:nvSpPr>
        <p:spPr>
          <a:xfrm>
            <a:off x="6305550" y="43434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EEB5E7-A265-46E2-9833-D48E5FF2B8CA}"/>
              </a:ext>
            </a:extLst>
          </p:cNvPr>
          <p:cNvSpPr>
            <a:spLocks noGrp="1"/>
          </p:cNvSpPr>
          <p:nvPr/>
        </p:nvSpPr>
        <p:spPr>
          <a:xfrm>
            <a:off x="6305550" y="46482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Details(5)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C99F1A-7DC2-4A77-BFA1-538DD3A4CF97}"/>
              </a:ext>
            </a:extLst>
          </p:cNvPr>
          <p:cNvSpPr>
            <a:spLocks noGrp="1"/>
          </p:cNvSpPr>
          <p:nvPr/>
        </p:nvSpPr>
        <p:spPr>
          <a:xfrm>
            <a:off x="8791575" y="44577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87B8FB0-1799-4AE2-8015-76F21DFB8D87}"/>
              </a:ext>
            </a:extLst>
          </p:cNvPr>
          <p:cNvSpPr>
            <a:spLocks noGrp="1"/>
          </p:cNvSpPr>
          <p:nvPr/>
        </p:nvSpPr>
        <p:spPr>
          <a:xfrm>
            <a:off x="8982075" y="42481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8322BE-FE75-4F0B-973D-B59D20EA3A85}"/>
              </a:ext>
            </a:extLst>
          </p:cNvPr>
          <p:cNvSpPr>
            <a:spLocks noGrp="1"/>
          </p:cNvSpPr>
          <p:nvPr/>
        </p:nvSpPr>
        <p:spPr>
          <a:xfrm>
            <a:off x="9096375" y="43434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174C79-EFA0-4B25-B48D-AC52192926CE}"/>
              </a:ext>
            </a:extLst>
          </p:cNvPr>
          <p:cNvSpPr>
            <a:spLocks noGrp="1"/>
          </p:cNvSpPr>
          <p:nvPr/>
        </p:nvSpPr>
        <p:spPr>
          <a:xfrm>
            <a:off x="9096375" y="46482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B80812-7563-4553-A0FC-4136F7282EBA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Задача: сменете 5 с 12. Коя част от response се променя и защо?</a:t>
            </a:r>
          </a:p>
        </p:txBody>
      </p:sp>
    </p:spTree>
    <p:extLst>
      <p:ext uri="{BB962C8B-B14F-4D97-AF65-F5344CB8AC3E}">
        <p14:creationId xmlns:p14="http://schemas.microsoft.com/office/powerpoint/2010/main" val="137286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0736BC0-FFD3-47D3-BC09-BC62B3F161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38DDDB-9EFA-4FAE-985F-11A7104C371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Мини задача 1: проследяване на 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4E4CD-F6B6-4B5A-AE78-F580715FDDC6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FE6EC-6B05-4B48-80F5-4C61D2AC8EC3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7C42A8-CBE8-452D-9521-DDF2A36EF8B0}"/>
              </a:ext>
            </a:extLst>
          </p:cNvPr>
          <p:cNvSpPr>
            <a:spLocks noGrp="1"/>
          </p:cNvSpPr>
          <p:nvPr/>
        </p:nvSpPr>
        <p:spPr>
          <a:xfrm>
            <a:off x="1562100" y="10287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D4B77B-2F70-48F3-925B-2E258837BB97}"/>
              </a:ext>
            </a:extLst>
          </p:cNvPr>
          <p:cNvSpPr>
            <a:spLocks noGrp="1"/>
          </p:cNvSpPr>
          <p:nvPr/>
        </p:nvSpPr>
        <p:spPr>
          <a:xfrm>
            <a:off x="1752600" y="11715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A9E06-5110-43B5-9A47-F1F1FA715A88}"/>
              </a:ext>
            </a:extLst>
          </p:cNvPr>
          <p:cNvSpPr>
            <a:spLocks noGrp="1"/>
          </p:cNvSpPr>
          <p:nvPr/>
        </p:nvSpPr>
        <p:spPr>
          <a:xfrm>
            <a:off x="1752600" y="11906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B3A46-8B19-430B-A34E-C5D0D6931266}"/>
              </a:ext>
            </a:extLst>
          </p:cNvPr>
          <p:cNvSpPr>
            <a:spLocks noGrp="1"/>
          </p:cNvSpPr>
          <p:nvPr/>
        </p:nvSpPr>
        <p:spPr>
          <a:xfrm>
            <a:off x="2571750" y="11239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Отворете /Books/Details/7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AFCE0A-0AE1-4C60-BF7A-712BB2BDEDA5}"/>
              </a:ext>
            </a:extLst>
          </p:cNvPr>
          <p:cNvSpPr>
            <a:spLocks noGrp="1"/>
          </p:cNvSpPr>
          <p:nvPr/>
        </p:nvSpPr>
        <p:spPr>
          <a:xfrm>
            <a:off x="1562100" y="19431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CEAF5E-EE7B-4B0D-8A8E-74048F771D45}"/>
              </a:ext>
            </a:extLst>
          </p:cNvPr>
          <p:cNvSpPr>
            <a:spLocks noGrp="1"/>
          </p:cNvSpPr>
          <p:nvPr/>
        </p:nvSpPr>
        <p:spPr>
          <a:xfrm>
            <a:off x="1752600" y="20859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49D7B9-0A11-4383-AFDA-38392FECE8BD}"/>
              </a:ext>
            </a:extLst>
          </p:cNvPr>
          <p:cNvSpPr>
            <a:spLocks noGrp="1"/>
          </p:cNvSpPr>
          <p:nvPr/>
        </p:nvSpPr>
        <p:spPr>
          <a:xfrm>
            <a:off x="1752600" y="21050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4F913-8074-468B-B73D-CD0539BD22A7}"/>
              </a:ext>
            </a:extLst>
          </p:cNvPr>
          <p:cNvSpPr>
            <a:spLocks noGrp="1"/>
          </p:cNvSpPr>
          <p:nvPr/>
        </p:nvSpPr>
        <p:spPr>
          <a:xfrm>
            <a:off x="2571750" y="20383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Намерете request в Network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C74429-AD8E-409A-82E5-AF32140054C9}"/>
              </a:ext>
            </a:extLst>
          </p:cNvPr>
          <p:cNvSpPr>
            <a:spLocks noGrp="1"/>
          </p:cNvSpPr>
          <p:nvPr/>
        </p:nvSpPr>
        <p:spPr>
          <a:xfrm>
            <a:off x="1562100" y="28575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3C2972-3904-44EC-9C6F-6B3C946844E9}"/>
              </a:ext>
            </a:extLst>
          </p:cNvPr>
          <p:cNvSpPr>
            <a:spLocks noGrp="1"/>
          </p:cNvSpPr>
          <p:nvPr/>
        </p:nvSpPr>
        <p:spPr>
          <a:xfrm>
            <a:off x="1752600" y="30003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C6C84C-4FB5-4112-8C92-02EAF7C68FC0}"/>
              </a:ext>
            </a:extLst>
          </p:cNvPr>
          <p:cNvSpPr>
            <a:spLocks noGrp="1"/>
          </p:cNvSpPr>
          <p:nvPr/>
        </p:nvSpPr>
        <p:spPr>
          <a:xfrm>
            <a:off x="1752600" y="30194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DEC34-2A04-43D6-8599-D86ECC42651D}"/>
              </a:ext>
            </a:extLst>
          </p:cNvPr>
          <p:cNvSpPr>
            <a:spLocks noGrp="1"/>
          </p:cNvSpPr>
          <p:nvPr/>
        </p:nvSpPr>
        <p:spPr>
          <a:xfrm>
            <a:off x="2571750" y="29527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Запишете method, status и Content-Type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CAD8F2-1FBC-4CD9-8B54-33212193B2AD}"/>
              </a:ext>
            </a:extLst>
          </p:cNvPr>
          <p:cNvSpPr>
            <a:spLocks noGrp="1"/>
          </p:cNvSpPr>
          <p:nvPr/>
        </p:nvSpPr>
        <p:spPr>
          <a:xfrm>
            <a:off x="1562100" y="37719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1D3DCD-346F-41C4-A4C3-5A916F4AD3E3}"/>
              </a:ext>
            </a:extLst>
          </p:cNvPr>
          <p:cNvSpPr>
            <a:spLocks noGrp="1"/>
          </p:cNvSpPr>
          <p:nvPr/>
        </p:nvSpPr>
        <p:spPr>
          <a:xfrm>
            <a:off x="1752600" y="39147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83C38F-CD78-4533-9A9A-985F9A9703A4}"/>
              </a:ext>
            </a:extLst>
          </p:cNvPr>
          <p:cNvSpPr>
            <a:spLocks noGrp="1"/>
          </p:cNvSpPr>
          <p:nvPr/>
        </p:nvSpPr>
        <p:spPr>
          <a:xfrm>
            <a:off x="1752600" y="39338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3E2403-CBFE-4EAC-A17A-C0251C45EB2E}"/>
              </a:ext>
            </a:extLst>
          </p:cNvPr>
          <p:cNvSpPr>
            <a:spLocks noGrp="1"/>
          </p:cNvSpPr>
          <p:nvPr/>
        </p:nvSpPr>
        <p:spPr>
          <a:xfrm>
            <a:off x="2571750" y="38671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Поставете breakpoint в Details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C13158-9B6D-403B-8ECF-33CB4849FA0D}"/>
              </a:ext>
            </a:extLst>
          </p:cNvPr>
          <p:cNvSpPr>
            <a:spLocks noGrp="1"/>
          </p:cNvSpPr>
          <p:nvPr/>
        </p:nvSpPr>
        <p:spPr>
          <a:xfrm>
            <a:off x="1562100" y="46863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3A3E18-B570-4D84-A0B4-4B3047FCFC3D}"/>
              </a:ext>
            </a:extLst>
          </p:cNvPr>
          <p:cNvSpPr>
            <a:spLocks noGrp="1"/>
          </p:cNvSpPr>
          <p:nvPr/>
        </p:nvSpPr>
        <p:spPr>
          <a:xfrm>
            <a:off x="1752600" y="48291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310837-C88F-4B78-9C11-3613C2BE5933}"/>
              </a:ext>
            </a:extLst>
          </p:cNvPr>
          <p:cNvSpPr>
            <a:spLocks noGrp="1"/>
          </p:cNvSpPr>
          <p:nvPr/>
        </p:nvSpPr>
        <p:spPr>
          <a:xfrm>
            <a:off x="1752600" y="48482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B9A681-E1D5-4911-A187-FD87811A927E}"/>
              </a:ext>
            </a:extLst>
          </p:cNvPr>
          <p:cNvSpPr>
            <a:spLocks noGrp="1"/>
          </p:cNvSpPr>
          <p:nvPr/>
        </p:nvSpPr>
        <p:spPr>
          <a:xfrm>
            <a:off x="2571750" y="47815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Презаредете и вижте стойността на 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7336A3-4FE3-4B91-B711-AC2237256B1C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Работа по двойки • 8 минути</a:t>
            </a:r>
          </a:p>
        </p:txBody>
      </p:sp>
    </p:spTree>
    <p:extLst>
      <p:ext uri="{BB962C8B-B14F-4D97-AF65-F5344CB8AC3E}">
        <p14:creationId xmlns:p14="http://schemas.microsoft.com/office/powerpoint/2010/main" val="211117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4125D87-C45F-476A-8E0C-140F1DD78F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8E810E-0D06-413A-AC9E-5F4616B1363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Проверка след първия час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EC2C7A-E6C5-4E9B-A938-A93ABBC39934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КРАЙ НА ЧАС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52122-FF3D-4EFD-956C-F2BB027A293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D2A5E7-8055-488C-A617-A5211E3B9FD9}"/>
              </a:ext>
            </a:extLst>
          </p:cNvPr>
          <p:cNvSpPr>
            <a:spLocks noGrp="1"/>
          </p:cNvSpPr>
          <p:nvPr/>
        </p:nvSpPr>
        <p:spPr>
          <a:xfrm>
            <a:off x="990600" y="11430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DE669-36C4-49C2-8519-61767CAEAE84}"/>
              </a:ext>
            </a:extLst>
          </p:cNvPr>
          <p:cNvSpPr>
            <a:spLocks noGrp="1"/>
          </p:cNvSpPr>
          <p:nvPr/>
        </p:nvSpPr>
        <p:spPr>
          <a:xfrm>
            <a:off x="1238250" y="127635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Кой избира action?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B47E45-A7CF-4832-8C3C-EA5E0011E846}"/>
              </a:ext>
            </a:extLst>
          </p:cNvPr>
          <p:cNvSpPr>
            <a:spLocks noGrp="1"/>
          </p:cNvSpPr>
          <p:nvPr/>
        </p:nvSpPr>
        <p:spPr>
          <a:xfrm>
            <a:off x="7239000" y="13430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EAAA0-570F-4CB6-9333-33C97A5BE2EA}"/>
              </a:ext>
            </a:extLst>
          </p:cNvPr>
          <p:cNvSpPr>
            <a:spLocks noGrp="1"/>
          </p:cNvSpPr>
          <p:nvPr/>
        </p:nvSpPr>
        <p:spPr>
          <a:xfrm>
            <a:off x="7239000" y="13620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Routing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E9A287-FE35-4FE0-80DD-52EE127DEA51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2B24A0-B967-46F7-9075-90C75D2832DE}"/>
              </a:ext>
            </a:extLst>
          </p:cNvPr>
          <p:cNvSpPr>
            <a:spLocks noGrp="1"/>
          </p:cNvSpPr>
          <p:nvPr/>
        </p:nvSpPr>
        <p:spPr>
          <a:xfrm>
            <a:off x="1238250" y="230505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Къде се изпълнява Razor?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1D6FEA-781E-456A-B0C4-583CD10AB267}"/>
              </a:ext>
            </a:extLst>
          </p:cNvPr>
          <p:cNvSpPr>
            <a:spLocks noGrp="1"/>
          </p:cNvSpPr>
          <p:nvPr/>
        </p:nvSpPr>
        <p:spPr>
          <a:xfrm>
            <a:off x="7239000" y="23717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A0BFE-0BDF-449A-98FC-33FE928E36C7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На сървъра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E7D546-B67B-4254-B95F-B960932B678D}"/>
              </a:ext>
            </a:extLst>
          </p:cNvPr>
          <p:cNvSpPr>
            <a:spLocks noGrp="1"/>
          </p:cNvSpPr>
          <p:nvPr/>
        </p:nvSpPr>
        <p:spPr>
          <a:xfrm>
            <a:off x="990600" y="32004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E59424-D650-4C05-9D40-944ABF6AA5A5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 id=7 стига до параметъра?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8A50D8-0DBE-4928-B51A-FABE5EA96CC2}"/>
              </a:ext>
            </a:extLst>
          </p:cNvPr>
          <p:cNvSpPr>
            <a:spLocks noGrp="1"/>
          </p:cNvSpPr>
          <p:nvPr/>
        </p:nvSpPr>
        <p:spPr>
          <a:xfrm>
            <a:off x="7239000" y="34004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099599-E72C-4B34-AF86-83BEE68B8185}"/>
              </a:ext>
            </a:extLst>
          </p:cNvPr>
          <p:cNvSpPr>
            <a:spLocks noGrp="1"/>
          </p:cNvSpPr>
          <p:nvPr/>
        </p:nvSpPr>
        <p:spPr>
          <a:xfrm>
            <a:off x="7239000" y="34194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 binding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213AFD-CB25-49B0-99C5-612ED4057345}"/>
              </a:ext>
            </a:extLst>
          </p:cNvPr>
          <p:cNvSpPr>
            <a:spLocks noGrp="1"/>
          </p:cNvSpPr>
          <p:nvPr/>
        </p:nvSpPr>
        <p:spPr>
          <a:xfrm>
            <a:off x="990600" y="42291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5147F2-6B26-41F5-9DA8-02EE574D6303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получава браузърът?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524968-2517-4095-A523-5281B724D8BD}"/>
              </a:ext>
            </a:extLst>
          </p:cNvPr>
          <p:cNvSpPr>
            <a:spLocks noGrp="1"/>
          </p:cNvSpPr>
          <p:nvPr/>
        </p:nvSpPr>
        <p:spPr>
          <a:xfrm>
            <a:off x="7239000" y="44291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785025-D2CD-4D47-A22C-0B82496EF45E}"/>
              </a:ext>
            </a:extLst>
          </p:cNvPr>
          <p:cNvSpPr>
            <a:spLocks noGrp="1"/>
          </p:cNvSpPr>
          <p:nvPr/>
        </p:nvSpPr>
        <p:spPr>
          <a:xfrm>
            <a:off x="7239000" y="44481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 response с HTML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F3C64D-B97D-4A9F-B4F7-FF35BD86E55F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След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почивката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: query string и HTML form с GET/POST.</a:t>
            </a:r>
          </a:p>
        </p:txBody>
      </p:sp>
    </p:spTree>
    <p:extLst>
      <p:ext uri="{BB962C8B-B14F-4D97-AF65-F5344CB8AC3E}">
        <p14:creationId xmlns:p14="http://schemas.microsoft.com/office/powerpoint/2010/main" val="93531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87C01C8-9551-49C3-9427-30E668E5AB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160D3D-9934-4193-9CA6-ACE8EBB98AB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Час 2: клиентът изпраща данни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07AC32-282F-44DD-B609-ED3ED11EA9A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ЧАС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84FF30-BF94-48AA-AA4A-DFB67F14D576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ECC2AF-9DE7-43A2-AFE3-AC5C17C5290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83CF30-1B71-40DD-AA58-8D557FCCB9DA}"/>
              </a:ext>
            </a:extLst>
          </p:cNvPr>
          <p:cNvSpPr>
            <a:spLocks noGrp="1"/>
          </p:cNvSpPr>
          <p:nvPr/>
        </p:nvSpPr>
        <p:spPr>
          <a:xfrm>
            <a:off x="781050" y="13716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ROUTE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68D97F-4487-4F04-A309-FBE8F603CB21}"/>
              </a:ext>
            </a:extLst>
          </p:cNvPr>
          <p:cNvSpPr>
            <a:spLocks noGrp="1"/>
          </p:cNvSpPr>
          <p:nvPr/>
        </p:nvSpPr>
        <p:spPr>
          <a:xfrm>
            <a:off x="781050" y="1733550"/>
            <a:ext cx="29908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/Books/Details/5 предава id като част от пътя.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C7964A-89DD-43A0-8BBC-A1A28F31D1BA}"/>
              </a:ext>
            </a:extLst>
          </p:cNvPr>
          <p:cNvSpPr>
            <a:spLocks noGrp="1"/>
          </p:cNvSpPr>
          <p:nvPr/>
        </p:nvSpPr>
        <p:spPr>
          <a:xfrm>
            <a:off x="4419600" y="125730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6444C-A3E5-4F67-99A0-05596C8C280D}"/>
              </a:ext>
            </a:extLst>
          </p:cNvPr>
          <p:cNvSpPr>
            <a:spLocks noGrp="1"/>
          </p:cNvSpPr>
          <p:nvPr/>
        </p:nvSpPr>
        <p:spPr>
          <a:xfrm>
            <a:off x="4591050" y="13716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QUERY STRING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4547F3-ECFC-4524-9D9C-77C92DC608FB}"/>
              </a:ext>
            </a:extLst>
          </p:cNvPr>
          <p:cNvSpPr>
            <a:spLocks noGrp="1"/>
          </p:cNvSpPr>
          <p:nvPr/>
        </p:nvSpPr>
        <p:spPr>
          <a:xfrm>
            <a:off x="4591050" y="1733550"/>
            <a:ext cx="29908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/Books/Search?term=web предава критерий след ?.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FFD758-49D6-4856-A660-A6BC310A4359}"/>
              </a:ext>
            </a:extLst>
          </p:cNvPr>
          <p:cNvSpPr>
            <a:spLocks noGrp="1"/>
          </p:cNvSpPr>
          <p:nvPr/>
        </p:nvSpPr>
        <p:spPr>
          <a:xfrm>
            <a:off x="8229600" y="125730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89530-9F58-4D76-87CE-BEC7AB476505}"/>
              </a:ext>
            </a:extLst>
          </p:cNvPr>
          <p:cNvSpPr>
            <a:spLocks noGrp="1"/>
          </p:cNvSpPr>
          <p:nvPr/>
        </p:nvSpPr>
        <p:spPr>
          <a:xfrm>
            <a:off x="8401050" y="13716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FORM BODY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5D862-1A82-4BFB-BF39-17C6C873ED28}"/>
              </a:ext>
            </a:extLst>
          </p:cNvPr>
          <p:cNvSpPr>
            <a:spLocks noGrp="1"/>
          </p:cNvSpPr>
          <p:nvPr/>
        </p:nvSpPr>
        <p:spPr>
          <a:xfrm>
            <a:off x="8401050" y="1733550"/>
            <a:ext cx="29908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POST форма изпраща въведените полета в request body.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CB8479-361D-4B20-9C71-260EE8E0FE9E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42A0B-C411-4179-830C-F4082EABE039}"/>
              </a:ext>
            </a:extLst>
          </p:cNvPr>
          <p:cNvSpPr>
            <a:spLocks noGrp="1"/>
          </p:cNvSpPr>
          <p:nvPr/>
        </p:nvSpPr>
        <p:spPr>
          <a:xfrm>
            <a:off x="723900" y="41338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AFA7A1-60E6-4EFF-A500-E5AF865B00FF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въвежда данни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2CB538-7772-43EA-8EB0-B20EB47C5201}"/>
              </a:ext>
            </a:extLst>
          </p:cNvPr>
          <p:cNvSpPr>
            <a:spLocks noGrp="1"/>
          </p:cNvSpPr>
          <p:nvPr/>
        </p:nvSpPr>
        <p:spPr>
          <a:xfrm>
            <a:off x="3209925" y="42481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6F47EB-40BC-44CA-8108-B9575E136589}"/>
              </a:ext>
            </a:extLst>
          </p:cNvPr>
          <p:cNvSpPr>
            <a:spLocks noGrp="1"/>
          </p:cNvSpPr>
          <p:nvPr/>
        </p:nvSpPr>
        <p:spPr>
          <a:xfrm>
            <a:off x="3400425" y="40386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DCA19-50B3-4105-9563-BCEE73AB04AC}"/>
              </a:ext>
            </a:extLst>
          </p:cNvPr>
          <p:cNvSpPr>
            <a:spLocks noGrp="1"/>
          </p:cNvSpPr>
          <p:nvPr/>
        </p:nvSpPr>
        <p:spPr>
          <a:xfrm>
            <a:off x="3514725" y="41338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76189F-0C3A-4EA5-AD27-DD07E3A364E4}"/>
              </a:ext>
            </a:extLst>
          </p:cNvPr>
          <p:cNvSpPr>
            <a:spLocks noGrp="1"/>
          </p:cNvSpPr>
          <p:nvPr/>
        </p:nvSpPr>
        <p:spPr>
          <a:xfrm>
            <a:off x="3514725" y="44386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пренася данни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93B102-1292-4D9C-8652-6C579990E66D}"/>
              </a:ext>
            </a:extLst>
          </p:cNvPr>
          <p:cNvSpPr>
            <a:spLocks noGrp="1"/>
          </p:cNvSpPr>
          <p:nvPr/>
        </p:nvSpPr>
        <p:spPr>
          <a:xfrm>
            <a:off x="6000750" y="42481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F1DBDA-0B7B-4F8F-B630-5A40A7F5AC19}"/>
              </a:ext>
            </a:extLst>
          </p:cNvPr>
          <p:cNvSpPr>
            <a:spLocks noGrp="1"/>
          </p:cNvSpPr>
          <p:nvPr/>
        </p:nvSpPr>
        <p:spPr>
          <a:xfrm>
            <a:off x="6191250" y="40386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F97E57-CE43-4182-87B2-91014DB39736}"/>
              </a:ext>
            </a:extLst>
          </p:cNvPr>
          <p:cNvSpPr>
            <a:spLocks noGrp="1"/>
          </p:cNvSpPr>
          <p:nvPr/>
        </p:nvSpPr>
        <p:spPr>
          <a:xfrm>
            <a:off x="6305550" y="41338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5EE5E-60C8-419F-9B2B-552EC33A5B97}"/>
              </a:ext>
            </a:extLst>
          </p:cNvPr>
          <p:cNvSpPr>
            <a:spLocks noGrp="1"/>
          </p:cNvSpPr>
          <p:nvPr/>
        </p:nvSpPr>
        <p:spPr>
          <a:xfrm>
            <a:off x="6305550" y="44386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получава параметри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7B2904-A1C1-447B-8904-810B4A4160D9}"/>
              </a:ext>
            </a:extLst>
          </p:cNvPr>
          <p:cNvSpPr>
            <a:spLocks noGrp="1"/>
          </p:cNvSpPr>
          <p:nvPr/>
        </p:nvSpPr>
        <p:spPr>
          <a:xfrm>
            <a:off x="8791575" y="42481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6B7F2F4-C14A-44B4-BE81-F23BB9C3ED70}"/>
              </a:ext>
            </a:extLst>
          </p:cNvPr>
          <p:cNvSpPr>
            <a:spLocks noGrp="1"/>
          </p:cNvSpPr>
          <p:nvPr/>
        </p:nvSpPr>
        <p:spPr>
          <a:xfrm>
            <a:off x="8982075" y="40386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F3AC82-5F60-491B-A184-5F235FF16DAF}"/>
              </a:ext>
            </a:extLst>
          </p:cNvPr>
          <p:cNvSpPr>
            <a:spLocks noGrp="1"/>
          </p:cNvSpPr>
          <p:nvPr/>
        </p:nvSpPr>
        <p:spPr>
          <a:xfrm>
            <a:off x="9096375" y="41338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Response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888F2D-33C6-4207-995A-72359478BC05}"/>
              </a:ext>
            </a:extLst>
          </p:cNvPr>
          <p:cNvSpPr>
            <a:spLocks noGrp="1"/>
          </p:cNvSpPr>
          <p:nvPr/>
        </p:nvSpPr>
        <p:spPr>
          <a:xfrm>
            <a:off x="9096375" y="44386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резултат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A229DD-D46B-41DD-A94F-2822B93D2C1F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Трите начина решават различни задачи. Днес използваме всеки в подходящ контекст.</a:t>
            </a:r>
          </a:p>
        </p:txBody>
      </p:sp>
    </p:spTree>
    <p:extLst>
      <p:ext uri="{BB962C8B-B14F-4D97-AF65-F5344CB8AC3E}">
        <p14:creationId xmlns:p14="http://schemas.microsoft.com/office/powerpoint/2010/main" val="1009523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8CF2548-394B-415C-8BC5-5E0E628837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83493-D8D7-4569-828B-DA55B5AA950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GET с query string: търсене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EEEFBC-FA2E-4A00-9E17-96E7ADC22BC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1C17CE-A1B4-4BB2-8413-A54ABEDEC485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A870F6-DAD8-4F53-B428-B0608C7A3EB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5238750" cy="247650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EF912-C227-4905-9E55-E8F628652307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4895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BooksController.cs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4775FF-7E58-4316-B468-789A8B1BD532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4857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IActionResult Search(string? term)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ViewData["Term"] = term;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return View();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D68292-865C-4049-8126-D8570DCA8734}"/>
              </a:ext>
            </a:extLst>
          </p:cNvPr>
          <p:cNvSpPr>
            <a:spLocks noGrp="1"/>
          </p:cNvSpPr>
          <p:nvPr/>
        </p:nvSpPr>
        <p:spPr>
          <a:xfrm>
            <a:off x="6229350" y="118110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3A7B3-E5F9-40FB-B28F-372F8241CA66}"/>
              </a:ext>
            </a:extLst>
          </p:cNvPr>
          <p:cNvSpPr>
            <a:spLocks noGrp="1"/>
          </p:cNvSpPr>
          <p:nvPr/>
        </p:nvSpPr>
        <p:spPr>
          <a:xfrm>
            <a:off x="6400800" y="1276350"/>
            <a:ext cx="4991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Views/Books/Search.cshtml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CA3253-47D5-4BB4-B9E4-A783CD591F92}"/>
              </a:ext>
            </a:extLst>
          </p:cNvPr>
          <p:cNvSpPr>
            <a:spLocks noGrp="1"/>
          </p:cNvSpPr>
          <p:nvPr/>
        </p:nvSpPr>
        <p:spPr>
          <a:xfrm>
            <a:off x="6419850" y="154305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&lt;form method="get"&gt;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&lt;input name="term" /&gt;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&lt;button type="submit"&gt;Търси&lt;/button&gt;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&lt;/form&gt;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&lt;p&gt;Търсене: @ViewData["Term"]&lt;/p&gt;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A964B5-8DBD-48F7-BF34-110F873A063F}"/>
              </a:ext>
            </a:extLst>
          </p:cNvPr>
          <p:cNvSpPr>
            <a:spLocks noGrp="1"/>
          </p:cNvSpPr>
          <p:nvPr/>
        </p:nvSpPr>
        <p:spPr>
          <a:xfrm>
            <a:off x="1562100" y="4362450"/>
            <a:ext cx="90678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ED47DA-1454-4082-A38D-B8004D883A57}"/>
              </a:ext>
            </a:extLst>
          </p:cNvPr>
          <p:cNvSpPr>
            <a:spLocks noGrp="1"/>
          </p:cNvSpPr>
          <p:nvPr/>
        </p:nvSpPr>
        <p:spPr>
          <a:xfrm>
            <a:off x="1733550" y="44577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REQUEST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E6B3FC-AE43-453C-8B01-39D8BE809F81}"/>
              </a:ext>
            </a:extLst>
          </p:cNvPr>
          <p:cNvSpPr>
            <a:spLocks noGrp="1"/>
          </p:cNvSpPr>
          <p:nvPr/>
        </p:nvSpPr>
        <p:spPr>
          <a:xfrm>
            <a:off x="1752600" y="4724400"/>
            <a:ext cx="8686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GET /Books/Search?term=web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992BC-78E7-49A9-A44B-60A9B27E3B47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GET е подходящ за търсене: адресът може да се копира, запази и повтори.</a:t>
            </a:r>
          </a:p>
        </p:txBody>
      </p:sp>
    </p:spTree>
    <p:extLst>
      <p:ext uri="{BB962C8B-B14F-4D97-AF65-F5344CB8AC3E}">
        <p14:creationId xmlns:p14="http://schemas.microsoft.com/office/powerpoint/2010/main" val="213164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73F541-AE9F-4115-88E8-AAA24A1B4D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FC74CF-A197-4A24-82F4-F0589E4F57A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Кога използваме GET и POST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C1DAE-C880-4460-B924-C028820D9C21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25626E-DEE9-40AB-9320-371216995957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BBF30E-CBCE-435C-BC1F-C74365C9CD43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5257800" cy="3714750"/>
          </a:xfrm>
          <a:prstGeom prst="roundRect">
            <a:avLst>
              <a:gd name="adj" fmla="val 205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C0B0F-7DCF-43E8-A771-BBDAB820CB70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FDA46-E36D-481C-8AE7-B63C1CE5088C}"/>
              </a:ext>
            </a:extLst>
          </p:cNvPr>
          <p:cNvSpPr>
            <a:spLocks noGrp="1"/>
          </p:cNvSpPr>
          <p:nvPr/>
        </p:nvSpPr>
        <p:spPr>
          <a:xfrm>
            <a:off x="933450" y="1962150"/>
            <a:ext cx="4591050" cy="2400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Чете или търси информация</a:t>
            </a:r>
          </a:p>
          <a:p>
            <a:endParaRPr sz="1350" b="1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Данните често са в URL</a:t>
            </a:r>
          </a:p>
          <a:p>
            <a:endParaRPr sz="1350" b="1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Повторението не трябва да променя състоянието</a:t>
            </a:r>
          </a:p>
          <a:p>
            <a:endParaRPr sz="1350" b="1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Пример: /Books/Search?term=web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CA3466-F96C-4086-A88D-955BB47A9CA5}"/>
              </a:ext>
            </a:extLst>
          </p:cNvPr>
          <p:cNvSpPr>
            <a:spLocks noGrp="1"/>
          </p:cNvSpPr>
          <p:nvPr/>
        </p:nvSpPr>
        <p:spPr>
          <a:xfrm>
            <a:off x="6324600" y="1143000"/>
            <a:ext cx="5257800" cy="3714750"/>
          </a:xfrm>
          <a:prstGeom prst="roundRect">
            <a:avLst>
              <a:gd name="adj" fmla="val 2051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C92224-28A5-42ED-A2BF-CDA46D12FAEE}"/>
              </a:ext>
            </a:extLst>
          </p:cNvPr>
          <p:cNvSpPr>
            <a:spLocks noGrp="1"/>
          </p:cNvSpPr>
          <p:nvPr/>
        </p:nvSpPr>
        <p:spPr>
          <a:xfrm>
            <a:off x="6553200" y="13144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POST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9D2C1-7373-4F4B-8B55-2F644BB53073}"/>
              </a:ext>
            </a:extLst>
          </p:cNvPr>
          <p:cNvSpPr>
            <a:spLocks noGrp="1"/>
          </p:cNvSpPr>
          <p:nvPr/>
        </p:nvSpPr>
        <p:spPr>
          <a:xfrm>
            <a:off x="6648450" y="1962150"/>
            <a:ext cx="4591050" cy="2400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Изпраща данни за обработка</a:t>
            </a:r>
          </a:p>
          <a:p>
            <a:endParaRPr sz="1350" b="1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Данните обикновено са в request body</a:t>
            </a:r>
          </a:p>
          <a:p>
            <a:endParaRPr sz="1350" b="1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Може да създаде или промени ресурс</a:t>
            </a:r>
          </a:p>
          <a:p>
            <a:endParaRPr sz="1350" b="1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Пример: добавяне на книга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34389-3F63-4A0A-846A-638970789913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Въпрос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търсене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по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автор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и добавяне на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книга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използват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ли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един и </a:t>
            </a:r>
            <a:r>
              <a:rPr sz="1425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същ</a:t>
            </a:r>
            <a:r>
              <a:rPr sz="1425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method?</a:t>
            </a:r>
          </a:p>
        </p:txBody>
      </p:sp>
    </p:spTree>
    <p:extLst>
      <p:ext uri="{BB962C8B-B14F-4D97-AF65-F5344CB8AC3E}">
        <p14:creationId xmlns:p14="http://schemas.microsoft.com/office/powerpoint/2010/main" val="45370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D23A174-D42B-4BAD-B147-C47276B1FF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AEBE6-0178-42C4-AADB-2945DE0324D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Input model за нова книга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A3C00C-9919-4A35-B6C6-3ADC73781A74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CD151-162C-4D6D-B4C1-2A36E407D6C2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7CC952-8C26-4CC2-8EB0-64104DA1C8B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810250" cy="2628900"/>
          </a:xfrm>
          <a:prstGeom prst="roundRect">
            <a:avLst>
              <a:gd name="adj" fmla="val 2899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355A6-31F0-42C1-9350-DBFB1A2A4EEC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5467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Models/CreateBookInputModel.cs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5BD6A-D4D8-4E68-ACD7-9C8AFC205FE2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5429250" cy="2152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CreateBookInputModel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string Title { get; set; } = string.Empty;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string Author { get; set; } = string.Empty;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B78CA1-63F7-4985-9764-AFF7054FE69A}"/>
              </a:ext>
            </a:extLst>
          </p:cNvPr>
          <p:cNvSpPr>
            <a:spLocks noGrp="1"/>
          </p:cNvSpPr>
          <p:nvPr/>
        </p:nvSpPr>
        <p:spPr>
          <a:xfrm>
            <a:off x="6896100" y="1200150"/>
            <a:ext cx="4476750" cy="1066800"/>
          </a:xfrm>
          <a:prstGeom prst="roundRect">
            <a:avLst>
              <a:gd name="adj" fmla="val 714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9255C4-E134-484C-898C-6C4C1AB69420}"/>
              </a:ext>
            </a:extLst>
          </p:cNvPr>
          <p:cNvSpPr>
            <a:spLocks noGrp="1"/>
          </p:cNvSpPr>
          <p:nvPr/>
        </p:nvSpPr>
        <p:spPr>
          <a:xfrm>
            <a:off x="7067550" y="1314450"/>
            <a:ext cx="4133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Защо отделен тип?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483F8F-37FD-491B-B56F-BA4CEC9806B1}"/>
              </a:ext>
            </a:extLst>
          </p:cNvPr>
          <p:cNvSpPr>
            <a:spLocks noGrp="1"/>
          </p:cNvSpPr>
          <p:nvPr/>
        </p:nvSpPr>
        <p:spPr>
          <a:xfrm>
            <a:off x="7067550" y="1676400"/>
            <a:ext cx="4133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Описва точно полетата, които клиентът може да изпрати.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013A9A-9A30-41E2-9384-95FB9632C9F3}"/>
              </a:ext>
            </a:extLst>
          </p:cNvPr>
          <p:cNvSpPr>
            <a:spLocks noGrp="1"/>
          </p:cNvSpPr>
          <p:nvPr/>
        </p:nvSpPr>
        <p:spPr>
          <a:xfrm>
            <a:off x="6896100" y="2457450"/>
            <a:ext cx="4476750" cy="1066800"/>
          </a:xfrm>
          <a:prstGeom prst="roundRect">
            <a:avLst>
              <a:gd name="adj" fmla="val 714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4D8CE-8048-4FB3-86B2-002EAC33FD1E}"/>
              </a:ext>
            </a:extLst>
          </p:cNvPr>
          <p:cNvSpPr>
            <a:spLocks noGrp="1"/>
          </p:cNvSpPr>
          <p:nvPr/>
        </p:nvSpPr>
        <p:spPr>
          <a:xfrm>
            <a:off x="7067550" y="2571750"/>
            <a:ext cx="4133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Model binding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E3AE8D-F326-4AC6-8B75-D4A21ECD3C7A}"/>
              </a:ext>
            </a:extLst>
          </p:cNvPr>
          <p:cNvSpPr>
            <a:spLocks noGrp="1"/>
          </p:cNvSpPr>
          <p:nvPr/>
        </p:nvSpPr>
        <p:spPr>
          <a:xfrm>
            <a:off x="7067550" y="2933700"/>
            <a:ext cx="4133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Свързва имената на form полетата със свойствата.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61B136-417B-47F5-9DCA-97AF12ADB4BB}"/>
              </a:ext>
            </a:extLst>
          </p:cNvPr>
          <p:cNvSpPr>
            <a:spLocks noGrp="1"/>
          </p:cNvSpPr>
          <p:nvPr/>
        </p:nvSpPr>
        <p:spPr>
          <a:xfrm>
            <a:off x="6896100" y="3714750"/>
            <a:ext cx="4476750" cy="1066800"/>
          </a:xfrm>
          <a:prstGeom prst="roundRect">
            <a:avLst>
              <a:gd name="adj" fmla="val 714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B3DB10-93B7-4B28-98BC-8A7DD9CADBC6}"/>
              </a:ext>
            </a:extLst>
          </p:cNvPr>
          <p:cNvSpPr>
            <a:spLocks noGrp="1"/>
          </p:cNvSpPr>
          <p:nvPr/>
        </p:nvSpPr>
        <p:spPr>
          <a:xfrm>
            <a:off x="7067550" y="3829050"/>
            <a:ext cx="4133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Следваща стъпка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0DB673-3B12-4D6C-8602-3AA95B21C814}"/>
              </a:ext>
            </a:extLst>
          </p:cNvPr>
          <p:cNvSpPr>
            <a:spLocks noGrp="1"/>
          </p:cNvSpPr>
          <p:nvPr/>
        </p:nvSpPr>
        <p:spPr>
          <a:xfrm>
            <a:off x="7067550" y="4191000"/>
            <a:ext cx="4133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По-късно ще добавим validation правила.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AB3DB9-E55F-45BA-9422-F1892696943C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Input model е договорът за входните данни на конкретната операция.</a:t>
            </a:r>
          </a:p>
        </p:txBody>
      </p:sp>
    </p:spTree>
    <p:extLst>
      <p:ext uri="{BB962C8B-B14F-4D97-AF65-F5344CB8AC3E}">
        <p14:creationId xmlns:p14="http://schemas.microsoft.com/office/powerpoint/2010/main" val="619152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844C600-5654-42D2-804C-D0231ABEA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EF4AD6-72AB-4C91-A095-C782CE8B164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Една форма, два controller 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F1A37D-1D44-439A-A2C1-636491223A81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2C7F19-4447-4F1B-AEDE-B2AECEE888B6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08C238-7FEC-4F33-B9F9-5C81BA9758D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191250" cy="4324350"/>
          </a:xfrm>
          <a:prstGeom prst="roundRect">
            <a:avLst>
              <a:gd name="adj" fmla="val 176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EC7A2-DF2C-44CE-BCF3-6CC12CC76F81}"/>
              </a:ext>
            </a:extLst>
          </p:cNvPr>
          <p:cNvSpPr>
            <a:spLocks noGrp="1"/>
          </p:cNvSpPr>
          <p:nvPr/>
        </p:nvSpPr>
        <p:spPr>
          <a:xfrm>
            <a:off x="781050" y="1162050"/>
            <a:ext cx="5848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BooksController.cs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33DB93-7FF0-4BF3-9A0E-3B71346AE64A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5810250" cy="3848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[HttpGet]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IActionResult Create()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return View();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[HttpPost]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IActionResult Create(CreateBookInputModel input)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return Content($"Получена: {input.Title}");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D88B84-0904-425C-9738-E3104E070D14}"/>
              </a:ext>
            </a:extLst>
          </p:cNvPr>
          <p:cNvSpPr>
            <a:spLocks noGrp="1"/>
          </p:cNvSpPr>
          <p:nvPr/>
        </p:nvSpPr>
        <p:spPr>
          <a:xfrm>
            <a:off x="7277100" y="1162050"/>
            <a:ext cx="4095750" cy="1200150"/>
          </a:xfrm>
          <a:prstGeom prst="roundRect">
            <a:avLst>
              <a:gd name="adj" fmla="val 6349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A8D64-3BE7-433A-916A-F8401EE7D38C}"/>
              </a:ext>
            </a:extLst>
          </p:cNvPr>
          <p:cNvSpPr>
            <a:spLocks noGrp="1"/>
          </p:cNvSpPr>
          <p:nvPr/>
        </p:nvSpPr>
        <p:spPr>
          <a:xfrm>
            <a:off x="7448550" y="1276350"/>
            <a:ext cx="3752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GET Create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A56AA-9BBE-41B2-8D62-6F7E0E6D9663}"/>
              </a:ext>
            </a:extLst>
          </p:cNvPr>
          <p:cNvSpPr>
            <a:spLocks noGrp="1"/>
          </p:cNvSpPr>
          <p:nvPr/>
        </p:nvSpPr>
        <p:spPr>
          <a:xfrm>
            <a:off x="7448550" y="1638300"/>
            <a:ext cx="37528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Връща празната HTML форма.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A64179-52C7-4F55-9A45-7758DC833B4F}"/>
              </a:ext>
            </a:extLst>
          </p:cNvPr>
          <p:cNvSpPr>
            <a:spLocks noGrp="1"/>
          </p:cNvSpPr>
          <p:nvPr/>
        </p:nvSpPr>
        <p:spPr>
          <a:xfrm>
            <a:off x="7277100" y="2590800"/>
            <a:ext cx="4095750" cy="1200150"/>
          </a:xfrm>
          <a:prstGeom prst="roundRect">
            <a:avLst>
              <a:gd name="adj" fmla="val 6349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FB1D-EA70-49A5-8987-9EDCA82EE3E8}"/>
              </a:ext>
            </a:extLst>
          </p:cNvPr>
          <p:cNvSpPr>
            <a:spLocks noGrp="1"/>
          </p:cNvSpPr>
          <p:nvPr/>
        </p:nvSpPr>
        <p:spPr>
          <a:xfrm>
            <a:off x="7448550" y="2705100"/>
            <a:ext cx="3752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POST Create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46502C-09A2-40F2-A104-43CECE4E75E0}"/>
              </a:ext>
            </a:extLst>
          </p:cNvPr>
          <p:cNvSpPr>
            <a:spLocks noGrp="1"/>
          </p:cNvSpPr>
          <p:nvPr/>
        </p:nvSpPr>
        <p:spPr>
          <a:xfrm>
            <a:off x="7448550" y="3067050"/>
            <a:ext cx="37528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Получава и обработва въведените данни.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BD73DF-8D09-498F-8951-B06A7FB2C650}"/>
              </a:ext>
            </a:extLst>
          </p:cNvPr>
          <p:cNvSpPr>
            <a:spLocks noGrp="1"/>
          </p:cNvSpPr>
          <p:nvPr/>
        </p:nvSpPr>
        <p:spPr>
          <a:xfrm>
            <a:off x="7277100" y="4019550"/>
            <a:ext cx="4095750" cy="1200150"/>
          </a:xfrm>
          <a:prstGeom prst="roundRect">
            <a:avLst>
              <a:gd name="adj" fmla="val 6349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63845-0374-4446-BCCF-E211B886D0B8}"/>
              </a:ext>
            </a:extLst>
          </p:cNvPr>
          <p:cNvSpPr>
            <a:spLocks noGrp="1"/>
          </p:cNvSpPr>
          <p:nvPr/>
        </p:nvSpPr>
        <p:spPr>
          <a:xfrm>
            <a:off x="7448550" y="4133850"/>
            <a:ext cx="3752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Един URL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8D825C-4E0A-4FC7-9944-9C4008790FF8}"/>
              </a:ext>
            </a:extLst>
          </p:cNvPr>
          <p:cNvSpPr>
            <a:spLocks noGrp="1"/>
          </p:cNvSpPr>
          <p:nvPr/>
        </p:nvSpPr>
        <p:spPr>
          <a:xfrm>
            <a:off x="7448550" y="4495800"/>
            <a:ext cx="37528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HTTP method определя кой action ще се изпълни.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463F7-CF31-4722-BC31-45A030D4FB78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Задача: поставете breakpoint и сравнете GET с POST request.</a:t>
            </a:r>
          </a:p>
        </p:txBody>
      </p:sp>
    </p:spTree>
    <p:extLst>
      <p:ext uri="{BB962C8B-B14F-4D97-AF65-F5344CB8AC3E}">
        <p14:creationId xmlns:p14="http://schemas.microsoft.com/office/powerpoint/2010/main" val="570199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85C2C7-BE2A-48D1-B427-7E7220C1B3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6108B7-3841-42B7-9764-4076CC2DF03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HTML формата генерира POST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4230C-FB1B-4802-81D7-E63D4BE239BF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7972E6-05DC-48CA-8782-7DB237D71CE5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ACE15C-1B63-479B-BE59-1FBD1DCCD92D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6572250" cy="4476750"/>
          </a:xfrm>
          <a:prstGeom prst="roundRect">
            <a:avLst>
              <a:gd name="adj" fmla="val 170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115596-5955-4D59-8170-858872F8B4B2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6229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Views/Books/Create.cshtml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69411-AC79-491B-A030-228617D0A6D2}"/>
              </a:ext>
            </a:extLst>
          </p:cNvPr>
          <p:cNvSpPr>
            <a:spLocks noGrp="1"/>
          </p:cNvSpPr>
          <p:nvPr/>
        </p:nvSpPr>
        <p:spPr>
          <a:xfrm>
            <a:off x="800100" y="1409700"/>
            <a:ext cx="619125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@model CreateBookInputModel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&lt;form asp-action="Create" method="post"&gt;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&lt;label asp-for="Title"&gt;&lt;/label&gt;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&lt;input asp-for="Title" /&gt;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&lt;label asp-for="Author"&gt;&lt;/label&gt;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&lt;input asp-for="Author" /&gt;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&lt;button type="submit"&gt;Добави&lt;/button&gt;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&lt;/form&gt;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007F6F-EFE5-4927-AD88-54E516700951}"/>
              </a:ext>
            </a:extLst>
          </p:cNvPr>
          <p:cNvSpPr>
            <a:spLocks noGrp="1"/>
          </p:cNvSpPr>
          <p:nvPr/>
        </p:nvSpPr>
        <p:spPr>
          <a:xfrm>
            <a:off x="7658100" y="1162050"/>
            <a:ext cx="3714750" cy="971550"/>
          </a:xfrm>
          <a:prstGeom prst="roundRect">
            <a:avLst>
              <a:gd name="adj" fmla="val 784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3D0D0-9750-4034-9F1D-03172858E540}"/>
              </a:ext>
            </a:extLst>
          </p:cNvPr>
          <p:cNvSpPr>
            <a:spLocks noGrp="1"/>
          </p:cNvSpPr>
          <p:nvPr/>
        </p:nvSpPr>
        <p:spPr>
          <a:xfrm>
            <a:off x="7829550" y="127635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asp-action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2D23D-6676-4D64-B733-6F76755DFD2C}"/>
              </a:ext>
            </a:extLst>
          </p:cNvPr>
          <p:cNvSpPr>
            <a:spLocks noGrp="1"/>
          </p:cNvSpPr>
          <p:nvPr/>
        </p:nvSpPr>
        <p:spPr>
          <a:xfrm>
            <a:off x="7829550" y="1638300"/>
            <a:ext cx="3371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Избира адреса на заявката.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32C706F-E212-45A3-8FDF-FCDB4A58AD3C}"/>
              </a:ext>
            </a:extLst>
          </p:cNvPr>
          <p:cNvSpPr>
            <a:spLocks noGrp="1"/>
          </p:cNvSpPr>
          <p:nvPr/>
        </p:nvSpPr>
        <p:spPr>
          <a:xfrm>
            <a:off x="7658100" y="2324100"/>
            <a:ext cx="3714750" cy="971550"/>
          </a:xfrm>
          <a:prstGeom prst="roundRect">
            <a:avLst>
              <a:gd name="adj" fmla="val 784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CB3586-A3A2-4E5B-8C63-EDF4307F77DE}"/>
              </a:ext>
            </a:extLst>
          </p:cNvPr>
          <p:cNvSpPr>
            <a:spLocks noGrp="1"/>
          </p:cNvSpPr>
          <p:nvPr/>
        </p:nvSpPr>
        <p:spPr>
          <a:xfrm>
            <a:off x="7829550" y="243840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method=post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F22D7D-CCD7-40B2-A477-F846E2761295}"/>
              </a:ext>
            </a:extLst>
          </p:cNvPr>
          <p:cNvSpPr>
            <a:spLocks noGrp="1"/>
          </p:cNvSpPr>
          <p:nvPr/>
        </p:nvSpPr>
        <p:spPr>
          <a:xfrm>
            <a:off x="7829550" y="2800350"/>
            <a:ext cx="3371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Определя HTTP method.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213878-E6CC-450E-AD21-9C3FEF67818E}"/>
              </a:ext>
            </a:extLst>
          </p:cNvPr>
          <p:cNvSpPr>
            <a:spLocks noGrp="1"/>
          </p:cNvSpPr>
          <p:nvPr/>
        </p:nvSpPr>
        <p:spPr>
          <a:xfrm>
            <a:off x="7658100" y="3486150"/>
            <a:ext cx="3714750" cy="971550"/>
          </a:xfrm>
          <a:prstGeom prst="roundRect">
            <a:avLst>
              <a:gd name="adj" fmla="val 784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F194E9-ED1C-421F-A089-F425B818F3A1}"/>
              </a:ext>
            </a:extLst>
          </p:cNvPr>
          <p:cNvSpPr>
            <a:spLocks noGrp="1"/>
          </p:cNvSpPr>
          <p:nvPr/>
        </p:nvSpPr>
        <p:spPr>
          <a:xfrm>
            <a:off x="7829550" y="360045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asp-for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52D285-9585-40B6-8430-14433C80AE7B}"/>
              </a:ext>
            </a:extLst>
          </p:cNvPr>
          <p:cNvSpPr>
            <a:spLocks noGrp="1"/>
          </p:cNvSpPr>
          <p:nvPr/>
        </p:nvSpPr>
        <p:spPr>
          <a:xfrm>
            <a:off x="7829550" y="3962400"/>
            <a:ext cx="3371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Свързва input с property.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9F51C1-04D4-4C56-B671-FF4014CBA19E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Network → Payload показва данните, изпратени от формата.</a:t>
            </a:r>
          </a:p>
        </p:txBody>
      </p:sp>
    </p:spTree>
    <p:extLst>
      <p:ext uri="{BB962C8B-B14F-4D97-AF65-F5344CB8AC3E}">
        <p14:creationId xmlns:p14="http://schemas.microsoft.com/office/powerpoint/2010/main" val="46364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5963568-5814-4A00-8B42-369F05D53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D9A3B-39EE-483E-87F9-4FA568C313E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Временен каталог в паметта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1D4AE-C217-452F-8A9F-730C21EF7B43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7E43E0-D8B8-47E3-BEF0-B805E7CAFCFE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85AADA-B5EB-4F55-BF39-3CB7CEA4410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667500" cy="4324350"/>
          </a:xfrm>
          <a:prstGeom prst="roundRect">
            <a:avLst>
              <a:gd name="adj" fmla="val 176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523C6-CB8B-4F6A-AAC0-DA8A7AABFA57}"/>
              </a:ext>
            </a:extLst>
          </p:cNvPr>
          <p:cNvSpPr>
            <a:spLocks noGrp="1"/>
          </p:cNvSpPr>
          <p:nvPr/>
        </p:nvSpPr>
        <p:spPr>
          <a:xfrm>
            <a:off x="781050" y="1162050"/>
            <a:ext cx="6324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Учебен вариант • без база данни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8564D-7DB4-4ACE-AF98-6B6355888347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6286500" cy="3848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private static readonly List&lt;CreateBookInputModel&gt; books = new();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[HttpPost]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IActionResult Create(CreateBookInputModel input)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books.Add(input);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return RedirectToAction(nameof(Index));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IActionResult Index()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return View(books);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48BBA0-7363-46E6-89D7-B9B713A06CB7}"/>
              </a:ext>
            </a:extLst>
          </p:cNvPr>
          <p:cNvSpPr>
            <a:spLocks noGrp="1"/>
          </p:cNvSpPr>
          <p:nvPr/>
        </p:nvSpPr>
        <p:spPr>
          <a:xfrm>
            <a:off x="7753350" y="1200150"/>
            <a:ext cx="3619500" cy="1066800"/>
          </a:xfrm>
          <a:prstGeom prst="roundRect">
            <a:avLst>
              <a:gd name="adj" fmla="val 714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FC4C0D-09E2-48EF-8660-BB43AC1480D3}"/>
              </a:ext>
            </a:extLst>
          </p:cNvPr>
          <p:cNvSpPr>
            <a:spLocks noGrp="1"/>
          </p:cNvSpPr>
          <p:nvPr/>
        </p:nvSpPr>
        <p:spPr>
          <a:xfrm>
            <a:off x="7924800" y="1314450"/>
            <a:ext cx="3276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books.Add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F6225-816F-4FE7-9749-1C6C084C2A82}"/>
              </a:ext>
            </a:extLst>
          </p:cNvPr>
          <p:cNvSpPr>
            <a:spLocks noGrp="1"/>
          </p:cNvSpPr>
          <p:nvPr/>
        </p:nvSpPr>
        <p:spPr>
          <a:xfrm>
            <a:off x="7924800" y="1676400"/>
            <a:ext cx="32766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Променя временно състоянието на сървъра.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6A73AE-3249-4BD9-8DEC-0FD00155D0AD}"/>
              </a:ext>
            </a:extLst>
          </p:cNvPr>
          <p:cNvSpPr>
            <a:spLocks noGrp="1"/>
          </p:cNvSpPr>
          <p:nvPr/>
        </p:nvSpPr>
        <p:spPr>
          <a:xfrm>
            <a:off x="7753350" y="2457450"/>
            <a:ext cx="3619500" cy="1066800"/>
          </a:xfrm>
          <a:prstGeom prst="roundRect">
            <a:avLst>
              <a:gd name="adj" fmla="val 714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0FC59E-5919-4795-A4D8-0B438535A540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3276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Redirect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2613D-4DD0-4A20-91FF-AB136EE463CC}"/>
              </a:ext>
            </a:extLst>
          </p:cNvPr>
          <p:cNvSpPr>
            <a:spLocks noGrp="1"/>
          </p:cNvSpPr>
          <p:nvPr/>
        </p:nvSpPr>
        <p:spPr>
          <a:xfrm>
            <a:off x="7924800" y="2933700"/>
            <a:ext cx="32766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получава нов адрес за GET заявка.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A75B08-995E-408B-99AF-56EA141D86C9}"/>
              </a:ext>
            </a:extLst>
          </p:cNvPr>
          <p:cNvSpPr>
            <a:spLocks noGrp="1"/>
          </p:cNvSpPr>
          <p:nvPr/>
        </p:nvSpPr>
        <p:spPr>
          <a:xfrm>
            <a:off x="7753350" y="3714750"/>
            <a:ext cx="3619500" cy="1066800"/>
          </a:xfrm>
          <a:prstGeom prst="roundRect">
            <a:avLst>
              <a:gd name="adj" fmla="val 7143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595048-5F15-4D84-9C59-C351EE5952E6}"/>
              </a:ext>
            </a:extLst>
          </p:cNvPr>
          <p:cNvSpPr>
            <a:spLocks noGrp="1"/>
          </p:cNvSpPr>
          <p:nvPr/>
        </p:nvSpPr>
        <p:spPr>
          <a:xfrm>
            <a:off x="7924800" y="3829050"/>
            <a:ext cx="3276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Ограничение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2E58AD-8944-4E74-A36E-CED05F2A0997}"/>
              </a:ext>
            </a:extLst>
          </p:cNvPr>
          <p:cNvSpPr>
            <a:spLocks noGrp="1"/>
          </p:cNvSpPr>
          <p:nvPr/>
        </p:nvSpPr>
        <p:spPr>
          <a:xfrm>
            <a:off x="7924800" y="4191000"/>
            <a:ext cx="32766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Данните се губят при рестартиране.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27968-9DD0-440C-B9C3-ECA3891AF0A8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Този списък служи само за наблюдение на комуникацията.</a:t>
            </a:r>
          </a:p>
        </p:txBody>
      </p:sp>
    </p:spTree>
    <p:extLst>
      <p:ext uri="{BB962C8B-B14F-4D97-AF65-F5344CB8AC3E}">
        <p14:creationId xmlns:p14="http://schemas.microsoft.com/office/powerpoint/2010/main" val="138223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9F306BE-7CA7-47DF-A679-EFA3CCAC3D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126A9-1F79-431F-BE2D-3BCF5B92193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Защо след POST правим redirect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5C2CC-9337-4F89-AF55-3C66549B02A8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452DB-298F-4F25-8044-CE043B0D15B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88D210-F764-43FC-B4E8-B41B0934B4AB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E3D724-D72D-473D-B68A-077646571AD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1. POST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995B44-73E6-4D55-B7AE-E607EC529F9F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/Books/Create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D2D02-4224-4477-9B95-214D536640A4}"/>
              </a:ext>
            </a:extLst>
          </p:cNvPr>
          <p:cNvSpPr>
            <a:spLocks noGrp="1"/>
          </p:cNvSpPr>
          <p:nvPr/>
        </p:nvSpPr>
        <p:spPr>
          <a:xfrm>
            <a:off x="3209925" y="22479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C4663C-2780-49C4-9625-D9A349C00BB6}"/>
              </a:ext>
            </a:extLst>
          </p:cNvPr>
          <p:cNvSpPr>
            <a:spLocks noGrp="1"/>
          </p:cNvSpPr>
          <p:nvPr/>
        </p:nvSpPr>
        <p:spPr>
          <a:xfrm>
            <a:off x="3400425" y="20383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273A0-8888-4838-A254-D7EEA6B7B466}"/>
              </a:ext>
            </a:extLst>
          </p:cNvPr>
          <p:cNvSpPr>
            <a:spLocks noGrp="1"/>
          </p:cNvSpPr>
          <p:nvPr/>
        </p:nvSpPr>
        <p:spPr>
          <a:xfrm>
            <a:off x="3514725" y="21336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2.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B6E090-6463-418D-A8A0-3F720917AD6A}"/>
              </a:ext>
            </a:extLst>
          </p:cNvPr>
          <p:cNvSpPr>
            <a:spLocks noGrp="1"/>
          </p:cNvSpPr>
          <p:nvPr/>
        </p:nvSpPr>
        <p:spPr>
          <a:xfrm>
            <a:off x="3514725" y="24384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добавя книга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DF4896-3972-4DD9-B5B4-CC1C49929AD4}"/>
              </a:ext>
            </a:extLst>
          </p:cNvPr>
          <p:cNvSpPr>
            <a:spLocks noGrp="1"/>
          </p:cNvSpPr>
          <p:nvPr/>
        </p:nvSpPr>
        <p:spPr>
          <a:xfrm>
            <a:off x="6000750" y="22479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92E833-CBB9-4A0D-9BD1-4D8C832863DA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26A73-A4D7-4956-88D9-C1D1DA22D4E3}"/>
              </a:ext>
            </a:extLst>
          </p:cNvPr>
          <p:cNvSpPr>
            <a:spLocks noGrp="1"/>
          </p:cNvSpPr>
          <p:nvPr/>
        </p:nvSpPr>
        <p:spPr>
          <a:xfrm>
            <a:off x="6305550" y="21336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3. 302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4E516A-4370-4F22-9BD9-8DB089B8EF75}"/>
              </a:ext>
            </a:extLst>
          </p:cNvPr>
          <p:cNvSpPr>
            <a:spLocks noGrp="1"/>
          </p:cNvSpPr>
          <p:nvPr/>
        </p:nvSpPr>
        <p:spPr>
          <a:xfrm>
            <a:off x="6305550" y="24384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redirect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99DFA-CE5F-4D84-9C53-5E10773C5039}"/>
              </a:ext>
            </a:extLst>
          </p:cNvPr>
          <p:cNvSpPr>
            <a:spLocks noGrp="1"/>
          </p:cNvSpPr>
          <p:nvPr/>
        </p:nvSpPr>
        <p:spPr>
          <a:xfrm>
            <a:off x="8791575" y="224790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A17CF2-E712-4F7A-B941-C9220786F627}"/>
              </a:ext>
            </a:extLst>
          </p:cNvPr>
          <p:cNvSpPr>
            <a:spLocks noGrp="1"/>
          </p:cNvSpPr>
          <p:nvPr/>
        </p:nvSpPr>
        <p:spPr>
          <a:xfrm>
            <a:off x="8982075" y="203835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2E83E9-F4EA-48F8-B37A-35DC786DAF77}"/>
              </a:ext>
            </a:extLst>
          </p:cNvPr>
          <p:cNvSpPr>
            <a:spLocks noGrp="1"/>
          </p:cNvSpPr>
          <p:nvPr/>
        </p:nvSpPr>
        <p:spPr>
          <a:xfrm>
            <a:off x="9096375" y="213360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4. GET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F1AFAA-D71B-42EE-A009-8310094B658B}"/>
              </a:ext>
            </a:extLst>
          </p:cNvPr>
          <p:cNvSpPr>
            <a:spLocks noGrp="1"/>
          </p:cNvSpPr>
          <p:nvPr/>
        </p:nvSpPr>
        <p:spPr>
          <a:xfrm>
            <a:off x="9096375" y="243840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/Books/Index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BD0B0A-A6C8-4361-B073-533A0878236F}"/>
              </a:ext>
            </a:extLst>
          </p:cNvPr>
          <p:cNvSpPr>
            <a:spLocks noGrp="1"/>
          </p:cNvSpPr>
          <p:nvPr/>
        </p:nvSpPr>
        <p:spPr>
          <a:xfrm>
            <a:off x="1562100" y="3486150"/>
            <a:ext cx="9067800" cy="118110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DF9E5-3A54-4F2E-81C4-3805D2CAE9BE}"/>
              </a:ext>
            </a:extLst>
          </p:cNvPr>
          <p:cNvSpPr>
            <a:spLocks noGrp="1"/>
          </p:cNvSpPr>
          <p:nvPr/>
        </p:nvSpPr>
        <p:spPr>
          <a:xfrm>
            <a:off x="1809750" y="363855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Post/Redirect/Get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4777AF-2A83-47ED-91F0-852B8BC6D3A1}"/>
              </a:ext>
            </a:extLst>
          </p:cNvPr>
          <p:cNvSpPr>
            <a:spLocks noGrp="1"/>
          </p:cNvSpPr>
          <p:nvPr/>
        </p:nvSpPr>
        <p:spPr>
          <a:xfrm>
            <a:off x="1809750" y="4038600"/>
            <a:ext cx="8382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936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След успешно изпращане browser получава redirect и зарежда резултата с нов GET request.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15FCD1-61A9-4310-9465-69CD6B5A288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Наблюдение: в Network ще видите POST, 302 и GET като отделни заявки.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599954-EDBD-4C85-B2DF-599720274FA0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Полза: refresh на страницата не изпраща формата повторно.</a:t>
            </a:r>
          </a:p>
        </p:txBody>
      </p:sp>
    </p:spTree>
    <p:extLst>
      <p:ext uri="{BB962C8B-B14F-4D97-AF65-F5344CB8AC3E}">
        <p14:creationId xmlns:p14="http://schemas.microsoft.com/office/powerpoint/2010/main" val="832255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C89DC3B-F5B9-4367-B7C5-3467954E7A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E554C5-AECA-4608-8F05-74A9B9463BD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Мини задача 2: завършен сценарий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5C42D-0E83-409E-985B-4F5454C70682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11525-53A3-444A-AA03-CFB9D677BFFF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B134E7-EC1B-43D5-AAB3-D3F2E1E5967D}"/>
              </a:ext>
            </a:extLst>
          </p:cNvPr>
          <p:cNvSpPr>
            <a:spLocks noGrp="1"/>
          </p:cNvSpPr>
          <p:nvPr/>
        </p:nvSpPr>
        <p:spPr>
          <a:xfrm>
            <a:off x="1562100" y="10287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D990F2-04F1-4110-A086-18D182E4A058}"/>
              </a:ext>
            </a:extLst>
          </p:cNvPr>
          <p:cNvSpPr>
            <a:spLocks noGrp="1"/>
          </p:cNvSpPr>
          <p:nvPr/>
        </p:nvSpPr>
        <p:spPr>
          <a:xfrm>
            <a:off x="1752600" y="11715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EBA506-40B6-411F-A014-C89DB3A40C95}"/>
              </a:ext>
            </a:extLst>
          </p:cNvPr>
          <p:cNvSpPr>
            <a:spLocks noGrp="1"/>
          </p:cNvSpPr>
          <p:nvPr/>
        </p:nvSpPr>
        <p:spPr>
          <a:xfrm>
            <a:off x="1752600" y="11906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644F19-23EF-4096-A6E5-78301EF5191B}"/>
              </a:ext>
            </a:extLst>
          </p:cNvPr>
          <p:cNvSpPr>
            <a:spLocks noGrp="1"/>
          </p:cNvSpPr>
          <p:nvPr/>
        </p:nvSpPr>
        <p:spPr>
          <a:xfrm>
            <a:off x="2571750" y="11239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Отворете GET /Books/Create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F14703-7D93-492D-828B-C12DB0AA91E0}"/>
              </a:ext>
            </a:extLst>
          </p:cNvPr>
          <p:cNvSpPr>
            <a:spLocks noGrp="1"/>
          </p:cNvSpPr>
          <p:nvPr/>
        </p:nvSpPr>
        <p:spPr>
          <a:xfrm>
            <a:off x="1562100" y="19431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1C97AB-62BF-4AD9-BC68-BDC012E2CA01}"/>
              </a:ext>
            </a:extLst>
          </p:cNvPr>
          <p:cNvSpPr>
            <a:spLocks noGrp="1"/>
          </p:cNvSpPr>
          <p:nvPr/>
        </p:nvSpPr>
        <p:spPr>
          <a:xfrm>
            <a:off x="1752600" y="20859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6D1F63-9978-43BF-AFF1-22D6C05DBA09}"/>
              </a:ext>
            </a:extLst>
          </p:cNvPr>
          <p:cNvSpPr>
            <a:spLocks noGrp="1"/>
          </p:cNvSpPr>
          <p:nvPr/>
        </p:nvSpPr>
        <p:spPr>
          <a:xfrm>
            <a:off x="1752600" y="21050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5EBD48-4180-462D-AE72-BFFEBE7AB7A6}"/>
              </a:ext>
            </a:extLst>
          </p:cNvPr>
          <p:cNvSpPr>
            <a:spLocks noGrp="1"/>
          </p:cNvSpPr>
          <p:nvPr/>
        </p:nvSpPr>
        <p:spPr>
          <a:xfrm>
            <a:off x="2571750" y="20383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книга чрез формата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06FFC0-C9FF-484F-A9A1-25E6040F5A4D}"/>
              </a:ext>
            </a:extLst>
          </p:cNvPr>
          <p:cNvSpPr>
            <a:spLocks noGrp="1"/>
          </p:cNvSpPr>
          <p:nvPr/>
        </p:nvSpPr>
        <p:spPr>
          <a:xfrm>
            <a:off x="1562100" y="28575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BCF0DF-FF3B-455A-8E7D-1107A1F943A2}"/>
              </a:ext>
            </a:extLst>
          </p:cNvPr>
          <p:cNvSpPr>
            <a:spLocks noGrp="1"/>
          </p:cNvSpPr>
          <p:nvPr/>
        </p:nvSpPr>
        <p:spPr>
          <a:xfrm>
            <a:off x="1752600" y="30003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737F5-C00E-4E05-8DCF-616E040AF32D}"/>
              </a:ext>
            </a:extLst>
          </p:cNvPr>
          <p:cNvSpPr>
            <a:spLocks noGrp="1"/>
          </p:cNvSpPr>
          <p:nvPr/>
        </p:nvSpPr>
        <p:spPr>
          <a:xfrm>
            <a:off x="1752600" y="30194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4C7F65-FA2E-4A4D-A248-A7C2FF2563FF}"/>
              </a:ext>
            </a:extLst>
          </p:cNvPr>
          <p:cNvSpPr>
            <a:spLocks noGrp="1"/>
          </p:cNvSpPr>
          <p:nvPr/>
        </p:nvSpPr>
        <p:spPr>
          <a:xfrm>
            <a:off x="2571750" y="29527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Намерете POST, 302 и GET в Network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A1BBBB-9ECC-4655-B894-BAC265F0A857}"/>
              </a:ext>
            </a:extLst>
          </p:cNvPr>
          <p:cNvSpPr>
            <a:spLocks noGrp="1"/>
          </p:cNvSpPr>
          <p:nvPr/>
        </p:nvSpPr>
        <p:spPr>
          <a:xfrm>
            <a:off x="1562100" y="37719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05585DC-1CE3-41EB-8414-BA31794DC847}"/>
              </a:ext>
            </a:extLst>
          </p:cNvPr>
          <p:cNvSpPr>
            <a:spLocks noGrp="1"/>
          </p:cNvSpPr>
          <p:nvPr/>
        </p:nvSpPr>
        <p:spPr>
          <a:xfrm>
            <a:off x="1752600" y="39147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4A7F6C-3CC3-4CF5-B95E-15FC0230C329}"/>
              </a:ext>
            </a:extLst>
          </p:cNvPr>
          <p:cNvSpPr>
            <a:spLocks noGrp="1"/>
          </p:cNvSpPr>
          <p:nvPr/>
        </p:nvSpPr>
        <p:spPr>
          <a:xfrm>
            <a:off x="1752600" y="39338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E939EA-9D2F-4830-BFB0-03B3406A9741}"/>
              </a:ext>
            </a:extLst>
          </p:cNvPr>
          <p:cNvSpPr>
            <a:spLocks noGrp="1"/>
          </p:cNvSpPr>
          <p:nvPr/>
        </p:nvSpPr>
        <p:spPr>
          <a:xfrm>
            <a:off x="2571750" y="38671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Проверете, че книгата се показва в Index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0A4146-78C8-4BD9-A1B8-6F0E723CE482}"/>
              </a:ext>
            </a:extLst>
          </p:cNvPr>
          <p:cNvSpPr>
            <a:spLocks noGrp="1"/>
          </p:cNvSpPr>
          <p:nvPr/>
        </p:nvSpPr>
        <p:spPr>
          <a:xfrm>
            <a:off x="1562100" y="46863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6E7108-1077-4202-BF9B-668D1EFD6C5C}"/>
              </a:ext>
            </a:extLst>
          </p:cNvPr>
          <p:cNvSpPr>
            <a:spLocks noGrp="1"/>
          </p:cNvSpPr>
          <p:nvPr/>
        </p:nvSpPr>
        <p:spPr>
          <a:xfrm>
            <a:off x="1752600" y="4829175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ECB3E9-C9AF-4BDD-9EC6-75DA120AEE44}"/>
              </a:ext>
            </a:extLst>
          </p:cNvPr>
          <p:cNvSpPr>
            <a:spLocks noGrp="1"/>
          </p:cNvSpPr>
          <p:nvPr/>
        </p:nvSpPr>
        <p:spPr>
          <a:xfrm>
            <a:off x="1752600" y="484822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360B23-4282-484F-AA82-925C8C116C8F}"/>
              </a:ext>
            </a:extLst>
          </p:cNvPr>
          <p:cNvSpPr>
            <a:spLocks noGrp="1"/>
          </p:cNvSpPr>
          <p:nvPr/>
        </p:nvSpPr>
        <p:spPr>
          <a:xfrm>
            <a:off x="2571750" y="478155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Рестартирайте приложението и обяснете резултата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93937A-2C47-4063-8FE8-45B1DBEE408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Работа по двойки • 10 минути</a:t>
            </a:r>
          </a:p>
        </p:txBody>
      </p:sp>
    </p:spTree>
    <p:extLst>
      <p:ext uri="{BB962C8B-B14F-4D97-AF65-F5344CB8AC3E}">
        <p14:creationId xmlns:p14="http://schemas.microsoft.com/office/powerpoint/2010/main" val="119562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6B4B5AA-6D4C-43CE-8E4E-1166660557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9AAFA-7000-46BA-9526-E47CB75360A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Диагностика: какво означава резултатът?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A1510-5A55-4095-8213-A6D059542999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C0CA9-DEAD-4349-8C33-1D3954476FD6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071AAF-0229-4EBF-9653-EFFA0EDFCCBE}"/>
              </a:ext>
            </a:extLst>
          </p:cNvPr>
          <p:cNvSpPr>
            <a:spLocks noGrp="1"/>
          </p:cNvSpPr>
          <p:nvPr/>
        </p:nvSpPr>
        <p:spPr>
          <a:xfrm>
            <a:off x="990600" y="1104900"/>
            <a:ext cx="10210800" cy="800100"/>
          </a:xfrm>
          <a:prstGeom prst="roundRect">
            <a:avLst>
              <a:gd name="adj" fmla="val 9524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4F2B98-BBB0-469F-9A28-750B7086BDBF}"/>
              </a:ext>
            </a:extLst>
          </p:cNvPr>
          <p:cNvSpPr>
            <a:spLocks noGrp="1"/>
          </p:cNvSpPr>
          <p:nvPr/>
        </p:nvSpPr>
        <p:spPr>
          <a:xfrm>
            <a:off x="1219200" y="1314450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B67B2C-9795-49E7-AE5E-8D02C2C35393}"/>
              </a:ext>
            </a:extLst>
          </p:cNvPr>
          <p:cNvSpPr>
            <a:spLocks noGrp="1"/>
          </p:cNvSpPr>
          <p:nvPr/>
        </p:nvSpPr>
        <p:spPr>
          <a:xfrm>
            <a:off x="1219200" y="13335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404 Not Found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FED78-AB08-4CB9-BDDD-8B0C9E430045}"/>
              </a:ext>
            </a:extLst>
          </p:cNvPr>
          <p:cNvSpPr>
            <a:spLocks noGrp="1"/>
          </p:cNvSpPr>
          <p:nvPr/>
        </p:nvSpPr>
        <p:spPr>
          <a:xfrm>
            <a:off x="4267200" y="123825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route/action не е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намерен</a:t>
            </a:r>
            <a:endParaRPr sz="1350" b="1" dirty="0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C8C673-1FB3-4805-AE18-DE5E48574CF0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10210800" cy="800100"/>
          </a:xfrm>
          <a:prstGeom prst="roundRect">
            <a:avLst>
              <a:gd name="adj" fmla="val 9524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A0F76A-57CC-4D63-B3FA-E343DFDF666B}"/>
              </a:ext>
            </a:extLst>
          </p:cNvPr>
          <p:cNvSpPr>
            <a:spLocks noGrp="1"/>
          </p:cNvSpPr>
          <p:nvPr/>
        </p:nvSpPr>
        <p:spPr>
          <a:xfrm>
            <a:off x="1219200" y="2381250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E0093E-668A-49FE-9139-B196ADA1898F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405 Method Not Allowed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8002B5-C9DE-43B5-9E32-0987B01A73B1}"/>
              </a:ext>
            </a:extLst>
          </p:cNvPr>
          <p:cNvSpPr>
            <a:spLocks noGrp="1"/>
          </p:cNvSpPr>
          <p:nvPr/>
        </p:nvSpPr>
        <p:spPr>
          <a:xfrm>
            <a:off x="4267200" y="230505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URL съществува, но method не е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разрешен</a:t>
            </a:r>
            <a:endParaRPr sz="1350" b="1" dirty="0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BF90B8-11A4-4035-A4EC-D34045F95FCD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10210800" cy="800100"/>
          </a:xfrm>
          <a:prstGeom prst="roundRect">
            <a:avLst>
              <a:gd name="adj" fmla="val 9524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02143F-86F2-475D-8FCA-E59B40A10E95}"/>
              </a:ext>
            </a:extLst>
          </p:cNvPr>
          <p:cNvSpPr>
            <a:spLocks noGrp="1"/>
          </p:cNvSpPr>
          <p:nvPr/>
        </p:nvSpPr>
        <p:spPr>
          <a:xfrm>
            <a:off x="1219200" y="3448050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3BC7D-C3FB-4FD3-AE44-2AA445E2EB29}"/>
              </a:ext>
            </a:extLst>
          </p:cNvPr>
          <p:cNvSpPr>
            <a:spLocks noGrp="1"/>
          </p:cNvSpPr>
          <p:nvPr/>
        </p:nvSpPr>
        <p:spPr>
          <a:xfrm>
            <a:off x="1219200" y="34671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500 Server Error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B2C983-B078-4461-A7D0-76FD086584C8}"/>
              </a:ext>
            </a:extLst>
          </p:cNvPr>
          <p:cNvSpPr>
            <a:spLocks noGrp="1"/>
          </p:cNvSpPr>
          <p:nvPr/>
        </p:nvSpPr>
        <p:spPr>
          <a:xfrm>
            <a:off x="4267200" y="337185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кодът</a:t>
            </a: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 на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сървъра</a:t>
            </a: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 е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хвърлил</a:t>
            </a: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грешка</a:t>
            </a:r>
            <a:endParaRPr sz="1350" b="1" dirty="0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A5EDCA-DC90-4CCE-BC74-0DE6023FDAFB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10210800" cy="800100"/>
          </a:xfrm>
          <a:prstGeom prst="roundRect">
            <a:avLst>
              <a:gd name="adj" fmla="val 9524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89DD444-8E53-4ED3-A6AE-360A09DF61F5}"/>
              </a:ext>
            </a:extLst>
          </p:cNvPr>
          <p:cNvSpPr>
            <a:spLocks noGrp="1"/>
          </p:cNvSpPr>
          <p:nvPr/>
        </p:nvSpPr>
        <p:spPr>
          <a:xfrm>
            <a:off x="1219200" y="4514850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257E02-50DA-4681-83DA-B9DBFA5D53A7}"/>
              </a:ext>
            </a:extLst>
          </p:cNvPr>
          <p:cNvSpPr>
            <a:spLocks noGrp="1"/>
          </p:cNvSpPr>
          <p:nvPr/>
        </p:nvSpPr>
        <p:spPr>
          <a:xfrm>
            <a:off x="1219200" y="45339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200 OK, грешни данни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70D080-27BA-42C5-8A6C-054AD149BA15}"/>
              </a:ext>
            </a:extLst>
          </p:cNvPr>
          <p:cNvSpPr>
            <a:spLocks noGrp="1"/>
          </p:cNvSpPr>
          <p:nvPr/>
        </p:nvSpPr>
        <p:spPr>
          <a:xfrm>
            <a:off x="4267200" y="443865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проверяваме</a:t>
            </a: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 binding,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имена</a:t>
            </a:r>
            <a:r>
              <a:rPr sz="1350" b="1" dirty="0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350" b="1" dirty="0" err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логика</a:t>
            </a:r>
            <a:endParaRPr sz="1350" b="1" dirty="0">
              <a:solidFill>
                <a:srgbClr val="10233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EAC489-8744-422B-89A6-73B98E6994CE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Първо наблюдаваме request и response. След това търсим мястото на 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16749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E4F1405-736B-43AF-B4B1-F7E0CEFB60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F0D31A-69A5-4D7A-9353-5038F0306B1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Обобщение: пълният разговор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46043-87EE-487C-9201-28FE6BCEF5ED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ЗАНЯТИЕТО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45269-8E49-486E-ACB3-52C7593C790B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7FF600-6A9B-48C6-89C4-DA80D3FB905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27F7EE-9C38-4204-AFEF-C91C91F20DB4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Browser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EFAF57-1CFF-4543-A3E9-1AE5DC3BCE51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URL или 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FE809F-CCC5-4A16-A517-22CBE555FF5B}"/>
              </a:ext>
            </a:extLst>
          </p:cNvPr>
          <p:cNvSpPr>
            <a:spLocks noGrp="1"/>
          </p:cNvSpPr>
          <p:nvPr/>
        </p:nvSpPr>
        <p:spPr>
          <a:xfrm>
            <a:off x="3209925" y="17335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307B83-771F-4A59-94EA-5937D7A33CBA}"/>
              </a:ext>
            </a:extLst>
          </p:cNvPr>
          <p:cNvSpPr>
            <a:spLocks noGrp="1"/>
          </p:cNvSpPr>
          <p:nvPr/>
        </p:nvSpPr>
        <p:spPr>
          <a:xfrm>
            <a:off x="3400425" y="15240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5B05C-D829-426E-A9B7-9283CB3CE143}"/>
              </a:ext>
            </a:extLst>
          </p:cNvPr>
          <p:cNvSpPr>
            <a:spLocks noGrp="1"/>
          </p:cNvSpPr>
          <p:nvPr/>
        </p:nvSpPr>
        <p:spPr>
          <a:xfrm>
            <a:off x="3514725" y="16192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HTTP 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1CC4D4-0352-4A92-AD8A-8580F0CE01B6}"/>
              </a:ext>
            </a:extLst>
          </p:cNvPr>
          <p:cNvSpPr>
            <a:spLocks noGrp="1"/>
          </p:cNvSpPr>
          <p:nvPr/>
        </p:nvSpPr>
        <p:spPr>
          <a:xfrm>
            <a:off x="3514725" y="19240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method +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67EFF5-8AE4-4A23-B050-6275EEB1D3D3}"/>
              </a:ext>
            </a:extLst>
          </p:cNvPr>
          <p:cNvSpPr>
            <a:spLocks noGrp="1"/>
          </p:cNvSpPr>
          <p:nvPr/>
        </p:nvSpPr>
        <p:spPr>
          <a:xfrm>
            <a:off x="6000750" y="17335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C00653-D2E0-49EB-9992-E0DD2978875D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323420-C1D3-4511-B0B2-97030397E385}"/>
              </a:ext>
            </a:extLst>
          </p:cNvPr>
          <p:cNvSpPr>
            <a:spLocks noGrp="1"/>
          </p:cNvSpPr>
          <p:nvPr/>
        </p:nvSpPr>
        <p:spPr>
          <a:xfrm>
            <a:off x="6305550" y="16192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MVC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2B27F3-10DF-4D54-9D40-A218282A0294}"/>
              </a:ext>
            </a:extLst>
          </p:cNvPr>
          <p:cNvSpPr>
            <a:spLocks noGrp="1"/>
          </p:cNvSpPr>
          <p:nvPr/>
        </p:nvSpPr>
        <p:spPr>
          <a:xfrm>
            <a:off x="6305550" y="19240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route + 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6C5526-3225-49ED-B6A2-7FD299E1C226}"/>
              </a:ext>
            </a:extLst>
          </p:cNvPr>
          <p:cNvSpPr>
            <a:spLocks noGrp="1"/>
          </p:cNvSpPr>
          <p:nvPr/>
        </p:nvSpPr>
        <p:spPr>
          <a:xfrm>
            <a:off x="8791575" y="1733550"/>
            <a:ext cx="19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2E26C5-1B0E-497F-A608-DA01311FB413}"/>
              </a:ext>
            </a:extLst>
          </p:cNvPr>
          <p:cNvSpPr>
            <a:spLocks noGrp="1"/>
          </p:cNvSpPr>
          <p:nvPr/>
        </p:nvSpPr>
        <p:spPr>
          <a:xfrm>
            <a:off x="8982075" y="1524000"/>
            <a:ext cx="2600325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37A08D-B3B1-4B8B-A758-3E46342CEBE9}"/>
              </a:ext>
            </a:extLst>
          </p:cNvPr>
          <p:cNvSpPr>
            <a:spLocks noGrp="1"/>
          </p:cNvSpPr>
          <p:nvPr/>
        </p:nvSpPr>
        <p:spPr>
          <a:xfrm>
            <a:off x="9096375" y="1619250"/>
            <a:ext cx="23717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HTTP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4A895C-1155-4810-8235-BA6C4B1890B5}"/>
              </a:ext>
            </a:extLst>
          </p:cNvPr>
          <p:cNvSpPr>
            <a:spLocks noGrp="1"/>
          </p:cNvSpPr>
          <p:nvPr/>
        </p:nvSpPr>
        <p:spPr>
          <a:xfrm>
            <a:off x="9096375" y="19240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status + HTML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2AFE2FE-7C9E-42E1-9868-86F139D1CB8C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10210800" cy="1200150"/>
          </a:xfrm>
          <a:prstGeom prst="roundRect">
            <a:avLst>
              <a:gd name="adj" fmla="val 634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828940-5FAB-4E83-8411-AFA8D9C2E030}"/>
              </a:ext>
            </a:extLst>
          </p:cNvPr>
          <p:cNvSpPr>
            <a:spLocks noGrp="1"/>
          </p:cNvSpPr>
          <p:nvPr/>
        </p:nvSpPr>
        <p:spPr>
          <a:xfrm>
            <a:off x="1219200" y="31623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6F30FC-28FC-4285-B4B9-D1DC4BC65AA4}"/>
              </a:ext>
            </a:extLst>
          </p:cNvPr>
          <p:cNvSpPr>
            <a:spLocks noGrp="1"/>
          </p:cNvSpPr>
          <p:nvPr/>
        </p:nvSpPr>
        <p:spPr>
          <a:xfrm>
            <a:off x="1219200" y="3562350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Обяснете с едно изречение защо при добавяне на книга виждаме POST → 302 → GET.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05A6D98-664F-4B97-81A9-B13DEB0539B3}"/>
              </a:ext>
            </a:extLst>
          </p:cNvPr>
          <p:cNvSpPr>
            <a:spLocks noGrp="1"/>
          </p:cNvSpPr>
          <p:nvPr/>
        </p:nvSpPr>
        <p:spPr>
          <a:xfrm>
            <a:off x="1562100" y="4705350"/>
            <a:ext cx="9067800" cy="838200"/>
          </a:xfrm>
          <a:prstGeom prst="roundRect">
            <a:avLst>
              <a:gd name="adj" fmla="val 909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9B782F-A127-4D01-8624-CD83FA9D86CE}"/>
              </a:ext>
            </a:extLst>
          </p:cNvPr>
          <p:cNvSpPr>
            <a:spLocks noGrp="1"/>
          </p:cNvSpPr>
          <p:nvPr/>
        </p:nvSpPr>
        <p:spPr>
          <a:xfrm>
            <a:off x="1809750" y="4857750"/>
            <a:ext cx="8572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SchoolLibrary Mini вече има MVC входни точки. Следващите теми ще заменят временния списък с business, service и data слоеве.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31CB95-DA0D-49A8-961B-86DFAB8514A9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Домашна подготовка: маркирайте в кода кое принадлежи на клиента и кое на сървъра.</a:t>
            </a:r>
          </a:p>
        </p:txBody>
      </p:sp>
    </p:spTree>
    <p:extLst>
      <p:ext uri="{BB962C8B-B14F-4D97-AF65-F5344CB8AC3E}">
        <p14:creationId xmlns:p14="http://schemas.microsoft.com/office/powerpoint/2010/main" val="12032318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2381</Words>
  <Application>Microsoft Office PowerPoint</Application>
  <DocSecurity>0</DocSecurity>
  <PresentationFormat>Widescreen</PresentationFormat>
  <Paragraphs>401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1</cp:revision>
  <dcterms:created xsi:type="dcterms:W3CDTF">2026-10-04T20:49:22Z</dcterms:created>
  <dcterms:modified xsi:type="dcterms:W3CDTF">2026-10-04T21:01:59Z</dcterms:modified>
</cp:coreProperties>
</file>