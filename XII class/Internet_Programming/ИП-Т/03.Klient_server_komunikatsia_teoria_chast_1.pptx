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Свържете урока с предходната тема: учениците вече знаят какво съдържа HTTP заявката. Днес проследяваме кой я създава, как достига до сървъра и как се получава отговорът.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Покажете връзката между теорията и практиката. Postman и браузърът са клиенти, а JSON Server ще изпълнява ролята на локален сървър.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Client означава клиент. Подчертайте, че клиентът е програма, не задължително човек или устройство. Един браузър може едновременно да изпрати много заявки.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Server означава сървър. Уточнете разликата между сървър като програма и машина, на която тя работи. В практиката JSON Server е сървърната програма.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е важна концепция за бъдещия проект. Angular е клиент към ASP.NET Core. ASP.NET Core е сървър към Angular, но клиент към SQL Server или към външно API. Източник: https://www.rfc-editor.org/rfc/rfc9110.html#section-3.3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Request означава заявка, response означава отговор. HTTP е request/response протокол. Сървърът трябва да върне резултат или грешка. Източник: https://www.rfc-editor.org/rfc/rfc9110.html#section-3.4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Свържете с изученото за DNS, порт 80 и 443 и Test-NetConnection. Не навлизайте в пакетен анализ. За практиката е достатъчно учениците да разбират защо работещ ping не гарантира достъпен HTTP порт. Източници: https://developer.mozilla.org/en-US/docs/Web/HTTP/Guides/Overview и https://www.rfc-editor.org/rfc/rfc9114.html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URL означава Uniform Resource Locator. DNS означава Domain Name System. Endpoint е конкретна точка за достъп до API и обикновено се разглежда като комбинация от HTTP метод и път.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Подгответе термините за ASP.NET Core: routing, model validation, business logic, data access и response. На този етап ги представете като логически стъпки, без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Прочетете сценария от начало до край. Това е моделът, който учениците по-късно ще наблюдават в Postman и в Network панела на браузъра.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Тази граница е важна за сигурността и архитектурата. В бъдещия проект Angular няма да се свързва директно със SQL Server, а ще комуникира с ASP.NET Core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Първо оставете учениците да подредят стъпките. След това поискайте обяснение защо DNS и връзката предхождат HTTP обработката.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Използвайте изходния билет като бърза проверка. Следващата теория ще обясни как се запазва потребителски контекст върху stateless HTTP и как браузърът контролира заявки между различни origins.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AB7C41-4CA8-49A6-964E-4CB07C0A8A6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095750" cy="304800"/>
          </a:xfrm>
          <a:prstGeom prst="roundRect">
            <a:avLst>
              <a:gd name="adj" fmla="val 25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F1DD0-3DD4-41CB-9B86-22FFE14AD29E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Теория • 12. клас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68AAED-451C-4F33-9C90-ECA38A5E8BE4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8477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Клиент–сървър комуникация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34F9F0-2896-4D32-B0BC-91067B9BD954}"/>
              </a:ext>
            </a:extLst>
          </p:cNvPr>
          <p:cNvSpPr>
            <a:spLocks noGrp="1"/>
          </p:cNvSpPr>
          <p:nvPr/>
        </p:nvSpPr>
        <p:spPr>
          <a:xfrm>
            <a:off x="552450" y="2190750"/>
            <a:ext cx="8667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Част 1: роли, връзка и request–response цикъл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7F9394-0A7C-4C1F-B671-C97173D31BCD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44399E-F41B-44C7-BC0E-0BC1BB4263D5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FAA8D1-7F2E-43DE-AB96-96F9299B1C34}"/>
              </a:ext>
            </a:extLst>
          </p:cNvPr>
          <p:cNvSpPr>
            <a:spLocks noGrp="1"/>
          </p:cNvSpPr>
          <p:nvPr/>
        </p:nvSpPr>
        <p:spPr>
          <a:xfrm>
            <a:off x="2266950" y="3524250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41CC21-C163-427C-8535-44BB0C7A7036}"/>
              </a:ext>
            </a:extLst>
          </p:cNvPr>
          <p:cNvSpPr>
            <a:spLocks noGrp="1"/>
          </p:cNvSpPr>
          <p:nvPr/>
        </p:nvSpPr>
        <p:spPr>
          <a:xfrm>
            <a:off x="2266950" y="354330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REQUEST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343FDE-40C6-4036-8EE4-541EDA2B7435}"/>
              </a:ext>
            </a:extLst>
          </p:cNvPr>
          <p:cNvSpPr>
            <a:spLocks noGrp="1"/>
          </p:cNvSpPr>
          <p:nvPr/>
        </p:nvSpPr>
        <p:spPr>
          <a:xfrm>
            <a:off x="4171950" y="352425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28D559-CB7B-4DE8-BDDD-5CD7BFC5BE7B}"/>
              </a:ext>
            </a:extLst>
          </p:cNvPr>
          <p:cNvSpPr>
            <a:spLocks noGrp="1"/>
          </p:cNvSpPr>
          <p:nvPr/>
        </p:nvSpPr>
        <p:spPr>
          <a:xfrm>
            <a:off x="4171950" y="354330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EDCED8-D788-4D9B-A090-355275A7B6D1}"/>
              </a:ext>
            </a:extLst>
          </p:cNvPr>
          <p:cNvSpPr>
            <a:spLocks noGrp="1"/>
          </p:cNvSpPr>
          <p:nvPr/>
        </p:nvSpPr>
        <p:spPr>
          <a:xfrm>
            <a:off x="5886450" y="352425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868B3-E517-4289-A577-1C1DCC7256BB}"/>
              </a:ext>
            </a:extLst>
          </p:cNvPr>
          <p:cNvSpPr>
            <a:spLocks noGrp="1"/>
          </p:cNvSpPr>
          <p:nvPr/>
        </p:nvSpPr>
        <p:spPr>
          <a:xfrm>
            <a:off x="5886450" y="35433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RESPONSE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BB72AB-CC84-47CF-82C4-CB751D0B91A9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1 учебен час  |  45 минути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6E2E55-A55C-49C6-B425-E997F3F50572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Продължение след „Видове HTTP заявки“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AEAF95-36EF-4F59-8A4C-4BB4D584C4D5}"/>
              </a:ext>
            </a:extLst>
          </p:cNvPr>
          <p:cNvSpPr>
            <a:spLocks noGrp="1"/>
          </p:cNvSpPr>
          <p:nvPr/>
        </p:nvSpPr>
        <p:spPr>
          <a:xfrm>
            <a:off x="10001250" y="781050"/>
            <a:ext cx="1200150" cy="2781300"/>
          </a:xfrm>
          <a:prstGeom prst="roundRect">
            <a:avLst>
              <a:gd name="adj" fmla="val 6349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37BEBB-A33E-430E-BC1A-5A2D12542138}"/>
              </a:ext>
            </a:extLst>
          </p:cNvPr>
          <p:cNvSpPr>
            <a:spLocks noGrp="1"/>
          </p:cNvSpPr>
          <p:nvPr/>
        </p:nvSpPr>
        <p:spPr>
          <a:xfrm>
            <a:off x="8953500" y="4095750"/>
            <a:ext cx="1257300" cy="1619250"/>
          </a:xfrm>
          <a:prstGeom prst="roundRect">
            <a:avLst>
              <a:gd name="adj" fmla="val 6061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9A9827B-DA23-457B-A48C-E5A31C3047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B180B-8956-41F4-9109-65E29BA898C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Мястото на урока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2F01C2-8952-44D2-8E65-8353E48ACAB8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8200D-FF5A-42A1-AB4B-F54CC44D17F3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DB35D4-31DE-4692-94B8-47590DB262ED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1CBB5B-17F7-4866-8981-32443313DEA5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Вече знаем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B40EF-8452-469F-B31D-3C45DE4BA9D6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289560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HTTP методи, URL, headers, JSON body и status кодове.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8252F4-3237-4F41-AF2F-3B49E62E6106}"/>
              </a:ext>
            </a:extLst>
          </p:cNvPr>
          <p:cNvSpPr>
            <a:spLocks noGrp="1"/>
          </p:cNvSpPr>
          <p:nvPr/>
        </p:nvSpPr>
        <p:spPr>
          <a:xfrm>
            <a:off x="4476750" y="120015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AE4FBD-BCC4-46E3-904A-3B13F0DC39E4}"/>
              </a:ext>
            </a:extLst>
          </p:cNvPr>
          <p:cNvSpPr>
            <a:spLocks noGrp="1"/>
          </p:cNvSpPr>
          <p:nvPr/>
        </p:nvSpPr>
        <p:spPr>
          <a:xfrm>
            <a:off x="4648200" y="13144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Днес изучаваме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5490D4-03FA-4DDB-9D62-BB444D9A5923}"/>
              </a:ext>
            </a:extLst>
          </p:cNvPr>
          <p:cNvSpPr>
            <a:spLocks noGrp="1"/>
          </p:cNvSpPr>
          <p:nvPr/>
        </p:nvSpPr>
        <p:spPr>
          <a:xfrm>
            <a:off x="4648200" y="1676400"/>
            <a:ext cx="289560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Ролите на клиента и сървъра и пълния път на една заявка.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10EB68-7E82-4370-BD5B-37C395812E26}"/>
              </a:ext>
            </a:extLst>
          </p:cNvPr>
          <p:cNvSpPr>
            <a:spLocks noGrp="1"/>
          </p:cNvSpPr>
          <p:nvPr/>
        </p:nvSpPr>
        <p:spPr>
          <a:xfrm>
            <a:off x="8343900" y="120015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344896-C463-45D1-A9CB-0393A0423D37}"/>
              </a:ext>
            </a:extLst>
          </p:cNvPr>
          <p:cNvSpPr>
            <a:spLocks noGrp="1"/>
          </p:cNvSpPr>
          <p:nvPr/>
        </p:nvSpPr>
        <p:spPr>
          <a:xfrm>
            <a:off x="8515350" y="13144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Следващият час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97969D-B206-46A8-A86E-747ED0578B6C}"/>
              </a:ext>
            </a:extLst>
          </p:cNvPr>
          <p:cNvSpPr>
            <a:spLocks noGrp="1"/>
          </p:cNvSpPr>
          <p:nvPr/>
        </p:nvSpPr>
        <p:spPr>
          <a:xfrm>
            <a:off x="8515350" y="1676400"/>
            <a:ext cx="289560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Състояние, сесии, cookies, паралелни заявки, CORS и грешки.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8155D0-A5F5-4D4B-B377-828B559A6ED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ctr">
              <a:defRPr sz="19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Подготовка за практиката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3A142B-0A9D-4DD3-B55F-5D87758CD20F}"/>
              </a:ext>
            </a:extLst>
          </p:cNvPr>
          <p:cNvSpPr>
            <a:spLocks noGrp="1"/>
          </p:cNvSpPr>
          <p:nvPr/>
        </p:nvSpPr>
        <p:spPr>
          <a:xfrm>
            <a:off x="1143000" y="440055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174BF3-A7AF-47F6-95B5-3C18FD61E628}"/>
              </a:ext>
            </a:extLst>
          </p:cNvPr>
          <p:cNvSpPr>
            <a:spLocks noGrp="1"/>
          </p:cNvSpPr>
          <p:nvPr/>
        </p:nvSpPr>
        <p:spPr>
          <a:xfrm>
            <a:off x="1143000" y="44196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БРАУЗЪР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050850D-DC32-48BB-A961-CA8D8F8740BB}"/>
              </a:ext>
            </a:extLst>
          </p:cNvPr>
          <p:cNvSpPr>
            <a:spLocks noGrp="1"/>
          </p:cNvSpPr>
          <p:nvPr/>
        </p:nvSpPr>
        <p:spPr>
          <a:xfrm>
            <a:off x="3219450" y="440055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91CE79-83F3-4F34-8CC6-2C9071DBCC11}"/>
              </a:ext>
            </a:extLst>
          </p:cNvPr>
          <p:cNvSpPr>
            <a:spLocks noGrp="1"/>
          </p:cNvSpPr>
          <p:nvPr/>
        </p:nvSpPr>
        <p:spPr>
          <a:xfrm>
            <a:off x="3219450" y="44196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POSTMAN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B21312-7DFB-448B-A5D0-11C8574E7899}"/>
              </a:ext>
            </a:extLst>
          </p:cNvPr>
          <p:cNvSpPr>
            <a:spLocks noGrp="1"/>
          </p:cNvSpPr>
          <p:nvPr/>
        </p:nvSpPr>
        <p:spPr>
          <a:xfrm>
            <a:off x="5295900" y="4400550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F4C7FB-ED53-4B72-B523-2936D19A33D7}"/>
              </a:ext>
            </a:extLst>
          </p:cNvPr>
          <p:cNvSpPr>
            <a:spLocks noGrp="1"/>
          </p:cNvSpPr>
          <p:nvPr/>
        </p:nvSpPr>
        <p:spPr>
          <a:xfrm>
            <a:off x="5295900" y="44196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JSON SERVER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B83AE3-FEB3-41D9-B3A3-7409790E06D7}"/>
              </a:ext>
            </a:extLst>
          </p:cNvPr>
          <p:cNvSpPr>
            <a:spLocks noGrp="1"/>
          </p:cNvSpPr>
          <p:nvPr/>
        </p:nvSpPr>
        <p:spPr>
          <a:xfrm>
            <a:off x="7562850" y="440055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C0A02D-1985-4ACE-A423-C6949D3379C6}"/>
              </a:ext>
            </a:extLst>
          </p:cNvPr>
          <p:cNvSpPr>
            <a:spLocks noGrp="1"/>
          </p:cNvSpPr>
          <p:nvPr/>
        </p:nvSpPr>
        <p:spPr>
          <a:xfrm>
            <a:off x="7562850" y="44196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DEVTOOLS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17E675-B442-4E07-8B8D-CCFE2972406D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В практическите часове ще наблюдаваме реални заявки и отговори.</a:t>
            </a:r>
          </a:p>
        </p:txBody>
      </p:sp>
    </p:spTree>
    <p:extLst>
      <p:ext uri="{BB962C8B-B14F-4D97-AF65-F5344CB8AC3E}">
        <p14:creationId xmlns:p14="http://schemas.microsoft.com/office/powerpoint/2010/main" val="23017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6EB783E-5C15-4648-AF35-A054B1380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86530-1717-4808-BB9D-2121680B9C9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е клиент?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87BFF9-42CC-4433-874A-EDE83CFEECB8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378915-D690-4EA2-AD11-35301D6C88D4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70E6EA-212D-43F9-A588-1D570E37F74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5143500" cy="1962150"/>
          </a:xfrm>
          <a:prstGeom prst="roundRect">
            <a:avLst>
              <a:gd name="adj" fmla="val 388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8637DA-ECAC-44B9-876F-FDFD40EAA1C4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4800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40A822-CA11-48CD-B795-75A12D20F5BA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480060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Програма, която установява връзка и изпраща заявка, за да получи данни или да предизвика операция.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F1363-8117-4D3D-A8FF-7A01FDA7CA82}"/>
              </a:ext>
            </a:extLst>
          </p:cNvPr>
          <p:cNvSpPr>
            <a:spLocks noGrp="1"/>
          </p:cNvSpPr>
          <p:nvPr/>
        </p:nvSpPr>
        <p:spPr>
          <a:xfrm>
            <a:off x="6534150" y="12001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l">
              <a:defRPr sz="18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Примери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DBB605-96C6-4363-8C92-A1AF8B28F4F8}"/>
              </a:ext>
            </a:extLst>
          </p:cNvPr>
          <p:cNvSpPr>
            <a:spLocks noGrp="1"/>
          </p:cNvSpPr>
          <p:nvPr/>
        </p:nvSpPr>
        <p:spPr>
          <a:xfrm>
            <a:off x="6534150" y="17526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B801B-2745-424F-BAF5-09BC210F6A10}"/>
              </a:ext>
            </a:extLst>
          </p:cNvPr>
          <p:cNvSpPr>
            <a:spLocks noGrp="1"/>
          </p:cNvSpPr>
          <p:nvPr/>
        </p:nvSpPr>
        <p:spPr>
          <a:xfrm>
            <a:off x="6534150" y="17716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F9F07C-4E54-4CAA-B4AE-457CB3607AF2}"/>
              </a:ext>
            </a:extLst>
          </p:cNvPr>
          <p:cNvSpPr>
            <a:spLocks noGrp="1"/>
          </p:cNvSpPr>
          <p:nvPr/>
        </p:nvSpPr>
        <p:spPr>
          <a:xfrm>
            <a:off x="7200900" y="16954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Web browser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400A34-9ECD-49CC-B644-60B093EF3895}"/>
              </a:ext>
            </a:extLst>
          </p:cNvPr>
          <p:cNvSpPr>
            <a:spLocks noGrp="1"/>
          </p:cNvSpPr>
          <p:nvPr/>
        </p:nvSpPr>
        <p:spPr>
          <a:xfrm>
            <a:off x="7200900" y="20002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зарежда страници и извиква API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521AF4-A70B-423E-BF28-0A157A54B68D}"/>
              </a:ext>
            </a:extLst>
          </p:cNvPr>
          <p:cNvSpPr>
            <a:spLocks noGrp="1"/>
          </p:cNvSpPr>
          <p:nvPr/>
        </p:nvSpPr>
        <p:spPr>
          <a:xfrm>
            <a:off x="6534150" y="25336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326BA-98E8-4C88-AC2E-61433878DE8E}"/>
              </a:ext>
            </a:extLst>
          </p:cNvPr>
          <p:cNvSpPr>
            <a:spLocks noGrp="1"/>
          </p:cNvSpPr>
          <p:nvPr/>
        </p:nvSpPr>
        <p:spPr>
          <a:xfrm>
            <a:off x="6534150" y="25527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A5D966-D796-4207-8251-E204DFD9C9C1}"/>
              </a:ext>
            </a:extLst>
          </p:cNvPr>
          <p:cNvSpPr>
            <a:spLocks noGrp="1"/>
          </p:cNvSpPr>
          <p:nvPr/>
        </p:nvSpPr>
        <p:spPr>
          <a:xfrm>
            <a:off x="7200900" y="24765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Postman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16C779-8658-4475-AAFA-83E8C4CBD6F6}"/>
              </a:ext>
            </a:extLst>
          </p:cNvPr>
          <p:cNvSpPr>
            <a:spLocks noGrp="1"/>
          </p:cNvSpPr>
          <p:nvPr/>
        </p:nvSpPr>
        <p:spPr>
          <a:xfrm>
            <a:off x="7200900" y="27813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изпраща ръчно HTTP заявки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96A109-0E5C-40E7-ACE9-3163DBBBC870}"/>
              </a:ext>
            </a:extLst>
          </p:cNvPr>
          <p:cNvSpPr>
            <a:spLocks noGrp="1"/>
          </p:cNvSpPr>
          <p:nvPr/>
        </p:nvSpPr>
        <p:spPr>
          <a:xfrm>
            <a:off x="6534150" y="33147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97BE72-CF30-4E13-B485-BF7417E7175D}"/>
              </a:ext>
            </a:extLst>
          </p:cNvPr>
          <p:cNvSpPr>
            <a:spLocks noGrp="1"/>
          </p:cNvSpPr>
          <p:nvPr/>
        </p:nvSpPr>
        <p:spPr>
          <a:xfrm>
            <a:off x="6534150" y="33337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9557A5-A935-4B0F-BD64-D5C14BFA122E}"/>
              </a:ext>
            </a:extLst>
          </p:cNvPr>
          <p:cNvSpPr>
            <a:spLocks noGrp="1"/>
          </p:cNvSpPr>
          <p:nvPr/>
        </p:nvSpPr>
        <p:spPr>
          <a:xfrm>
            <a:off x="7200900" y="32575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Angular application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8A9A1D-70AD-4D83-B3E8-E9BF488EEFD2}"/>
              </a:ext>
            </a:extLst>
          </p:cNvPr>
          <p:cNvSpPr>
            <a:spLocks noGrp="1"/>
          </p:cNvSpPr>
          <p:nvPr/>
        </p:nvSpPr>
        <p:spPr>
          <a:xfrm>
            <a:off x="7200900" y="35623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изпраща заявки чрез HttpClient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E2E2BF-AA68-4EED-BA27-03EAE510D13E}"/>
              </a:ext>
            </a:extLst>
          </p:cNvPr>
          <p:cNvSpPr>
            <a:spLocks noGrp="1"/>
          </p:cNvSpPr>
          <p:nvPr/>
        </p:nvSpPr>
        <p:spPr>
          <a:xfrm>
            <a:off x="6534150" y="40957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CC59C5-09A1-4900-A0DC-E45BAC55C067}"/>
              </a:ext>
            </a:extLst>
          </p:cNvPr>
          <p:cNvSpPr>
            <a:spLocks noGrp="1"/>
          </p:cNvSpPr>
          <p:nvPr/>
        </p:nvSpPr>
        <p:spPr>
          <a:xfrm>
            <a:off x="6534150" y="41148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CE3C93-F1DE-4533-BF7B-7B9FAA7814E5}"/>
              </a:ext>
            </a:extLst>
          </p:cNvPr>
          <p:cNvSpPr>
            <a:spLocks noGrp="1"/>
          </p:cNvSpPr>
          <p:nvPr/>
        </p:nvSpPr>
        <p:spPr>
          <a:xfrm>
            <a:off x="7200900" y="40386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Mobile application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64720A-1955-4A48-A86B-9C0F5BE80CBB}"/>
              </a:ext>
            </a:extLst>
          </p:cNvPr>
          <p:cNvSpPr>
            <a:spLocks noGrp="1"/>
          </p:cNvSpPr>
          <p:nvPr/>
        </p:nvSpPr>
        <p:spPr>
          <a:xfrm>
            <a:off x="7200900" y="43434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използва отдалечени услуги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F236C4-6096-4EF5-B46D-0C4A9B982DE6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143500" cy="1200150"/>
          </a:xfrm>
          <a:prstGeom prst="roundRect">
            <a:avLst>
              <a:gd name="adj" fmla="val 6349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DA7495-ACCC-4A96-AE4D-A6464ADFEE07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4800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КЛИЕНТЪТ СЪЗДАВА ЗАЯВКАТА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92C67E-DF10-4C35-9A64-902F827665A7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GET /posts/4 HTTP/1.1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Host: localhost:3000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8EF6D9-8C34-4E85-9237-994FEF3AB219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5143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Клиентът започва комуникацията.</a:t>
            </a:r>
          </a:p>
        </p:txBody>
      </p:sp>
    </p:spTree>
    <p:extLst>
      <p:ext uri="{BB962C8B-B14F-4D97-AF65-F5344CB8AC3E}">
        <p14:creationId xmlns:p14="http://schemas.microsoft.com/office/powerpoint/2010/main" val="61327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3356305-43FD-461E-BCCB-D2F714122A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12B5D4-31D8-41E7-B854-7D61890B602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е сървър?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67DA17-B645-4DA3-9389-F423A31E8645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2E996-9ADE-4E14-94FB-E84C1C00199D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82D5B1-274A-4212-B2A8-11444965C3C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5143500" cy="1962150"/>
          </a:xfrm>
          <a:prstGeom prst="roundRect">
            <a:avLst>
              <a:gd name="adj" fmla="val 388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2E2FD8-9409-49F6-99A9-D92D6D92C650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4800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Сървър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7BF3C-43F9-4877-AFD8-989D3131A8CE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480060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Програма, която приема връзки, обработва HTTP заявки и връща HTTP отговори.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2BCE0-18CD-4A83-8456-576CE5D38755}"/>
              </a:ext>
            </a:extLst>
          </p:cNvPr>
          <p:cNvSpPr>
            <a:spLocks noGrp="1"/>
          </p:cNvSpPr>
          <p:nvPr/>
        </p:nvSpPr>
        <p:spPr>
          <a:xfrm>
            <a:off x="6534150" y="12001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l">
              <a:defRPr sz="18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може да направи?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F5C601-2BC4-40BC-977A-19DB8FF424BD}"/>
              </a:ext>
            </a:extLst>
          </p:cNvPr>
          <p:cNvSpPr>
            <a:spLocks noGrp="1"/>
          </p:cNvSpPr>
          <p:nvPr/>
        </p:nvSpPr>
        <p:spPr>
          <a:xfrm>
            <a:off x="6534150" y="17526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D571DB-737C-40B9-85B0-8FA9E9BD0EB6}"/>
              </a:ext>
            </a:extLst>
          </p:cNvPr>
          <p:cNvSpPr>
            <a:spLocks noGrp="1"/>
          </p:cNvSpPr>
          <p:nvPr/>
        </p:nvSpPr>
        <p:spPr>
          <a:xfrm>
            <a:off x="6534150" y="17716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BE6BAC-8BF5-4EA4-890F-D34FB76D626D}"/>
              </a:ext>
            </a:extLst>
          </p:cNvPr>
          <p:cNvSpPr>
            <a:spLocks noGrp="1"/>
          </p:cNvSpPr>
          <p:nvPr/>
        </p:nvSpPr>
        <p:spPr>
          <a:xfrm>
            <a:off x="7200900" y="16954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Маршрутизиране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8B8910-F00D-4998-B6B9-B51863734537}"/>
              </a:ext>
            </a:extLst>
          </p:cNvPr>
          <p:cNvSpPr>
            <a:spLocks noGrp="1"/>
          </p:cNvSpPr>
          <p:nvPr/>
        </p:nvSpPr>
        <p:spPr>
          <a:xfrm>
            <a:off x="7200900" y="20002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избира подходящ endpoint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C892D9-B213-4C65-BB37-C2B4FEE01F4D}"/>
              </a:ext>
            </a:extLst>
          </p:cNvPr>
          <p:cNvSpPr>
            <a:spLocks noGrp="1"/>
          </p:cNvSpPr>
          <p:nvPr/>
        </p:nvSpPr>
        <p:spPr>
          <a:xfrm>
            <a:off x="6534150" y="25336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BDF3A6-E316-4BDD-9647-61D092B74014}"/>
              </a:ext>
            </a:extLst>
          </p:cNvPr>
          <p:cNvSpPr>
            <a:spLocks noGrp="1"/>
          </p:cNvSpPr>
          <p:nvPr/>
        </p:nvSpPr>
        <p:spPr>
          <a:xfrm>
            <a:off x="6534150" y="25527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7D341E-872B-4CEA-A3D9-8A5DB1E263C5}"/>
              </a:ext>
            </a:extLst>
          </p:cNvPr>
          <p:cNvSpPr>
            <a:spLocks noGrp="1"/>
          </p:cNvSpPr>
          <p:nvPr/>
        </p:nvSpPr>
        <p:spPr>
          <a:xfrm>
            <a:off x="7200900" y="24765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4BD6B1-6D3D-4C88-8993-10679355F8AB}"/>
              </a:ext>
            </a:extLst>
          </p:cNvPr>
          <p:cNvSpPr>
            <a:spLocks noGrp="1"/>
          </p:cNvSpPr>
          <p:nvPr/>
        </p:nvSpPr>
        <p:spPr>
          <a:xfrm>
            <a:off x="7200900" y="27813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валидира адрес, данни и права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CE30E6-72FB-406B-A219-BAE3C1CADA24}"/>
              </a:ext>
            </a:extLst>
          </p:cNvPr>
          <p:cNvSpPr>
            <a:spLocks noGrp="1"/>
          </p:cNvSpPr>
          <p:nvPr/>
        </p:nvSpPr>
        <p:spPr>
          <a:xfrm>
            <a:off x="6534150" y="33147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367C2A-0EFD-4DC4-80C9-9DD9A36D4769}"/>
              </a:ext>
            </a:extLst>
          </p:cNvPr>
          <p:cNvSpPr>
            <a:spLocks noGrp="1"/>
          </p:cNvSpPr>
          <p:nvPr/>
        </p:nvSpPr>
        <p:spPr>
          <a:xfrm>
            <a:off x="6534150" y="33337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18D470-C5F1-4112-92AB-390C08286BEA}"/>
              </a:ext>
            </a:extLst>
          </p:cNvPr>
          <p:cNvSpPr>
            <a:spLocks noGrp="1"/>
          </p:cNvSpPr>
          <p:nvPr/>
        </p:nvSpPr>
        <p:spPr>
          <a:xfrm>
            <a:off x="7200900" y="32575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Бизнес логика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A9B898-5929-48E5-939B-1FD4A51FD55E}"/>
              </a:ext>
            </a:extLst>
          </p:cNvPr>
          <p:cNvSpPr>
            <a:spLocks noGrp="1"/>
          </p:cNvSpPr>
          <p:nvPr/>
        </p:nvSpPr>
        <p:spPr>
          <a:xfrm>
            <a:off x="7200900" y="35623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изпълнява правилата на приложението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C740A9A-D6A7-405A-B741-7B47321C21E0}"/>
              </a:ext>
            </a:extLst>
          </p:cNvPr>
          <p:cNvSpPr>
            <a:spLocks noGrp="1"/>
          </p:cNvSpPr>
          <p:nvPr/>
        </p:nvSpPr>
        <p:spPr>
          <a:xfrm>
            <a:off x="6534150" y="40957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F9158D-B0EF-4C1B-9858-8CBE7E8CB61C}"/>
              </a:ext>
            </a:extLst>
          </p:cNvPr>
          <p:cNvSpPr>
            <a:spLocks noGrp="1"/>
          </p:cNvSpPr>
          <p:nvPr/>
        </p:nvSpPr>
        <p:spPr>
          <a:xfrm>
            <a:off x="6534150" y="41148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971C1B-8A21-4D42-B883-9998EC88C955}"/>
              </a:ext>
            </a:extLst>
          </p:cNvPr>
          <p:cNvSpPr>
            <a:spLocks noGrp="1"/>
          </p:cNvSpPr>
          <p:nvPr/>
        </p:nvSpPr>
        <p:spPr>
          <a:xfrm>
            <a:off x="7200900" y="40386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Данни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282682-A679-418A-8209-38D78A7EC113}"/>
              </a:ext>
            </a:extLst>
          </p:cNvPr>
          <p:cNvSpPr>
            <a:spLocks noGrp="1"/>
          </p:cNvSpPr>
          <p:nvPr/>
        </p:nvSpPr>
        <p:spPr>
          <a:xfrm>
            <a:off x="7200900" y="43434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чете или променя хранилището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27EFCC8-C416-4817-BF54-DAA2C57DA2D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5143500" cy="161925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4E87AC-C62B-43F2-ADDF-55C90CB661C0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4800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СЪРВЪРЪТ ВРЪЩА ОТГОВОР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89BE15-A073-4A75-95AB-5C01652718BD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4762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HTTP/1.1 200 OK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Content-Type: application/json</a:t>
            </a:r>
          </a:p>
          <a:p>
            <a:endParaRPr sz="127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 "id": 4, "title": "HTTP" }</a:t>
            </a:r>
          </a:p>
        </p:txBody>
      </p:sp>
    </p:spTree>
    <p:extLst>
      <p:ext uri="{BB962C8B-B14F-4D97-AF65-F5344CB8AC3E}">
        <p14:creationId xmlns:p14="http://schemas.microsoft.com/office/powerpoint/2010/main" val="199767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533B661-D25E-46D5-A047-C0C31CEE9F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31CDB-9D02-49AE-AC7A-9454F5D57FD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Една програма може да има различни роли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3485D-E3C0-4B28-8C8E-A2A79E491A6B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83E882-71BB-46EC-9110-E04FF038502A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ACBEE7-8E6B-4ADA-A481-7D51C3584E1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Ролята зависи от конкретната връзка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7716B0-AE8C-4A3F-BE36-F5FFB37A33C3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143250" cy="1962150"/>
          </a:xfrm>
          <a:prstGeom prst="roundRect">
            <a:avLst>
              <a:gd name="adj" fmla="val 388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E65885-F6F2-4E80-8B93-619A298BD4B1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2800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Браузър → API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B3A1EA-A704-4551-921F-F78B3F9C01B6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280035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Браузърът е клиент. API приложението е сървър.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0FC2E6-718B-41D8-AE75-2C55DE5551DD}"/>
              </a:ext>
            </a:extLst>
          </p:cNvPr>
          <p:cNvSpPr>
            <a:spLocks noGrp="1"/>
          </p:cNvSpPr>
          <p:nvPr/>
        </p:nvSpPr>
        <p:spPr>
          <a:xfrm>
            <a:off x="4524375" y="1905000"/>
            <a:ext cx="3143250" cy="1962150"/>
          </a:xfrm>
          <a:prstGeom prst="roundRect">
            <a:avLst>
              <a:gd name="adj" fmla="val 388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1B853-18CB-4DDF-8563-613AA90563E4}"/>
              </a:ext>
            </a:extLst>
          </p:cNvPr>
          <p:cNvSpPr>
            <a:spLocks noGrp="1"/>
          </p:cNvSpPr>
          <p:nvPr/>
        </p:nvSpPr>
        <p:spPr>
          <a:xfrm>
            <a:off x="4686300" y="1905000"/>
            <a:ext cx="2800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API → база данни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9360C-FE2F-4BDD-8ADE-EB4EB636CCDF}"/>
              </a:ext>
            </a:extLst>
          </p:cNvPr>
          <p:cNvSpPr>
            <a:spLocks noGrp="1"/>
          </p:cNvSpPr>
          <p:nvPr/>
        </p:nvSpPr>
        <p:spPr>
          <a:xfrm>
            <a:off x="4686300" y="2266950"/>
            <a:ext cx="280035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API приложението е клиент към сървъра за данни.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648006-25A3-49EB-905F-6B18C21E1A40}"/>
              </a:ext>
            </a:extLst>
          </p:cNvPr>
          <p:cNvSpPr>
            <a:spLocks noGrp="1"/>
          </p:cNvSpPr>
          <p:nvPr/>
        </p:nvSpPr>
        <p:spPr>
          <a:xfrm>
            <a:off x="8420100" y="1790700"/>
            <a:ext cx="3143250" cy="1962150"/>
          </a:xfrm>
          <a:prstGeom prst="roundRect">
            <a:avLst>
              <a:gd name="adj" fmla="val 388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9F5028-938B-41C0-89C6-455EDDF0D621}"/>
              </a:ext>
            </a:extLst>
          </p:cNvPr>
          <p:cNvSpPr>
            <a:spLocks noGrp="1"/>
          </p:cNvSpPr>
          <p:nvPr/>
        </p:nvSpPr>
        <p:spPr>
          <a:xfrm>
            <a:off x="8591550" y="1905000"/>
            <a:ext cx="28003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Сървър → външна услуга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1A163E-DAD2-4D50-85E7-9225A6FC75BB}"/>
              </a:ext>
            </a:extLst>
          </p:cNvPr>
          <p:cNvSpPr>
            <a:spLocks noGrp="1"/>
          </p:cNvSpPr>
          <p:nvPr/>
        </p:nvSpPr>
        <p:spPr>
          <a:xfrm>
            <a:off x="8591550" y="2266950"/>
            <a:ext cx="280035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Сървърът става клиент към друго API.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CFBF7A-9681-41EF-B22F-6AB3F0573ABE}"/>
              </a:ext>
            </a:extLst>
          </p:cNvPr>
          <p:cNvSpPr>
            <a:spLocks noGrp="1"/>
          </p:cNvSpPr>
          <p:nvPr/>
        </p:nvSpPr>
        <p:spPr>
          <a:xfrm>
            <a:off x="1562100" y="4438650"/>
            <a:ext cx="9067800" cy="819150"/>
          </a:xfrm>
          <a:prstGeom prst="roundRect">
            <a:avLst>
              <a:gd name="adj" fmla="val 9302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248A71-A5AE-4658-BE33-CA6BC6DAE6C9}"/>
              </a:ext>
            </a:extLst>
          </p:cNvPr>
          <p:cNvSpPr>
            <a:spLocks noGrp="1"/>
          </p:cNvSpPr>
          <p:nvPr/>
        </p:nvSpPr>
        <p:spPr>
          <a:xfrm>
            <a:off x="1733550" y="45339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ПРИМЕРНА ВЕРИГА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E94F6E-EA5D-40CC-A12D-62F628BF222E}"/>
              </a:ext>
            </a:extLst>
          </p:cNvPr>
          <p:cNvSpPr>
            <a:spLocks noGrp="1"/>
          </p:cNvSpPr>
          <p:nvPr/>
        </p:nvSpPr>
        <p:spPr>
          <a:xfrm>
            <a:off x="1752600" y="4800600"/>
            <a:ext cx="86868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Angular app  →  ASP.NET Core API  →  SQL Server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95FCC2-80D7-4A29-821D-2A4F3045F6C0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„Клиент“ и „сървър“ са роли, а не постоянни етикети.</a:t>
            </a:r>
          </a:p>
        </p:txBody>
      </p:sp>
    </p:spTree>
    <p:extLst>
      <p:ext uri="{BB962C8B-B14F-4D97-AF65-F5344CB8AC3E}">
        <p14:creationId xmlns:p14="http://schemas.microsoft.com/office/powerpoint/2010/main" val="136091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F48D3C-4EB1-4717-BF02-F639380599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66B63A-C5F8-4A32-AA3A-8DDBA77DEA3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Request–response цикъл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CD5CAA-D9FC-4C55-B1A6-6317D2DF1937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F5F2F-C476-477F-BB1F-5DDA42F49868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B832EFB-B392-458C-BEA5-77C213E2F855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CB8878-C1E1-4C75-8656-F5DAD058B3BB}"/>
              </a:ext>
            </a:extLst>
          </p:cNvPr>
          <p:cNvSpPr>
            <a:spLocks noGrp="1"/>
          </p:cNvSpPr>
          <p:nvPr/>
        </p:nvSpPr>
        <p:spPr>
          <a:xfrm>
            <a:off x="781050" y="12192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F40D79-9013-4A68-9466-1887F43DFC7F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4CBA8-8C76-45F4-A4B0-9CCF833B8A5C}"/>
              </a:ext>
            </a:extLst>
          </p:cNvPr>
          <p:cNvSpPr>
            <a:spLocks noGrp="1"/>
          </p:cNvSpPr>
          <p:nvPr/>
        </p:nvSpPr>
        <p:spPr>
          <a:xfrm>
            <a:off x="1524000" y="11620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81142F-6227-4C42-9445-C415AF8B749B}"/>
              </a:ext>
            </a:extLst>
          </p:cNvPr>
          <p:cNvSpPr>
            <a:spLocks noGrp="1"/>
          </p:cNvSpPr>
          <p:nvPr/>
        </p:nvSpPr>
        <p:spPr>
          <a:xfrm>
            <a:off x="4000500" y="116205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създава HTTP request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CEFAEB-B0B0-43B7-B4B1-9A5B1E63EB6B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BF284C-1AB7-4DA9-8FF9-7FE6A60F2393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5BDFB-E4F5-42D9-9FBD-980643DC295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F6F4C0-A111-49D6-B148-4717BCB03304}"/>
              </a:ext>
            </a:extLst>
          </p:cNvPr>
          <p:cNvSpPr>
            <a:spLocks noGrp="1"/>
          </p:cNvSpPr>
          <p:nvPr/>
        </p:nvSpPr>
        <p:spPr>
          <a:xfrm>
            <a:off x="1524000" y="20955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Мрежа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8BC7A6-CA18-4901-98F0-709FD8ACDC51}"/>
              </a:ext>
            </a:extLst>
          </p:cNvPr>
          <p:cNvSpPr>
            <a:spLocks noGrp="1"/>
          </p:cNvSpPr>
          <p:nvPr/>
        </p:nvSpPr>
        <p:spPr>
          <a:xfrm>
            <a:off x="4000500" y="20955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пренася съобщението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C885BA-9B5A-486C-8AB4-B142D59EEC10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5A9CFC-A853-43EC-9671-C158C6E3BEEF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8BF6B3-E910-4106-89D6-60C63915AD5D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9052B2-2AAA-44EB-BB20-504382864151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Сървър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22FFB9-45D6-47FF-BF82-05CD9E8D4460}"/>
              </a:ext>
            </a:extLst>
          </p:cNvPr>
          <p:cNvSpPr>
            <a:spLocks noGrp="1"/>
          </p:cNvSpPr>
          <p:nvPr/>
        </p:nvSpPr>
        <p:spPr>
          <a:xfrm>
            <a:off x="4000500" y="302895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обработва заявката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F34598-9CF4-44AC-9107-4C12CC433B95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ED24792-7AC1-41FA-82EB-B087A42A6DF4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4E2648-766A-4407-BF3B-61A8B25B6549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2A6BA6-F157-417E-BA2D-1002D0689AD2}"/>
              </a:ext>
            </a:extLst>
          </p:cNvPr>
          <p:cNvSpPr>
            <a:spLocks noGrp="1"/>
          </p:cNvSpPr>
          <p:nvPr/>
        </p:nvSpPr>
        <p:spPr>
          <a:xfrm>
            <a:off x="1524000" y="39624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Сървър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F33ABD-A15E-4E5F-A128-D1805432C41F}"/>
              </a:ext>
            </a:extLst>
          </p:cNvPr>
          <p:cNvSpPr>
            <a:spLocks noGrp="1"/>
          </p:cNvSpPr>
          <p:nvPr/>
        </p:nvSpPr>
        <p:spPr>
          <a:xfrm>
            <a:off x="4000500" y="39624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създава HTTP response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C55B02-2089-46A4-82B3-524803BF21F1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2E1E7A7-0DBF-4068-937F-DBE48FA844D9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9DD1EA-ADB3-449C-B59E-5269C4798075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718D63-D195-481A-890A-ABEE7492D473}"/>
              </a:ext>
            </a:extLst>
          </p:cNvPr>
          <p:cNvSpPr>
            <a:spLocks noGrp="1"/>
          </p:cNvSpPr>
          <p:nvPr/>
        </p:nvSpPr>
        <p:spPr>
          <a:xfrm>
            <a:off x="1524000" y="48958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B419D6-1072-4808-90C2-2CE742E318FA}"/>
              </a:ext>
            </a:extLst>
          </p:cNvPr>
          <p:cNvSpPr>
            <a:spLocks noGrp="1"/>
          </p:cNvSpPr>
          <p:nvPr/>
        </p:nvSpPr>
        <p:spPr>
          <a:xfrm>
            <a:off x="4000500" y="489585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разчита резултата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A85144-BA48-46AE-9CC8-859D4EB8E537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Всяка заявка получава отговор, включително когато възникне грешка.</a:t>
            </a:r>
          </a:p>
        </p:txBody>
      </p:sp>
    </p:spTree>
    <p:extLst>
      <p:ext uri="{BB962C8B-B14F-4D97-AF65-F5344CB8AC3E}">
        <p14:creationId xmlns:p14="http://schemas.microsoft.com/office/powerpoint/2010/main" val="186458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AB2E3FA-6B29-43EF-8101-091EADBB28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4FC832-6E70-4C2F-ACE0-1DB11B63452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Пътят на заявката до сървъра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45CEFC-02BF-4C52-93D7-61098900BBF6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3D459B-755A-4A65-8E63-CD1B9522BB68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AC20AF-8B95-4940-AF9F-E85CDDE5CF3A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EB0F10-F7EF-487E-9A63-F357EC2BCE64}"/>
              </a:ext>
            </a:extLst>
          </p:cNvPr>
          <p:cNvSpPr>
            <a:spLocks noGrp="1"/>
          </p:cNvSpPr>
          <p:nvPr/>
        </p:nvSpPr>
        <p:spPr>
          <a:xfrm>
            <a:off x="781050" y="11620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02CC3-E325-4D65-8D8C-66DE3B59041F}"/>
              </a:ext>
            </a:extLst>
          </p:cNvPr>
          <p:cNvSpPr>
            <a:spLocks noGrp="1"/>
          </p:cNvSpPr>
          <p:nvPr/>
        </p:nvSpPr>
        <p:spPr>
          <a:xfrm>
            <a:off x="781050" y="11811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C85F4D-5A12-4866-B2F9-74F0A05B0437}"/>
              </a:ext>
            </a:extLst>
          </p:cNvPr>
          <p:cNvSpPr>
            <a:spLocks noGrp="1"/>
          </p:cNvSpPr>
          <p:nvPr/>
        </p:nvSpPr>
        <p:spPr>
          <a:xfrm>
            <a:off x="1504950" y="11049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URL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647625-E7CE-4C08-B805-4A1F720C398B}"/>
              </a:ext>
            </a:extLst>
          </p:cNvPr>
          <p:cNvSpPr>
            <a:spLocks noGrp="1"/>
          </p:cNvSpPr>
          <p:nvPr/>
        </p:nvSpPr>
        <p:spPr>
          <a:xfrm>
            <a:off x="4095750" y="11049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http://example.com:80/posts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E25032-CFEA-4C47-8E2E-A56455EC6796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7ED86E-E589-4DD8-812F-12AF987D9261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501EB3-5803-4DA9-8058-CCE974FE7E80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74D66-DC5C-47F7-908E-D0780367349A}"/>
              </a:ext>
            </a:extLst>
          </p:cNvPr>
          <p:cNvSpPr>
            <a:spLocks noGrp="1"/>
          </p:cNvSpPr>
          <p:nvPr/>
        </p:nvSpPr>
        <p:spPr>
          <a:xfrm>
            <a:off x="1504950" y="20574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DNS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877922-9974-4C7F-B7D1-DC459FDF0D58}"/>
              </a:ext>
            </a:extLst>
          </p:cNvPr>
          <p:cNvSpPr>
            <a:spLocks noGrp="1"/>
          </p:cNvSpPr>
          <p:nvPr/>
        </p:nvSpPr>
        <p:spPr>
          <a:xfrm>
            <a:off x="4095750" y="20574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example.com → IP адрес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F269A5-6A90-4A1E-AA31-B4C178A1A8ED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60CCF3-EBC6-44C6-BC75-4D9BC8ECCB95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4B79F-A4FA-4F11-B141-66907CCD94BE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0CD0EA-F81C-43A9-AF43-C501ED493F4B}"/>
              </a:ext>
            </a:extLst>
          </p:cNvPr>
          <p:cNvSpPr>
            <a:spLocks noGrp="1"/>
          </p:cNvSpPr>
          <p:nvPr/>
        </p:nvSpPr>
        <p:spPr>
          <a:xfrm>
            <a:off x="1504950" y="30099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Връзка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629AA2-9B98-49F8-872F-682236C19A0F}"/>
              </a:ext>
            </a:extLst>
          </p:cNvPr>
          <p:cNvSpPr>
            <a:spLocks noGrp="1"/>
          </p:cNvSpPr>
          <p:nvPr/>
        </p:nvSpPr>
        <p:spPr>
          <a:xfrm>
            <a:off x="4095750" y="30099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TCP към IP адрес и порт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C64738D-2755-44AC-BC81-98A93AC748BF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43FE104-84C6-4515-9549-6E9F49854CC7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AB8EB-F286-4265-988D-0CA4C4E99F11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7EF152-CB2A-4487-9D62-EA52D46DFCF9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TLS при HTTPS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5D64B0-BA0C-46FA-BE98-AB37D437B6F0}"/>
              </a:ext>
            </a:extLst>
          </p:cNvPr>
          <p:cNvSpPr>
            <a:spLocks noGrp="1"/>
          </p:cNvSpPr>
          <p:nvPr/>
        </p:nvSpPr>
        <p:spPr>
          <a:xfrm>
            <a:off x="4095750" y="39624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защитен канал и проверка на сертификат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0F5E6DE-1E23-4701-A412-4EE84A742453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B84A5CF-BF19-46F3-99D1-2ECFAA932DDF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2BA2E0-E6C2-4404-B718-B4D7FB6F0962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634DF3-4228-489C-A536-237FF73D4B78}"/>
              </a:ext>
            </a:extLst>
          </p:cNvPr>
          <p:cNvSpPr>
            <a:spLocks noGrp="1"/>
          </p:cNvSpPr>
          <p:nvPr/>
        </p:nvSpPr>
        <p:spPr>
          <a:xfrm>
            <a:off x="1504950" y="49149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HTTP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CB001-9D6E-42E2-AD07-C296833C90A2}"/>
              </a:ext>
            </a:extLst>
          </p:cNvPr>
          <p:cNvSpPr>
            <a:spLocks noGrp="1"/>
          </p:cNvSpPr>
          <p:nvPr/>
        </p:nvSpPr>
        <p:spPr>
          <a:xfrm>
            <a:off x="4095750" y="49149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изпращане на request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73A241-295E-4EAD-BD99-973D7613DB21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При</a:t>
            </a:r>
            <a:r>
              <a:rPr sz="1200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HTTP/1.1 и HTTP/2 </a:t>
            </a:r>
            <a:r>
              <a:rPr sz="1200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обичайният</a:t>
            </a:r>
            <a:r>
              <a:rPr sz="1200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транспорт</a:t>
            </a:r>
            <a:r>
              <a:rPr sz="1200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е TCP. HTTP/3 </a:t>
            </a:r>
            <a:r>
              <a:rPr sz="1200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използва</a:t>
            </a:r>
            <a:r>
              <a:rPr sz="1200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QUIC </a:t>
            </a:r>
            <a:r>
              <a:rPr sz="1200" b="1" dirty="0" err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върху</a:t>
            </a:r>
            <a:r>
              <a:rPr sz="1200" b="1" dirty="0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 UDP.</a:t>
            </a:r>
          </a:p>
        </p:txBody>
      </p:sp>
    </p:spTree>
    <p:extLst>
      <p:ext uri="{BB962C8B-B14F-4D97-AF65-F5344CB8AC3E}">
        <p14:creationId xmlns:p14="http://schemas.microsoft.com/office/powerpoint/2010/main" val="64924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63F1888-EAED-42E2-9F55-A90948CE24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C1D057-82A4-46D0-9089-B06C9DC480D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URL насочва заявката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E94ACB-3C96-4155-968E-988E15C16A05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E7F159-9EEA-472E-BD9C-8171B4CD517E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A060A6-0C0B-4ACB-AC1C-32E05E1DB15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1CA6F2-C72D-4B96-899B-3BDCD7802479}"/>
              </a:ext>
            </a:extLst>
          </p:cNvPr>
          <p:cNvSpPr>
            <a:spLocks noGrp="1"/>
          </p:cNvSpPr>
          <p:nvPr/>
        </p:nvSpPr>
        <p:spPr>
          <a:xfrm>
            <a:off x="781050" y="1295400"/>
            <a:ext cx="10629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URL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B3DB4-69B2-4015-A5C2-353761755DAF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105918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http://localhost:3000/posts/4?details=true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86BFD5-0C5A-4CE9-8D96-C198C411E07D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3333750" cy="104775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7A9AEB-8EB2-4658-9715-E57EE81DAE61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http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22292B-41FE-4945-8279-B5D81BAFFF6B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scheme · протоколът за достъп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E4552D-FEAA-4E01-B9F2-D49806F425D0}"/>
              </a:ext>
            </a:extLst>
          </p:cNvPr>
          <p:cNvSpPr>
            <a:spLocks noGrp="1"/>
          </p:cNvSpPr>
          <p:nvPr/>
        </p:nvSpPr>
        <p:spPr>
          <a:xfrm>
            <a:off x="4267200" y="2590800"/>
            <a:ext cx="3333750" cy="104775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5CBCF1-7399-42B1-BE2D-7BE4D699CE61}"/>
              </a:ext>
            </a:extLst>
          </p:cNvPr>
          <p:cNvSpPr>
            <a:spLocks noGrp="1"/>
          </p:cNvSpPr>
          <p:nvPr/>
        </p:nvSpPr>
        <p:spPr>
          <a:xfrm>
            <a:off x="4438650" y="27051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localhost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4924E8-7DE3-48C3-A423-FC031C8A544A}"/>
              </a:ext>
            </a:extLst>
          </p:cNvPr>
          <p:cNvSpPr>
            <a:spLocks noGrp="1"/>
          </p:cNvSpPr>
          <p:nvPr/>
        </p:nvSpPr>
        <p:spPr>
          <a:xfrm>
            <a:off x="4438650" y="306705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host · машината или домейнът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221314-7FFC-4724-AEAB-44F367D06D0D}"/>
              </a:ext>
            </a:extLst>
          </p:cNvPr>
          <p:cNvSpPr>
            <a:spLocks noGrp="1"/>
          </p:cNvSpPr>
          <p:nvPr/>
        </p:nvSpPr>
        <p:spPr>
          <a:xfrm>
            <a:off x="7924800" y="2590800"/>
            <a:ext cx="3333750" cy="1047750"/>
          </a:xfrm>
          <a:prstGeom prst="roundRect">
            <a:avLst>
              <a:gd name="adj" fmla="val 727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81EFE-4211-4CB8-989C-D34CFF233794}"/>
              </a:ext>
            </a:extLst>
          </p:cNvPr>
          <p:cNvSpPr>
            <a:spLocks noGrp="1"/>
          </p:cNvSpPr>
          <p:nvPr/>
        </p:nvSpPr>
        <p:spPr>
          <a:xfrm>
            <a:off x="8096250" y="27051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3000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51A443-C1A0-4994-AD7F-FF0DD52CC9BA}"/>
              </a:ext>
            </a:extLst>
          </p:cNvPr>
          <p:cNvSpPr>
            <a:spLocks noGrp="1"/>
          </p:cNvSpPr>
          <p:nvPr/>
        </p:nvSpPr>
        <p:spPr>
          <a:xfrm>
            <a:off x="8096250" y="306705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port · програмата на машината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F08650-8BB8-434A-B9D8-31142A611A2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333750" cy="1047750"/>
          </a:xfrm>
          <a:prstGeom prst="roundRect">
            <a:avLst>
              <a:gd name="adj" fmla="val 727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957DB4-2B4F-4898-B280-D4CF12F0C07C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/posts/4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2EC4FA-4124-48FD-A52E-EBD4017AE4D0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path · ресурсът или endpoint-ът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9258EB-9670-4CEC-AA44-D292CF88E187}"/>
              </a:ext>
            </a:extLst>
          </p:cNvPr>
          <p:cNvSpPr>
            <a:spLocks noGrp="1"/>
          </p:cNvSpPr>
          <p:nvPr/>
        </p:nvSpPr>
        <p:spPr>
          <a:xfrm>
            <a:off x="4267200" y="3905250"/>
            <a:ext cx="3333750" cy="1047750"/>
          </a:xfrm>
          <a:prstGeom prst="roundRect">
            <a:avLst>
              <a:gd name="adj" fmla="val 727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3964E0-A975-4ED1-9BEC-1804E3BE83A4}"/>
              </a:ext>
            </a:extLst>
          </p:cNvPr>
          <p:cNvSpPr>
            <a:spLocks noGrp="1"/>
          </p:cNvSpPr>
          <p:nvPr/>
        </p:nvSpPr>
        <p:spPr>
          <a:xfrm>
            <a:off x="4438650" y="40195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details=true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8CF253-44A5-4DAF-AE3D-4179327D31F7}"/>
              </a:ext>
            </a:extLst>
          </p:cNvPr>
          <p:cNvSpPr>
            <a:spLocks noGrp="1"/>
          </p:cNvSpPr>
          <p:nvPr/>
        </p:nvSpPr>
        <p:spPr>
          <a:xfrm>
            <a:off x="4438650" y="438150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query · допълнителен параметър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76EB21-3D24-42BF-B9A3-030150BBDC58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Endpoint = метод + адрес на операцията, например GET /posts/4.</a:t>
            </a:r>
          </a:p>
        </p:txBody>
      </p:sp>
    </p:spTree>
    <p:extLst>
      <p:ext uri="{BB962C8B-B14F-4D97-AF65-F5344CB8AC3E}">
        <p14:creationId xmlns:p14="http://schemas.microsoft.com/office/powerpoint/2010/main" val="1463854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0C6D29F-3DB6-44A9-834E-10002DEA0D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6F057F-94BE-43E2-94FA-C900050B0B2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 сървърът обработва заявката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6EC1C0-488C-4594-93B7-384C7839ED28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93142-4ABF-4F40-BD0B-A570922BF10F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24F7FB-0E3F-4B64-BFB7-EA1C0C83C7B0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BA1683-F803-48A8-AFFD-8C58A5CE658A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B16587-E834-4DAE-BFAA-84268D59E3FF}"/>
              </a:ext>
            </a:extLst>
          </p:cNvPr>
          <p:cNvSpPr>
            <a:spLocks noGrp="1"/>
          </p:cNvSpPr>
          <p:nvPr/>
        </p:nvSpPr>
        <p:spPr>
          <a:xfrm>
            <a:off x="781050" y="1209675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9FB687-B780-4224-897B-AA0FE129E173}"/>
              </a:ext>
            </a:extLst>
          </p:cNvPr>
          <p:cNvSpPr>
            <a:spLocks noGrp="1"/>
          </p:cNvSpPr>
          <p:nvPr/>
        </p:nvSpPr>
        <p:spPr>
          <a:xfrm>
            <a:off x="1504950" y="11239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Маршрут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FBD2A2-0224-4BEC-86FF-E54BFA7A8D7D}"/>
              </a:ext>
            </a:extLst>
          </p:cNvPr>
          <p:cNvSpPr>
            <a:spLocks noGrp="1"/>
          </p:cNvSpPr>
          <p:nvPr/>
        </p:nvSpPr>
        <p:spPr>
          <a:xfrm>
            <a:off x="4171950" y="1123950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GET /posts/4 съвпада ли с endpoint?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2934A0-322E-4D22-A5B6-4F4426A155A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B027DA-4961-4ABD-AA85-2AC6D97ECECD}"/>
              </a:ext>
            </a:extLst>
          </p:cNvPr>
          <p:cNvSpPr>
            <a:spLocks noGrp="1"/>
          </p:cNvSpPr>
          <p:nvPr/>
        </p:nvSpPr>
        <p:spPr>
          <a:xfrm>
            <a:off x="781050" y="2143125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D85062-FEEB-473D-84CC-98CDFEC1ECED}"/>
              </a:ext>
            </a:extLst>
          </p:cNvPr>
          <p:cNvSpPr>
            <a:spLocks noGrp="1"/>
          </p:cNvSpPr>
          <p:nvPr/>
        </p:nvSpPr>
        <p:spPr>
          <a:xfrm>
            <a:off x="781050" y="2162175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82B5D4-6D7B-4DE4-BA34-7A6EA0052A28}"/>
              </a:ext>
            </a:extLst>
          </p:cNvPr>
          <p:cNvSpPr>
            <a:spLocks noGrp="1"/>
          </p:cNvSpPr>
          <p:nvPr/>
        </p:nvSpPr>
        <p:spPr>
          <a:xfrm>
            <a:off x="1504950" y="20764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Входни данни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465755-12D9-4E36-86DB-91F7344FA343}"/>
              </a:ext>
            </a:extLst>
          </p:cNvPr>
          <p:cNvSpPr>
            <a:spLocks noGrp="1"/>
          </p:cNvSpPr>
          <p:nvPr/>
        </p:nvSpPr>
        <p:spPr>
          <a:xfrm>
            <a:off x="4171950" y="2076450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Валидни ли са id, query, headers и body?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0A1A99-2E44-4527-8FBA-7E213B9C7DB5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4FC69A-9314-48F5-8A6F-CEAAFD9BD7DE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04CC81-9C29-4C6E-9868-04A0FE53E153}"/>
              </a:ext>
            </a:extLst>
          </p:cNvPr>
          <p:cNvSpPr>
            <a:spLocks noGrp="1"/>
          </p:cNvSpPr>
          <p:nvPr/>
        </p:nvSpPr>
        <p:spPr>
          <a:xfrm>
            <a:off x="781050" y="3114675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130077-8487-40BE-BE3B-44D744293CB1}"/>
              </a:ext>
            </a:extLst>
          </p:cNvPr>
          <p:cNvSpPr>
            <a:spLocks noGrp="1"/>
          </p:cNvSpPr>
          <p:nvPr/>
        </p:nvSpPr>
        <p:spPr>
          <a:xfrm>
            <a:off x="1504950" y="30289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Правила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2DBE59-0335-438F-96FA-052774735534}"/>
              </a:ext>
            </a:extLst>
          </p:cNvPr>
          <p:cNvSpPr>
            <a:spLocks noGrp="1"/>
          </p:cNvSpPr>
          <p:nvPr/>
        </p:nvSpPr>
        <p:spPr>
          <a:xfrm>
            <a:off x="4171950" y="3028950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Разрешена и логически допустима ли е операцията?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C7970F-6EC8-4667-A2AA-D00E73E41C6C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46EB1AA-7BAB-42DF-8D1A-8A4F666BCE8B}"/>
              </a:ext>
            </a:extLst>
          </p:cNvPr>
          <p:cNvSpPr>
            <a:spLocks noGrp="1"/>
          </p:cNvSpPr>
          <p:nvPr/>
        </p:nvSpPr>
        <p:spPr>
          <a:xfrm>
            <a:off x="781050" y="4048125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2E6F47-13E1-438C-83B8-A88DC1A94909}"/>
              </a:ext>
            </a:extLst>
          </p:cNvPr>
          <p:cNvSpPr>
            <a:spLocks noGrp="1"/>
          </p:cNvSpPr>
          <p:nvPr/>
        </p:nvSpPr>
        <p:spPr>
          <a:xfrm>
            <a:off x="781050" y="4067175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566B65-3973-41CF-A711-EF2A01C6D61A}"/>
              </a:ext>
            </a:extLst>
          </p:cNvPr>
          <p:cNvSpPr>
            <a:spLocks noGrp="1"/>
          </p:cNvSpPr>
          <p:nvPr/>
        </p:nvSpPr>
        <p:spPr>
          <a:xfrm>
            <a:off x="1504950" y="39814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Данни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9CA6B9-173D-43A1-8553-FE0CD73363C1}"/>
              </a:ext>
            </a:extLst>
          </p:cNvPr>
          <p:cNvSpPr>
            <a:spLocks noGrp="1"/>
          </p:cNvSpPr>
          <p:nvPr/>
        </p:nvSpPr>
        <p:spPr>
          <a:xfrm>
            <a:off x="4171950" y="3981450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Четене или промяна на ресурсите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BD6C8E5-3C13-415D-AA33-602245A86CDF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BE8425-F6AF-4B2A-8A0A-C5B2F702A9E9}"/>
              </a:ext>
            </a:extLst>
          </p:cNvPr>
          <p:cNvSpPr>
            <a:spLocks noGrp="1"/>
          </p:cNvSpPr>
          <p:nvPr/>
        </p:nvSpPr>
        <p:spPr>
          <a:xfrm>
            <a:off x="781050" y="5000625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608C01-0FF4-4DFA-9C6C-A9BD5EC53B62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F675F3-2124-44A7-979F-19DD29338C10}"/>
              </a:ext>
            </a:extLst>
          </p:cNvPr>
          <p:cNvSpPr>
            <a:spLocks noGrp="1"/>
          </p:cNvSpPr>
          <p:nvPr/>
        </p:nvSpPr>
        <p:spPr>
          <a:xfrm>
            <a:off x="1504950" y="49339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Отговор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3D3DA9-BB6A-49AD-AC5A-1D5F66F0BA14}"/>
              </a:ext>
            </a:extLst>
          </p:cNvPr>
          <p:cNvSpPr>
            <a:spLocks noGrp="1"/>
          </p:cNvSpPr>
          <p:nvPr/>
        </p:nvSpPr>
        <p:spPr>
          <a:xfrm>
            <a:off x="4171950" y="4933950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Status, headers и body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5F8419-2B70-4C49-8563-CC2461685B98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Сървърът избира response според резултата от обработката.</a:t>
            </a:r>
          </a:p>
        </p:txBody>
      </p:sp>
    </p:spTree>
    <p:extLst>
      <p:ext uri="{BB962C8B-B14F-4D97-AF65-F5344CB8AC3E}">
        <p14:creationId xmlns:p14="http://schemas.microsoft.com/office/powerpoint/2010/main" val="36245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2636C7D-7D9B-41B0-A487-59F89CC20A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F70337-0C0D-4925-89FA-86C932B41F0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Проследяване на една GET заявка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711684-B495-4633-9A02-8B9931CFB67A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9E3222-7E3D-4257-A1A9-BFFB601B2017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8579FF-AAEA-452A-B9F5-8671FAC19DD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E73B8C-C2C2-4B84-B665-9EDCDFAA1702}"/>
              </a:ext>
            </a:extLst>
          </p:cNvPr>
          <p:cNvSpPr>
            <a:spLocks noGrp="1"/>
          </p:cNvSpPr>
          <p:nvPr/>
        </p:nvSpPr>
        <p:spPr>
          <a:xfrm>
            <a:off x="781050" y="1200150"/>
            <a:ext cx="10629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1 · КЛИЕНТ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803AF3-9747-496B-8ADE-1C16A2507755}"/>
              </a:ext>
            </a:extLst>
          </p:cNvPr>
          <p:cNvSpPr>
            <a:spLocks noGrp="1"/>
          </p:cNvSpPr>
          <p:nvPr/>
        </p:nvSpPr>
        <p:spPr>
          <a:xfrm>
            <a:off x="800100" y="1466850"/>
            <a:ext cx="105918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784"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GET http://localhost:3000/posts/4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2A18A4-F9E1-4786-AC21-C0E1967BCC9B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A25C16-525D-4264-989B-D269847A2BC3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2 · Връзка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7F2AFE-7F63-47CD-B368-1872BA5DBD7B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29908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37"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localhost сочи към текущия компютър. Порт 3000 води към JSON Server.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B7EC47-67E9-44C2-B7F7-66DA01814F39}"/>
              </a:ext>
            </a:extLst>
          </p:cNvPr>
          <p:cNvSpPr>
            <a:spLocks noGrp="1"/>
          </p:cNvSpPr>
          <p:nvPr/>
        </p:nvSpPr>
        <p:spPr>
          <a:xfrm>
            <a:off x="4419600" y="213360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3B929-66BC-49D5-80A9-2B1FEF3BC9A9}"/>
              </a:ext>
            </a:extLst>
          </p:cNvPr>
          <p:cNvSpPr>
            <a:spLocks noGrp="1"/>
          </p:cNvSpPr>
          <p:nvPr/>
        </p:nvSpPr>
        <p:spPr>
          <a:xfrm>
            <a:off x="4591050" y="22479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3 · Обработка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F41CD0-B21A-4291-AA6D-37245300E15D}"/>
              </a:ext>
            </a:extLst>
          </p:cNvPr>
          <p:cNvSpPr>
            <a:spLocks noGrp="1"/>
          </p:cNvSpPr>
          <p:nvPr/>
        </p:nvSpPr>
        <p:spPr>
          <a:xfrm>
            <a:off x="4591050" y="2609850"/>
            <a:ext cx="29908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Сървърът намира posts и търси ресурс с id 4.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FD65E0-9FEA-436A-B511-C50AD7B9D03F}"/>
              </a:ext>
            </a:extLst>
          </p:cNvPr>
          <p:cNvSpPr>
            <a:spLocks noGrp="1"/>
          </p:cNvSpPr>
          <p:nvPr/>
        </p:nvSpPr>
        <p:spPr>
          <a:xfrm>
            <a:off x="8229600" y="213360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9E845-472C-423A-BFA5-7CFB843C17E6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4 · Резултат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5B0851-E071-4DC6-8CC2-E3B6637A7FA9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29908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 намерен ресурс връща 200 и JSON. При липса връща 404.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EA261ED-52F2-4E34-8BC0-106F22803F77}"/>
              </a:ext>
            </a:extLst>
          </p:cNvPr>
          <p:cNvSpPr>
            <a:spLocks noGrp="1"/>
          </p:cNvSpPr>
          <p:nvPr/>
        </p:nvSpPr>
        <p:spPr>
          <a:xfrm>
            <a:off x="1562100" y="3943350"/>
            <a:ext cx="9067800" cy="1447800"/>
          </a:xfrm>
          <a:prstGeom prst="roundRect">
            <a:avLst>
              <a:gd name="adj" fmla="val 5263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64C2A9-9919-4A3F-8ECC-E2DA3D069446}"/>
              </a:ext>
            </a:extLst>
          </p:cNvPr>
          <p:cNvSpPr>
            <a:spLocks noGrp="1"/>
          </p:cNvSpPr>
          <p:nvPr/>
        </p:nvSpPr>
        <p:spPr>
          <a:xfrm>
            <a:off x="1733550" y="40386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5 ·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0B299B-DE8D-457D-893E-E0B4382358DD}"/>
              </a:ext>
            </a:extLst>
          </p:cNvPr>
          <p:cNvSpPr>
            <a:spLocks noGrp="1"/>
          </p:cNvSpPr>
          <p:nvPr/>
        </p:nvSpPr>
        <p:spPr>
          <a:xfrm>
            <a:off x="1752600" y="4305300"/>
            <a:ext cx="8686800" cy="971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HTTP/1.1 200 OK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Content-Type: application/json</a:t>
            </a:r>
          </a:p>
          <a:p>
            <a:endParaRPr sz="127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 "id": 4, "title": "JSON Server" 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C7F8C-615D-4533-9375-62616C8AE31B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Практическа проверка по-късно: Network panel или Postman.</a:t>
            </a:r>
          </a:p>
        </p:txBody>
      </p:sp>
    </p:spTree>
    <p:extLst>
      <p:ext uri="{BB962C8B-B14F-4D97-AF65-F5344CB8AC3E}">
        <p14:creationId xmlns:p14="http://schemas.microsoft.com/office/powerpoint/2010/main" val="437291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67EAB16-A7C5-4250-BC35-B049489FB9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4E50C7-67CB-4432-BC03-EC60D8DB54F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Комуникацията не означава директен достъп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B77B0-4BF1-4376-82DC-3F9B8FDB3FEC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AE548-0828-4E69-8663-E7ADD4221700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8D021-4FA8-43AA-B6AE-DC4C09ABCF1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Клиентът не отваря директно файловете или базата данни на сървъра.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78891B-7CBE-419C-B50A-825F4DF0E197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38500" cy="1962150"/>
          </a:xfrm>
          <a:prstGeom prst="roundRect">
            <a:avLst>
              <a:gd name="adj" fmla="val 388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D02083-23AF-4987-997C-E5D38AE4F43B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2C9F44-5928-4609-9F08-E321BB6897F1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289560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Изпраща заявка през публичния договор на API.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356715-A7C3-4664-A7DD-C8BE222F47EC}"/>
              </a:ext>
            </a:extLst>
          </p:cNvPr>
          <p:cNvSpPr>
            <a:spLocks noGrp="1"/>
          </p:cNvSpPr>
          <p:nvPr/>
        </p:nvSpPr>
        <p:spPr>
          <a:xfrm>
            <a:off x="4476750" y="1885950"/>
            <a:ext cx="3238500" cy="1962150"/>
          </a:xfrm>
          <a:prstGeom prst="roundRect">
            <a:avLst>
              <a:gd name="adj" fmla="val 388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F836FB-A4A2-42AD-B344-46085CF52EFF}"/>
              </a:ext>
            </a:extLst>
          </p:cNvPr>
          <p:cNvSpPr>
            <a:spLocks noGrp="1"/>
          </p:cNvSpPr>
          <p:nvPr/>
        </p:nvSpPr>
        <p:spPr>
          <a:xfrm>
            <a:off x="4648200" y="20002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Сървър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C3F476-F8CB-4F93-B75E-EF4DDDA45687}"/>
              </a:ext>
            </a:extLst>
          </p:cNvPr>
          <p:cNvSpPr>
            <a:spLocks noGrp="1"/>
          </p:cNvSpPr>
          <p:nvPr/>
        </p:nvSpPr>
        <p:spPr>
          <a:xfrm>
            <a:off x="4648200" y="2362200"/>
            <a:ext cx="289560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Проверява заявката и решава какво е разрешено.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02F8BF-9B25-46B5-BAF5-80238086E79C}"/>
              </a:ext>
            </a:extLst>
          </p:cNvPr>
          <p:cNvSpPr>
            <a:spLocks noGrp="1"/>
          </p:cNvSpPr>
          <p:nvPr/>
        </p:nvSpPr>
        <p:spPr>
          <a:xfrm>
            <a:off x="8343900" y="1885950"/>
            <a:ext cx="3238500" cy="1962150"/>
          </a:xfrm>
          <a:prstGeom prst="roundRect">
            <a:avLst>
              <a:gd name="adj" fmla="val 388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73953B-E37C-48A6-BDA3-B56CC380DF67}"/>
              </a:ext>
            </a:extLst>
          </p:cNvPr>
          <p:cNvSpPr>
            <a:spLocks noGrp="1"/>
          </p:cNvSpPr>
          <p:nvPr/>
        </p:nvSpPr>
        <p:spPr>
          <a:xfrm>
            <a:off x="8515350" y="20002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Хранилище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534964-C02E-4908-B26A-54733DB97AF8}"/>
              </a:ext>
            </a:extLst>
          </p:cNvPr>
          <p:cNvSpPr>
            <a:spLocks noGrp="1"/>
          </p:cNvSpPr>
          <p:nvPr/>
        </p:nvSpPr>
        <p:spPr>
          <a:xfrm>
            <a:off x="8515350" y="2362200"/>
            <a:ext cx="289560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Достъпва се от сървърната логика, а не от външния клиент.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D15D76-7859-44F5-B998-8EE63AE45DB4}"/>
              </a:ext>
            </a:extLst>
          </p:cNvPr>
          <p:cNvSpPr>
            <a:spLocks noGrp="1"/>
          </p:cNvSpPr>
          <p:nvPr/>
        </p:nvSpPr>
        <p:spPr>
          <a:xfrm>
            <a:off x="1562100" y="4476750"/>
            <a:ext cx="9067800" cy="8382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956BF7-9201-4FC7-B425-9EDC75BEE1B2}"/>
              </a:ext>
            </a:extLst>
          </p:cNvPr>
          <p:cNvSpPr>
            <a:spLocks noGrp="1"/>
          </p:cNvSpPr>
          <p:nvPr/>
        </p:nvSpPr>
        <p:spPr>
          <a:xfrm>
            <a:off x="1733550" y="45720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ГРАНИЦА НА ОТГОВОРНОСТИТЕ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8A110-0A32-4DBF-9D0D-912EF392A76E}"/>
              </a:ext>
            </a:extLst>
          </p:cNvPr>
          <p:cNvSpPr>
            <a:spLocks noGrp="1"/>
          </p:cNvSpPr>
          <p:nvPr/>
        </p:nvSpPr>
        <p:spPr>
          <a:xfrm>
            <a:off x="1752600" y="4838700"/>
            <a:ext cx="86868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  →  HTTP API  →  Server logic  → 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AD3AB-B2E2-45F2-8D45-5B7EBEF7BDBA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API контролира какви операции и данни са достъпни.</a:t>
            </a:r>
          </a:p>
        </p:txBody>
      </p:sp>
    </p:spTree>
    <p:extLst>
      <p:ext uri="{BB962C8B-B14F-4D97-AF65-F5344CB8AC3E}">
        <p14:creationId xmlns:p14="http://schemas.microsoft.com/office/powerpoint/2010/main" val="446686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F5DDC3C-F242-413C-9004-5A7FF55427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0D4CA-7FC7-40AF-90F1-8EEC54D1117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Задача: подредете комуникацията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1C24C1-5F70-4B1B-BC58-AE45B7E3420B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65856E-15FB-4586-B2EC-11A1201360BB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C76286-405E-4264-AB1F-EF4212BDF39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5105400" cy="1047750"/>
          </a:xfrm>
          <a:prstGeom prst="roundRect">
            <a:avLst>
              <a:gd name="adj" fmla="val 7273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B5273D-984F-43A1-A825-45BD8992CAB2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0E78EE-FA10-4061-9BC2-28271D4415CA}"/>
              </a:ext>
            </a:extLst>
          </p:cNvPr>
          <p:cNvSpPr>
            <a:spLocks noGrp="1"/>
          </p:cNvSpPr>
          <p:nvPr/>
        </p:nvSpPr>
        <p:spPr>
          <a:xfrm>
            <a:off x="781050" y="15430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F770D-1012-4600-9E76-400F3BD44979}"/>
              </a:ext>
            </a:extLst>
          </p:cNvPr>
          <p:cNvSpPr>
            <a:spLocks noGrp="1"/>
          </p:cNvSpPr>
          <p:nvPr/>
        </p:nvSpPr>
        <p:spPr>
          <a:xfrm>
            <a:off x="1504950" y="1390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Сървърът връща 200 OK и JSON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09361F-78D5-4758-939A-9763334E6E84}"/>
              </a:ext>
            </a:extLst>
          </p:cNvPr>
          <p:cNvSpPr>
            <a:spLocks noGrp="1"/>
          </p:cNvSpPr>
          <p:nvPr/>
        </p:nvSpPr>
        <p:spPr>
          <a:xfrm>
            <a:off x="6096000" y="1200150"/>
            <a:ext cx="5105400" cy="1047750"/>
          </a:xfrm>
          <a:prstGeom prst="roundRect">
            <a:avLst>
              <a:gd name="adj" fmla="val 727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899AD3-4560-425D-8D18-6B5E7D424E36}"/>
              </a:ext>
            </a:extLst>
          </p:cNvPr>
          <p:cNvSpPr>
            <a:spLocks noGrp="1"/>
          </p:cNvSpPr>
          <p:nvPr/>
        </p:nvSpPr>
        <p:spPr>
          <a:xfrm>
            <a:off x="6267450" y="15240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E642D-A14E-4BC4-9211-B3578CEAA6EF}"/>
              </a:ext>
            </a:extLst>
          </p:cNvPr>
          <p:cNvSpPr>
            <a:spLocks noGrp="1"/>
          </p:cNvSpPr>
          <p:nvPr/>
        </p:nvSpPr>
        <p:spPr>
          <a:xfrm>
            <a:off x="6267450" y="15430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66571E-A39E-40A5-9013-1015B694EF3A}"/>
              </a:ext>
            </a:extLst>
          </p:cNvPr>
          <p:cNvSpPr>
            <a:spLocks noGrp="1"/>
          </p:cNvSpPr>
          <p:nvPr/>
        </p:nvSpPr>
        <p:spPr>
          <a:xfrm>
            <a:off x="6991350" y="1390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DNS намира IP адреса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A9F82E9-3423-4602-B396-4E9847BB520E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5105400" cy="1047750"/>
          </a:xfrm>
          <a:prstGeom prst="roundRect">
            <a:avLst>
              <a:gd name="adj" fmla="val 7273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12C001-5CED-4E89-9E68-8151EE684484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FA056-E353-4F3B-968A-384C6E665629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5BDB51-38A2-4B41-A4CE-5C81EB2EEEC2}"/>
              </a:ext>
            </a:extLst>
          </p:cNvPr>
          <p:cNvSpPr>
            <a:spLocks noGrp="1"/>
          </p:cNvSpPr>
          <p:nvPr/>
        </p:nvSpPr>
        <p:spPr>
          <a:xfrm>
            <a:off x="1504950" y="27241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Клиентът създава GET /posts/4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2528D0D-CB3C-4E63-834B-DEF6A9562985}"/>
              </a:ext>
            </a:extLst>
          </p:cNvPr>
          <p:cNvSpPr>
            <a:spLocks noGrp="1"/>
          </p:cNvSpPr>
          <p:nvPr/>
        </p:nvSpPr>
        <p:spPr>
          <a:xfrm>
            <a:off x="6096000" y="2533650"/>
            <a:ext cx="5105400" cy="1047750"/>
          </a:xfrm>
          <a:prstGeom prst="roundRect">
            <a:avLst>
              <a:gd name="adj" fmla="val 727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1998808-0CEF-4A86-A642-6AAED5263C0A}"/>
              </a:ext>
            </a:extLst>
          </p:cNvPr>
          <p:cNvSpPr>
            <a:spLocks noGrp="1"/>
          </p:cNvSpPr>
          <p:nvPr/>
        </p:nvSpPr>
        <p:spPr>
          <a:xfrm>
            <a:off x="6267450" y="28575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2D095A-ACE7-402A-9DFF-C17C28FB815B}"/>
              </a:ext>
            </a:extLst>
          </p:cNvPr>
          <p:cNvSpPr>
            <a:spLocks noGrp="1"/>
          </p:cNvSpPr>
          <p:nvPr/>
        </p:nvSpPr>
        <p:spPr>
          <a:xfrm>
            <a:off x="6267450" y="28765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DE3537-53AB-4CE6-A515-1A7080D046F1}"/>
              </a:ext>
            </a:extLst>
          </p:cNvPr>
          <p:cNvSpPr>
            <a:spLocks noGrp="1"/>
          </p:cNvSpPr>
          <p:nvPr/>
        </p:nvSpPr>
        <p:spPr>
          <a:xfrm>
            <a:off x="6991350" y="27241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Сървърът намира ресурса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D2E26E-AE23-4FC0-9988-166B7089D1BA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5105400" cy="1047750"/>
          </a:xfrm>
          <a:prstGeom prst="roundRect">
            <a:avLst>
              <a:gd name="adj" fmla="val 7273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D4C351-9ECF-45C6-90BF-05C0AC0B6781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6A511C-5798-4350-8EDC-DB8C84AD84EA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F1FC8C-0B75-4E7A-A310-00B621FA33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Установява се връзка към порта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EE1A1C-448B-4D6F-87E2-CE41DB4D8685}"/>
              </a:ext>
            </a:extLst>
          </p:cNvPr>
          <p:cNvSpPr>
            <a:spLocks noGrp="1"/>
          </p:cNvSpPr>
          <p:nvPr/>
        </p:nvSpPr>
        <p:spPr>
          <a:xfrm>
            <a:off x="6096000" y="3867150"/>
            <a:ext cx="5105400" cy="1047750"/>
          </a:xfrm>
          <a:prstGeom prst="roundRect">
            <a:avLst>
              <a:gd name="adj" fmla="val 727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15F78F-FBF5-49B2-B053-52ED4895B130}"/>
              </a:ext>
            </a:extLst>
          </p:cNvPr>
          <p:cNvSpPr>
            <a:spLocks noGrp="1"/>
          </p:cNvSpPr>
          <p:nvPr/>
        </p:nvSpPr>
        <p:spPr>
          <a:xfrm>
            <a:off x="6267450" y="41910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C0A903-11E6-4273-B1EE-29A38C174A2B}"/>
              </a:ext>
            </a:extLst>
          </p:cNvPr>
          <p:cNvSpPr>
            <a:spLocks noGrp="1"/>
          </p:cNvSpPr>
          <p:nvPr/>
        </p:nvSpPr>
        <p:spPr>
          <a:xfrm>
            <a:off x="6267450" y="42100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C44A14-A8A4-4A2B-AAC6-8AFE9C0C486B}"/>
              </a:ext>
            </a:extLst>
          </p:cNvPr>
          <p:cNvSpPr>
            <a:spLocks noGrp="1"/>
          </p:cNvSpPr>
          <p:nvPr/>
        </p:nvSpPr>
        <p:spPr>
          <a:xfrm>
            <a:off x="6991350" y="4057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Клиентът обработва отговора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AA8B2A-7E38-4773-BEB1-DCE5C3558E5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Работа по двойки • 4 минути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970FF4-3CAB-4661-BF66-63677752C38E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Правилен ред: C → B → E → D → A → F</a:t>
            </a:r>
          </a:p>
        </p:txBody>
      </p:sp>
    </p:spTree>
    <p:extLst>
      <p:ext uri="{BB962C8B-B14F-4D97-AF65-F5344CB8AC3E}">
        <p14:creationId xmlns:p14="http://schemas.microsoft.com/office/powerpoint/2010/main" val="85914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B5C1AFB-C22F-4A89-96D6-52A6F8A23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DD4206-488D-4BA9-9E72-E61B2C6A055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048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Обобщение и изходен билет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BA7471-78BD-4639-B947-EBF8AC30E603}"/>
              </a:ext>
            </a:extLst>
          </p:cNvPr>
          <p:cNvSpPr>
            <a:spLocks noGrp="1"/>
          </p:cNvSpPr>
          <p:nvPr/>
        </p:nvSpPr>
        <p:spPr>
          <a:xfrm>
            <a:off x="9791700" y="266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КРАЙ НА ЧАСТ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9983C-29B0-4F21-82A1-58194210024B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DFDB54-9342-4D01-82E1-5BF983FEB06D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3333750" cy="1447800"/>
          </a:xfrm>
          <a:prstGeom prst="roundRect">
            <a:avLst>
              <a:gd name="adj" fmla="val 526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C085FF-ADBB-4543-AB4E-28A63E2FD530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71ABE3-92F0-46CD-A254-99DA72DA58CD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29908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Започва комуникацията и изпраща request.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83799B-60C6-4796-8098-52C255EC89F8}"/>
              </a:ext>
            </a:extLst>
          </p:cNvPr>
          <p:cNvSpPr>
            <a:spLocks noGrp="1"/>
          </p:cNvSpPr>
          <p:nvPr/>
        </p:nvSpPr>
        <p:spPr>
          <a:xfrm>
            <a:off x="4419600" y="1123950"/>
            <a:ext cx="3333750" cy="1447800"/>
          </a:xfrm>
          <a:prstGeom prst="roundRect">
            <a:avLst>
              <a:gd name="adj" fmla="val 526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8F7B2-6B31-4BF3-A4DE-B0E0EB8FD0AA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Сървър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CD42E-CD94-4B2B-967A-BFFE87707446}"/>
              </a:ext>
            </a:extLst>
          </p:cNvPr>
          <p:cNvSpPr>
            <a:spLocks noGrp="1"/>
          </p:cNvSpPr>
          <p:nvPr/>
        </p:nvSpPr>
        <p:spPr>
          <a:xfrm>
            <a:off x="4591050" y="1600200"/>
            <a:ext cx="29908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Приема, обработва и връща response.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B144A2-A1A0-4A04-8408-A61A7770FA8D}"/>
              </a:ext>
            </a:extLst>
          </p:cNvPr>
          <p:cNvSpPr>
            <a:spLocks noGrp="1"/>
          </p:cNvSpPr>
          <p:nvPr/>
        </p:nvSpPr>
        <p:spPr>
          <a:xfrm>
            <a:off x="8229600" y="1123950"/>
            <a:ext cx="3333750" cy="1447800"/>
          </a:xfrm>
          <a:prstGeom prst="roundRect">
            <a:avLst>
              <a:gd name="adj" fmla="val 526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FA2E1C-FA34-42F6-83F2-E85C6D2DCBF7}"/>
              </a:ext>
            </a:extLst>
          </p:cNvPr>
          <p:cNvSpPr>
            <a:spLocks noGrp="1"/>
          </p:cNvSpPr>
          <p:nvPr/>
        </p:nvSpPr>
        <p:spPr>
          <a:xfrm>
            <a:off x="8401050" y="12382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Мрежа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784741-F921-45ED-BB74-FAF2E851211D}"/>
              </a:ext>
            </a:extLst>
          </p:cNvPr>
          <p:cNvSpPr>
            <a:spLocks noGrp="1"/>
          </p:cNvSpPr>
          <p:nvPr/>
        </p:nvSpPr>
        <p:spPr>
          <a:xfrm>
            <a:off x="8401050" y="1600200"/>
            <a:ext cx="29908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DNS, адрес, порт и връзка отвеждат съобщението до правилната програма.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9BF8F3-474E-46B1-A369-5D857EFACC72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10953750" cy="1143000"/>
          </a:xfrm>
          <a:prstGeom prst="roundRect">
            <a:avLst>
              <a:gd name="adj" fmla="val 6667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677DAD-1A15-4B34-BE31-4F6828BC686E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Изходен билет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9E7C79-E090-4B4B-9D8D-D173A031DE28}"/>
              </a:ext>
            </a:extLst>
          </p:cNvPr>
          <p:cNvSpPr>
            <a:spLocks noGrp="1"/>
          </p:cNvSpPr>
          <p:nvPr/>
        </p:nvSpPr>
        <p:spPr>
          <a:xfrm>
            <a:off x="838200" y="360045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008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 GET http://localhost:3000/posts/4 посочете: клиент, сървър, host, port, path и два възможни status кода.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8DF4E9-0890-4B28-AC82-62F5076BA658}"/>
              </a:ext>
            </a:extLst>
          </p:cNvPr>
          <p:cNvSpPr>
            <a:spLocks noGrp="1"/>
          </p:cNvSpPr>
          <p:nvPr/>
        </p:nvSpPr>
        <p:spPr>
          <a:xfrm>
            <a:off x="1562100" y="4762500"/>
            <a:ext cx="9067800" cy="1066800"/>
          </a:xfrm>
          <a:prstGeom prst="roundRect">
            <a:avLst>
              <a:gd name="adj" fmla="val 7143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85B74E-7E41-4DF9-A3F7-812194E354CF}"/>
              </a:ext>
            </a:extLst>
          </p:cNvPr>
          <p:cNvSpPr>
            <a:spLocks noGrp="1"/>
          </p:cNvSpPr>
          <p:nvPr/>
        </p:nvSpPr>
        <p:spPr>
          <a:xfrm>
            <a:off x="1733550" y="485775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ПРИМЕРЕН ОТГОВОР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26E914-41D5-4AC9-8B24-77590BEE2B29}"/>
              </a:ext>
            </a:extLst>
          </p:cNvPr>
          <p:cNvSpPr>
            <a:spLocks noGrp="1"/>
          </p:cNvSpPr>
          <p:nvPr/>
        </p:nvSpPr>
        <p:spPr>
          <a:xfrm>
            <a:off x="1752600" y="5124450"/>
            <a:ext cx="86868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621"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Клиент: Postman/браузър · Сървър: JSON Server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Host: localhost · Port: 3000 · Path: /posts/4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200 OK или 404 Not Found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310C2B-1DC8-46C2-B9B8-AD3A911FCE3C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ctr">
              <a:defRPr sz="12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Част 2: състояние, сесии, cookies, CORS и устойчивост при грешки.</a:t>
            </a:r>
          </a:p>
        </p:txBody>
      </p:sp>
    </p:spTree>
    <p:extLst>
      <p:ext uri="{BB962C8B-B14F-4D97-AF65-F5344CB8AC3E}">
        <p14:creationId xmlns:p14="http://schemas.microsoft.com/office/powerpoint/2010/main" val="19863766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1370</Words>
  <Application>Microsoft Office PowerPoint</Application>
  <DocSecurity>0</DocSecurity>
  <PresentationFormat>Widescreen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2</cp:revision>
  <dcterms:created xsi:type="dcterms:W3CDTF">2026-09-30T05:55:04Z</dcterms:created>
  <dcterms:modified xsi:type="dcterms:W3CDTF">2026-09-30T09:30:56Z</dcterms:modified>
</cp:coreProperties>
</file>