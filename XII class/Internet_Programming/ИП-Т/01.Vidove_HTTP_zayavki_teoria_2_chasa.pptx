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680960" y="228600"/>
            <a:ext cx="4114800" cy="4114800"/>
          </a:xfrm>
          <a:prstGeom prst="arc">
            <a:avLst/>
          </a:prstGeom>
          <a:solidFill>
            <a:srgbClr val="20B8CD">
              <a:alpha val="85000"/>
            </a:srgbClr>
          </a:solidFill>
          <a:ln w="12700">
            <a:solidFill>
              <a:srgbClr val="20B8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8366760" y="2971800"/>
            <a:ext cx="3383280" cy="3383280"/>
          </a:xfrm>
          <a:prstGeom prst="arc">
            <a:avLst/>
          </a:prstGeom>
          <a:solidFill>
            <a:srgbClr val="176BCE"/>
          </a:solidFill>
          <a:ln w="12700">
            <a:solidFill>
              <a:srgbClr val="176BC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66928"/>
            <a:ext cx="3218688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21792"/>
            <a:ext cx="3072384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Интернет програмиране • Теория • 12. клас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68122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Видове HTTP заявки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2286000"/>
            <a:ext cx="685800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B9EAF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Методи, свойства и правилен избор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5413248"/>
            <a:ext cx="39776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3CC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учебни часа  |  90 минути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33872"/>
            <a:ext cx="58978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3A2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Продължение на „Основи на интернет. Мрежови протоколи. HTTP“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Какво ще научим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14300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710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8249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Разпознаваме предназначението на GET, POST, PUT, PATCH и DELETE.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14300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372" y="127101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68249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Различаваме безопасен и идемпотентен метод.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52958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Избираме URL, query параметри и request body.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99008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372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52958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Определяме подходящ метод за конкретна операция.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Кратък преговор: структура на заявката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005840"/>
            <a:ext cx="5532120" cy="4480560"/>
          </a:xfrm>
          <a:prstGeom prst="roundRect">
            <a:avLst>
              <a:gd name="adj" fmla="val 816"/>
            </a:avLst>
          </a:prstGeom>
          <a:solidFill>
            <a:srgbClr val="F3F6FA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307592"/>
            <a:ext cx="4983480" cy="2880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 /api/books HTTP/1.1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Host: library.example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Content-Type: application/json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"title": "Networks" }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656832" y="1097280"/>
            <a:ext cx="4434840" cy="1143000"/>
          </a:xfrm>
          <a:prstGeom prst="roundRect">
            <a:avLst>
              <a:gd name="adj" fmla="val 4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9712" y="1225296"/>
            <a:ext cx="4069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39712" y="1636776"/>
            <a:ext cx="4069080" cy="484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Описва намерението на клиента.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56832" y="2487168"/>
            <a:ext cx="4434840" cy="1051560"/>
          </a:xfrm>
          <a:prstGeom prst="roundRect">
            <a:avLst>
              <a:gd name="adj" fmla="val 434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2615184"/>
            <a:ext cx="4069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Target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39712" y="3026664"/>
            <a:ext cx="4069080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Пътят към ресурса.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56832" y="3794760"/>
            <a:ext cx="4434840" cy="1325880"/>
          </a:xfrm>
          <a:prstGeom prst="roundRect">
            <a:avLst>
              <a:gd name="adj" fmla="val 344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3922776"/>
            <a:ext cx="40690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Headers и Body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39712" y="4334256"/>
            <a:ext cx="4069080" cy="6675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Метаинформация и незадължително съдържание.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Основните HTTP методи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2412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176BCE">
              <a:alpha val="12000"/>
            </a:srgbClr>
          </a:solidFill>
          <a:ln w="19050">
            <a:solidFill>
              <a:srgbClr val="176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5272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41248" y="186537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получаване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1688" y="102412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2E9B72">
              <a:alpha val="12000"/>
            </a:srgbClr>
          </a:solidFill>
          <a:ln w="19050">
            <a:solidFill>
              <a:srgbClr val="2E9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25272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44568" y="186537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създаване / команда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5008" y="102412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F19A37">
              <a:alpha val="12000"/>
            </a:srgbClr>
          </a:solidFill>
          <a:ln w="19050">
            <a:solidFill>
              <a:srgbClr val="F19A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125272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47888" y="186537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пълна замяна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299008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8065A8">
              <a:alpha val="12000"/>
            </a:srgbClr>
          </a:solidFill>
          <a:ln w="19050">
            <a:solidFill>
              <a:srgbClr val="806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1868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PATCH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41248" y="383133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частична промяна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361688" y="299008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D95D5D">
              <a:alpha val="12000"/>
            </a:srgbClr>
          </a:solidFill>
          <a:ln w="19050">
            <a:solidFill>
              <a:srgbClr val="D95D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321868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5D5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544568" y="383133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премахване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65008" y="2990088"/>
            <a:ext cx="3401568" cy="1554480"/>
          </a:xfrm>
          <a:prstGeom prst="roundRect">
            <a:avLst>
              <a:gd name="adj" fmla="val 2941"/>
            </a:avLst>
          </a:prstGeom>
          <a:solidFill>
            <a:srgbClr val="20B8CD">
              <a:alpha val="12000"/>
            </a:srgbClr>
          </a:solidFill>
          <a:ln w="19050">
            <a:solidFill>
              <a:srgbClr val="20B8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3218688"/>
            <a:ext cx="3035808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 / OPTIONS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247888" y="3831336"/>
            <a:ext cx="30358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информация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5166360"/>
            <a:ext cx="101498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Методът показва какво иска клиентът да направи с ресурса.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GET: получаване на ресурс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Предназначение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Получава представяне на ресурс или списък от ресурси.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Филтри, сортиране и страници често се подават в query string.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Безопасен и идемпотентен. Отговорът може да се кешира.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188720" y="3886200"/>
            <a:ext cx="9829800" cy="96012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4178808"/>
            <a:ext cx="9189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/api/books?author=Ivanov&amp;page=2 HTTP/1.1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POST: създаване или обработка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Предназначение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Изпраща данни за създаване на подчинен ресурс или изпълнение на операция.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Съдържанието обикновено се изпраща в request body.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е безопасен и обикновено не е идемпотентен.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" y="3794760"/>
            <a:ext cx="5074920" cy="1234440"/>
          </a:xfrm>
          <a:prstGeom prst="roundRect">
            <a:avLst>
              <a:gd name="adj" fmla="val 2963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041648"/>
            <a:ext cx="45720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 /api/books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"title": "Networks" }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309360" y="3794760"/>
            <a:ext cx="5029200" cy="1234440"/>
          </a:xfrm>
          <a:prstGeom prst="roundRect">
            <a:avLst>
              <a:gd name="adj" fmla="val 3704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22776"/>
            <a:ext cx="46634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Типичен отговор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4334256"/>
            <a:ext cx="4663440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201 Created + Location header към новия ресурс.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PUT: пълно представяне на ресурса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Предназначение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 или заменя целевия ресурс с представянето от заявката.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Клиентът обикновено знае точния URL на ресурса.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е безопасен, но е идемпотентен.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" y="3749040"/>
            <a:ext cx="10469880" cy="1325880"/>
          </a:xfrm>
          <a:prstGeom prst="roundRect">
            <a:avLst>
              <a:gd name="adj" fmla="val 2759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86784"/>
            <a:ext cx="987552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/api/books/25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"id": 25, "title": "Networks", "year": 2026 }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PATCH: частична промяна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Предназначение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Променя избрани полета или изпълнява описан набор от промени.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Тялото съдържа само промяната или patch документ.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е безопасен. Идемпотентността зависи от формата и операцията.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" y="3749040"/>
            <a:ext cx="10469880" cy="1325880"/>
          </a:xfrm>
          <a:prstGeom prst="roundRect">
            <a:avLst>
              <a:gd name="adj" fmla="val 2759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3986784"/>
            <a:ext cx="9875520" cy="713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PATCH /api/books/25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"title": "Computer Networks" }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DELETE: премахване на ресурс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5D5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Предназначение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Премахва ресурса или прекратява достъпа до него според правилата на системата.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Заявката сочи конкретния ресурс.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078992"/>
            <a:ext cx="3429000" cy="2148840"/>
          </a:xfrm>
          <a:prstGeom prst="roundRect">
            <a:avLst>
              <a:gd name="adj" fmla="val 212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207008"/>
            <a:ext cx="306324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Свойства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63240" cy="1490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е безопасен, но е идемпотентен по замисъл.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08760" y="3840480"/>
            <a:ext cx="9189720" cy="960120"/>
          </a:xfrm>
          <a:prstGeom prst="roundRect">
            <a:avLst>
              <a:gd name="adj" fmla="val 3810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133088"/>
            <a:ext cx="854964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F4F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 /api/books/25 HTTP/1.1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 и OPTIONS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ПЪРВИ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4892040" cy="2331720"/>
          </a:xfrm>
          <a:prstGeom prst="roundRect">
            <a:avLst>
              <a:gd name="adj" fmla="val 1961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71016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682496"/>
            <a:ext cx="4526280" cy="1673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Като GET, но сървърът не връща response body. Използва се за проверка на метаданни.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0528" y="1143000"/>
            <a:ext cx="4892040" cy="2331720"/>
          </a:xfrm>
          <a:prstGeom prst="roundRect">
            <a:avLst>
              <a:gd name="adj" fmla="val 1961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271016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3408" y="1682496"/>
            <a:ext cx="4526280" cy="1673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Показва поддържаните възможности за ресурс или сървър. Участва и в CORS проверките.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4224528"/>
            <a:ext cx="937260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 двата метода са безопасни и идемпотентни.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след първия час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КРАЙ НА ЧАС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5156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9105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Получаване на списък с книги.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метод?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051560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372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591056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Създаване на нова книга.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метод?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89864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266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43814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Промяна само на заглавието.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метод?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898648"/>
            <a:ext cx="5308092" cy="1554480"/>
          </a:xfrm>
          <a:prstGeom prst="roundRect">
            <a:avLst>
              <a:gd name="adj" fmla="val 2941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372" y="30266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Случай 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438144"/>
            <a:ext cx="4942332" cy="8961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Премахване на книга.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метод?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4919472"/>
            <a:ext cx="67208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Отговори: GET, POST, PATCH, DELETE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Сравнение на HTTP методите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868680"/>
          <a:ext cx="11155680" cy="5257800"/>
        </p:xfrm>
        <a:graphic>
          <a:graphicData uri="http://schemas.openxmlformats.org/drawingml/2006/table">
            <a:tbl>
              <a:tblPr/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Метод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Основна цел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Body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Безопасен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Идемпотентен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GET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Получаване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обикновено 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POST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Създаване / команда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Обикновено 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PUT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Пълна замяна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PATCH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Частична промяна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Зависи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DELETE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Премахване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рядко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HEAD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Само headers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OPTIONS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Възможности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Обикновено не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Да</a:t>
                      </a:r>
                      <a:endParaRPr lang="en-US" sz="13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Безопасност и идемпотентност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4892040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271016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Безопасен метод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682496"/>
            <a:ext cx="452628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Клиентът иска информация, без да заявява промяна на състоянието.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GET, HEAD, OPTIONS.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0528" y="1143000"/>
            <a:ext cx="4892040" cy="2423160"/>
          </a:xfrm>
          <a:prstGeom prst="roundRect">
            <a:avLst>
              <a:gd name="adj" fmla="val 188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3408" y="1271016"/>
            <a:ext cx="45262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Идемпотентен метод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3408" y="1682496"/>
            <a:ext cx="452628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Едно или няколко еднакви извиквания имат същия предвиден ефект върху състоянието.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GET, PUT, DELETE, HEAD, OPTIONS.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03327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Идемпотентен не означава, че всеки отговор трябва да бъде еднакъв.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и PATCH решават различни задачи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143000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271016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/api/users/8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682496"/>
            <a:ext cx="4754880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Клиентът изпраща цялото желано представяне. Липсващо поле може да се върне към стойност по подразбиране според API договора.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143000"/>
            <a:ext cx="5120640" cy="2834640"/>
          </a:xfrm>
          <a:prstGeom prst="roundRect">
            <a:avLst>
              <a:gd name="adj" fmla="val 1613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271016"/>
            <a:ext cx="47548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PATCH /api/users/8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682496"/>
            <a:ext cx="4754880" cy="21762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Клиентът изпраща само промяната. Останалите полета се запазват.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10332720" cy="512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8065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Изборът зависи от договора на API, а не само от броя на полетата.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Къде поставяме данните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23444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Path parameter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77393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Идентифицира конкретен ресурс.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/api/books/25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67784" y="123444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0664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Query parameter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50664" y="177393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Филтрира или управлява представянето.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?author=Ivanov&amp;page=2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7200" y="123444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0080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Request body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Съдържа данни за създаване или промяна.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{ "title": "Networks" 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4572000"/>
            <a:ext cx="99212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URL трябва да назовава ресурса. Методът изразява действието.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CRUD и HTTP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560320" cy="2331720"/>
          </a:xfrm>
          <a:prstGeom prst="roundRect">
            <a:avLst>
              <a:gd name="adj" fmla="val 1961"/>
            </a:avLst>
          </a:prstGeom>
          <a:solidFill>
            <a:srgbClr val="EDF8F5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Create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51560" y="21671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221992"/>
            <a:ext cx="15910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/api/books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93008" y="1234440"/>
            <a:ext cx="2560320" cy="2331720"/>
          </a:xfrm>
          <a:prstGeom prst="roundRect">
            <a:avLst>
              <a:gd name="adj" fmla="val 1961"/>
            </a:avLst>
          </a:prstGeom>
          <a:solidFill>
            <a:srgbClr val="EAF4FB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Read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904488" y="21671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2221992"/>
            <a:ext cx="15910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75888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/api/books/25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45936" y="1234440"/>
            <a:ext cx="2560320" cy="2331720"/>
          </a:xfrm>
          <a:prstGeom prst="roundRect">
            <a:avLst>
              <a:gd name="adj" fmla="val 1961"/>
            </a:avLst>
          </a:prstGeom>
          <a:solidFill>
            <a:srgbClr val="FFF4E8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Update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757416" y="21671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0568" y="2221992"/>
            <a:ext cx="15910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/ PATCH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28816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/api/books/25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98864" y="1234440"/>
            <a:ext cx="2560320" cy="2331720"/>
          </a:xfrm>
          <a:prstGeom prst="roundRect">
            <a:avLst>
              <a:gd name="adj" fmla="val 1961"/>
            </a:avLst>
          </a:prstGeom>
          <a:solidFill>
            <a:srgbClr val="FCEEEE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81744" y="1536192"/>
            <a:ext cx="2194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610344" y="216712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83496" y="2221992"/>
            <a:ext cx="159105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81744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/api/books/25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343400"/>
            <a:ext cx="103327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CRUD е полезна ориентировъчна връзка, но HTTP описва по-богата семантика.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Метод и очакван код за състояние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97280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22529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36776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 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404 Not Found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1097280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372" y="122529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636776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201 Created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400 Bad Request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990088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/ PATCH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529584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 OK или 204 No Content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400 / 404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990088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372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529584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204 No Content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404 Not Found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4892040"/>
            <a:ext cx="9921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Кодът описва резултата. Методът описва намерението.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Задача: избор на правилна заявка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98755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521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20700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35608" y="121615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Търсене на книги по автор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61688" y="98755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1521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20700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38928" y="121615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Добавяне на нов ученик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65008" y="98755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15214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20700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42248" y="121615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Замяна на целия профил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" y="286207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02666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08152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5608" y="309067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Смяна само на паролата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61688" y="286207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02666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9432" y="308152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38928" y="309067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Изтриване на запазен ресурс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65008" y="2862072"/>
            <a:ext cx="3401568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CBD7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302666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3081528"/>
            <a:ext cx="35661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42248" y="3090672"/>
            <a:ext cx="233172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на headers без body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43000" y="5029200"/>
            <a:ext cx="9921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Работа по двойки: метод + примерен URL + очакван код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Мини тест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ВТОРИ ЧАС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Кой метод е безопасен?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GET   B) POST   C) DELETE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45936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Кой метод заменя пълно представяне?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28816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PATCH   B) PUT   C) HEAD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Кой метод обикновено не е идемпотентен?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POST   B) GET   C) 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45936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Кой метод връща headers без body?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28816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OPTIONS   B) HEAD   C) PATCH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9738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Обобщение и изходен билет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921240" y="411480"/>
            <a:ext cx="1481328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B8C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96012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08813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GET и HEAD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49961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Получаване на информация без заявена промяна.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22492" y="96012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372" y="108813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POST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5372" y="149961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Създаване или изпълнение на операция.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267004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980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PUT и PATCH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20954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Пълна замяна срещу частична промяна.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22492" y="267004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372" y="27980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DELETE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5372" y="320954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Премахване с идемпотентна семантика.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315968"/>
            <a:ext cx="24688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Изходен билет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05840" y="4736592"/>
            <a:ext cx="1014984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 „учител редактира само заглавието на ресурс“ запишете метод, URL и подходящ успешен код.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Видове HTTP заявки</dc:title>
  <dc:subject>Интернет програмиране, теория, 12. клас</dc:subject>
  <dc:creator>Ахмед Матем Ахмед</dc:creator>
  <cp:lastModifiedBy>Ахмед Матем Ахмед</cp:lastModifiedBy>
  <cp:revision>1</cp:revision>
  <dcterms:created xsi:type="dcterms:W3CDTF">2026-09-22T19:33:40Z</dcterms:created>
  <dcterms:modified xsi:type="dcterms:W3CDTF">2026-09-22T19:33:40Z</dcterms:modified>
</cp:coreProperties>
</file>