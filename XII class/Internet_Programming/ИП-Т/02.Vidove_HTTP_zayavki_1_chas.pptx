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Напомнете, че основните методи вече са изучени. Днес завършваме темата, като сглобяваме цялата заявка и се учим да разчитаме отговора преди практическите упражнения.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Отговорът е GET. Поискайте от учениците да обяснят и разликата между PUT и PATCH с едно изречение.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Прочетете заявката ред по ред. HTTP означава Hypertext Transfer Protocol. Header означава заглавно поле, а body е тялото на заявката.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Разграничете Content-Type от Accept. Първото описва това, което изпращаме. Второто описва предпочитания формат на отговора. Authorization ще се изучава по-подробно при защитени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JSON означава JavaScript Object Notation. Покажете двете синтактични грешки. Уточнете, че различните сървъри могат да върнат различен текст на грешката.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Response означава отговор. При POST успешният сървър често връща 201 Created. Location е заглавно поле с адреса на създадения ресурс.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 този урок е достатъчно учениците да разпознават класовете. 1xx е информационен клас, но не е необходим за предстоящата практика.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Unauthorized буквално звучи като липса на разрешение, но на практика 401 означава, че удостоверяването липсва или е невалидно. 403 означава, че сървърът разпознава клиента, но отказва достъп.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 означава Application Programming Interface. Обяснете, че 204 No Content е успех без response body. JSON Server може да върне конкретни кодове според версията 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алгоритъмът, който учениците ще използват в практиката. При всяка грешка нека посочват доказателство от status кода и response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Очаквани идеи: A създава ресурс, има body, типичен код 201, проверка с GET към върнатото id. B променя едно поле, има body, код 200 или 204, проверка с GET /posts/4. C изтрива, няма body, код 200 или 204, проверка с GET и очакван 404.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Дайте две минути за самостоятелна работа, после обсъдете отговорите. Въпрос 4 подготвя учениците за диагностичния подход в практиката.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последният теоретичен слайд по темата. Съберете изходните билети или изслушайте два отговора. Свържете отговора директно с първата практическа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0501187-8C21-48A8-A928-00F793EB4D4A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Теория • 12. клас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4815BE-AE51-4B46-AFFE-64E89B588A5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095750" cy="304800"/>
          </a:xfrm>
          <a:prstGeom prst="roundRect">
            <a:avLst>
              <a:gd name="adj" fmla="val 25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5FAFB2-9E37-4016-972A-892417038D34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75247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Видове HTTP заявки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2B0C93-9793-41F4-BDED-7644B6651C17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7810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Коректна заявка, отговор и диагностика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DB2AA6-A7DE-4593-AA38-163E5C02F210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Заключителен урок по темата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FF2854-D717-4780-A39A-5E3C34F8D0D5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B3F6AD-6F3C-4A0E-A773-29E8A1418696}"/>
              </a:ext>
            </a:extLst>
          </p:cNvPr>
          <p:cNvSpPr>
            <a:spLocks noGrp="1"/>
          </p:cNvSpPr>
          <p:nvPr/>
        </p:nvSpPr>
        <p:spPr>
          <a:xfrm>
            <a:off x="552450" y="37528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HEADERS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1BBCCE-2BD0-4EAF-A6F2-4B087FE41FE4}"/>
              </a:ext>
            </a:extLst>
          </p:cNvPr>
          <p:cNvSpPr>
            <a:spLocks noGrp="1"/>
          </p:cNvSpPr>
          <p:nvPr/>
        </p:nvSpPr>
        <p:spPr>
          <a:xfrm>
            <a:off x="2362200" y="373380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69B80B-A53E-46D9-B23D-C408EB4A1B70}"/>
              </a:ext>
            </a:extLst>
          </p:cNvPr>
          <p:cNvSpPr>
            <a:spLocks noGrp="1"/>
          </p:cNvSpPr>
          <p:nvPr/>
        </p:nvSpPr>
        <p:spPr>
          <a:xfrm>
            <a:off x="2362200" y="37528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JSON BODY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C503A1-FB98-44CA-984C-361795563E5E}"/>
              </a:ext>
            </a:extLst>
          </p:cNvPr>
          <p:cNvSpPr>
            <a:spLocks noGrp="1"/>
          </p:cNvSpPr>
          <p:nvPr/>
        </p:nvSpPr>
        <p:spPr>
          <a:xfrm>
            <a:off x="4362450" y="37338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8A31D9-863F-4C9A-B6AB-48537E29717C}"/>
              </a:ext>
            </a:extLst>
          </p:cNvPr>
          <p:cNvSpPr>
            <a:spLocks noGrp="1"/>
          </p:cNvSpPr>
          <p:nvPr/>
        </p:nvSpPr>
        <p:spPr>
          <a:xfrm>
            <a:off x="4362450" y="37528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STATUS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692EA3-04FB-40DC-868F-2907725DDB4F}"/>
              </a:ext>
            </a:extLst>
          </p:cNvPr>
          <p:cNvSpPr>
            <a:spLocks noGrp="1"/>
          </p:cNvSpPr>
          <p:nvPr/>
        </p:nvSpPr>
        <p:spPr>
          <a:xfrm>
            <a:off x="6076950" y="3733800"/>
            <a:ext cx="15240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B7B6D3-A912-4CC4-A00B-A7A0737077C6}"/>
              </a:ext>
            </a:extLst>
          </p:cNvPr>
          <p:cNvSpPr>
            <a:spLocks noGrp="1"/>
          </p:cNvSpPr>
          <p:nvPr/>
        </p:nvSpPr>
        <p:spPr>
          <a:xfrm>
            <a:off x="6076950" y="37528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ERRORS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524F22-97B0-4CFB-923D-4A3F993B1F85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1 учебен час  |  45 минути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6561D1-2F3B-4DD9-B79E-49E1C1459159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Продължение на „Видове HTTP заявки“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753F1B-4710-4534-BEB7-15BCF9B09104}"/>
              </a:ext>
            </a:extLst>
          </p:cNvPr>
          <p:cNvSpPr>
            <a:spLocks noGrp="1"/>
          </p:cNvSpPr>
          <p:nvPr/>
        </p:nvSpPr>
        <p:spPr>
          <a:xfrm>
            <a:off x="10001250" y="809625"/>
            <a:ext cx="1190625" cy="2857500"/>
          </a:xfrm>
          <a:prstGeom prst="roundRect">
            <a:avLst>
              <a:gd name="adj" fmla="val 64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78DEC6-8A1F-44F0-804A-94F7050DADCA}"/>
              </a:ext>
            </a:extLst>
          </p:cNvPr>
          <p:cNvSpPr>
            <a:spLocks noGrp="1"/>
          </p:cNvSpPr>
          <p:nvPr/>
        </p:nvSpPr>
        <p:spPr>
          <a:xfrm>
            <a:off x="8953500" y="4095750"/>
            <a:ext cx="1238250" cy="1619250"/>
          </a:xfrm>
          <a:prstGeom prst="roundRect">
            <a:avLst>
              <a:gd name="adj" fmla="val 6154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12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FDA1E46-0DD3-4E28-9BAA-B64C4ACFCF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D008A-8066-4A73-B69C-AA1E3DDD902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Преговор: методът показва намерението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8638A-7F7B-4276-A863-ED44A1E22BD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13869-0582-4863-8C85-C1253700EBC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F53982-9297-4B77-80CE-CA8619720467}"/>
              </a:ext>
            </a:extLst>
          </p:cNvPr>
          <p:cNvSpPr>
            <a:spLocks noGrp="1"/>
          </p:cNvSpPr>
          <p:nvPr/>
        </p:nvSpPr>
        <p:spPr>
          <a:xfrm>
            <a:off x="628650" y="112395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E4321-7336-49D7-BCA9-1DF2C072F5CB}"/>
              </a:ext>
            </a:extLst>
          </p:cNvPr>
          <p:cNvSpPr>
            <a:spLocks noGrp="1"/>
          </p:cNvSpPr>
          <p:nvPr/>
        </p:nvSpPr>
        <p:spPr>
          <a:xfrm>
            <a:off x="628650" y="11430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81D88-0F3C-4BD8-897A-C7E3954DDE69}"/>
              </a:ext>
            </a:extLst>
          </p:cNvPr>
          <p:cNvSpPr>
            <a:spLocks noGrp="1"/>
          </p:cNvSpPr>
          <p:nvPr/>
        </p:nvSpPr>
        <p:spPr>
          <a:xfrm>
            <a:off x="2609850" y="1123950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получаване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3B04F-DB2F-4F46-864B-71459C353DD3}"/>
              </a:ext>
            </a:extLst>
          </p:cNvPr>
          <p:cNvSpPr>
            <a:spLocks noGrp="1"/>
          </p:cNvSpPr>
          <p:nvPr/>
        </p:nvSpPr>
        <p:spPr>
          <a:xfrm>
            <a:off x="6858000" y="11239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/posts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B03DDD-0287-4BD3-914E-08D0E8C8DA99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17A67B-85E1-4BB8-9A58-5FB468B445F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61D8CB-EB33-4245-92AE-8F2F9B40DE64}"/>
              </a:ext>
            </a:extLst>
          </p:cNvPr>
          <p:cNvSpPr>
            <a:spLocks noGrp="1"/>
          </p:cNvSpPr>
          <p:nvPr/>
        </p:nvSpPr>
        <p:spPr>
          <a:xfrm>
            <a:off x="2609850" y="2019300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създаване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C63D29-8761-46B5-B407-DF74F7EC572B}"/>
              </a:ext>
            </a:extLst>
          </p:cNvPr>
          <p:cNvSpPr>
            <a:spLocks noGrp="1"/>
          </p:cNvSpPr>
          <p:nvPr/>
        </p:nvSpPr>
        <p:spPr>
          <a:xfrm>
            <a:off x="6858000" y="20193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/posts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5C9C32-A7FD-4CDA-B267-F0D158DF1814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81F4D-EBCF-4A10-A445-88EA89E106CC}"/>
              </a:ext>
            </a:extLst>
          </p:cNvPr>
          <p:cNvSpPr>
            <a:spLocks noGrp="1"/>
          </p:cNvSpPr>
          <p:nvPr/>
        </p:nvSpPr>
        <p:spPr>
          <a:xfrm>
            <a:off x="628650" y="29337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A446A1-D7BF-4D01-BB7D-BCA27F942DC0}"/>
              </a:ext>
            </a:extLst>
          </p:cNvPr>
          <p:cNvSpPr>
            <a:spLocks noGrp="1"/>
          </p:cNvSpPr>
          <p:nvPr/>
        </p:nvSpPr>
        <p:spPr>
          <a:xfrm>
            <a:off x="2609850" y="2914650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пълна замяна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73C06-D71D-4929-A81B-C19500722F0B}"/>
              </a:ext>
            </a:extLst>
          </p:cNvPr>
          <p:cNvSpPr>
            <a:spLocks noGrp="1"/>
          </p:cNvSpPr>
          <p:nvPr/>
        </p:nvSpPr>
        <p:spPr>
          <a:xfrm>
            <a:off x="6858000" y="29146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/posts/4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F43572-8B11-45F2-A01A-9FDBECE664CC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3906B-C78F-4B4E-A280-CA87D0DF5CB1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PATCH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14EAF-B966-47C3-8827-7935FD152661}"/>
              </a:ext>
            </a:extLst>
          </p:cNvPr>
          <p:cNvSpPr>
            <a:spLocks noGrp="1"/>
          </p:cNvSpPr>
          <p:nvPr/>
        </p:nvSpPr>
        <p:spPr>
          <a:xfrm>
            <a:off x="2609850" y="3810000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частична промяна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56DEC-095B-413E-9E0C-904E138B7D9E}"/>
              </a:ext>
            </a:extLst>
          </p:cNvPr>
          <p:cNvSpPr>
            <a:spLocks noGrp="1"/>
          </p:cNvSpPr>
          <p:nvPr/>
        </p:nvSpPr>
        <p:spPr>
          <a:xfrm>
            <a:off x="6858000" y="38100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/posts/4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F856326-68DE-4789-9425-BAC513462EBB}"/>
              </a:ext>
            </a:extLst>
          </p:cNvPr>
          <p:cNvSpPr>
            <a:spLocks noGrp="1"/>
          </p:cNvSpPr>
          <p:nvPr/>
        </p:nvSpPr>
        <p:spPr>
          <a:xfrm>
            <a:off x="628650" y="470535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F9F9E-11BC-4A7E-9C33-506BD4FE16EC}"/>
              </a:ext>
            </a:extLst>
          </p:cNvPr>
          <p:cNvSpPr>
            <a:spLocks noGrp="1"/>
          </p:cNvSpPr>
          <p:nvPr/>
        </p:nvSpPr>
        <p:spPr>
          <a:xfrm>
            <a:off x="628650" y="47244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DELETE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4879A5-50CC-448E-925B-40035000E46A}"/>
              </a:ext>
            </a:extLst>
          </p:cNvPr>
          <p:cNvSpPr>
            <a:spLocks noGrp="1"/>
          </p:cNvSpPr>
          <p:nvPr/>
        </p:nvSpPr>
        <p:spPr>
          <a:xfrm>
            <a:off x="2609850" y="4705350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премахване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276BF5-00B8-42A7-BF36-D4CE140A18F0}"/>
              </a:ext>
            </a:extLst>
          </p:cNvPr>
          <p:cNvSpPr>
            <a:spLocks noGrp="1"/>
          </p:cNvSpPr>
          <p:nvPr/>
        </p:nvSpPr>
        <p:spPr>
          <a:xfrm>
            <a:off x="6858000" y="47053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/posts/4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84A367-CFC4-4E2F-9EDD-D5215FD0B980}"/>
              </a:ext>
            </a:extLst>
          </p:cNvPr>
          <p:cNvSpPr>
            <a:spLocks noGrp="1"/>
          </p:cNvSpPr>
          <p:nvPr/>
        </p:nvSpPr>
        <p:spPr>
          <a:xfrm>
            <a:off x="628650" y="58293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Бърза проверка: кой метод не изпраща промяна към сървъра?</a:t>
            </a:r>
          </a:p>
        </p:txBody>
      </p:sp>
    </p:spTree>
    <p:extLst>
      <p:ext uri="{BB962C8B-B14F-4D97-AF65-F5344CB8AC3E}">
        <p14:creationId xmlns:p14="http://schemas.microsoft.com/office/powerpoint/2010/main" val="41915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E5FB84D-B4C7-415C-9C45-A91E2A2B8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69B991-1440-4D76-9B5E-83D79BCE55E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Една заявка е повече от метод и URL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4AD54-BB9A-40FE-946D-6D6702C9219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FFFAE-5939-457E-AE3B-D267B79ABCD0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BD4E47-CFFC-46D8-813D-FC26270B7B4B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6667500" cy="3905250"/>
          </a:xfrm>
          <a:prstGeom prst="roundRect">
            <a:avLst>
              <a:gd name="adj" fmla="val 195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FEE00A-8389-4387-B8AC-D7FE5DFA9685}"/>
              </a:ext>
            </a:extLst>
          </p:cNvPr>
          <p:cNvSpPr>
            <a:spLocks noGrp="1"/>
          </p:cNvSpPr>
          <p:nvPr/>
        </p:nvSpPr>
        <p:spPr>
          <a:xfrm>
            <a:off x="781050" y="1219200"/>
            <a:ext cx="6324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ПРИМЕРНА ЗАЯВКА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BAA04-AB39-4355-A09A-97326DBB6089}"/>
              </a:ext>
            </a:extLst>
          </p:cNvPr>
          <p:cNvSpPr>
            <a:spLocks noGrp="1"/>
          </p:cNvSpPr>
          <p:nvPr/>
        </p:nvSpPr>
        <p:spPr>
          <a:xfrm>
            <a:off x="800100" y="1466850"/>
            <a:ext cx="6286500" cy="3448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PATCH /posts/4 HTTP/1.1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Host: localhost:3000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Accept: application/json</a:t>
            </a:r>
          </a:p>
          <a:p>
            <a:endParaRPr sz="12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 "published": true 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ED4411-9AD0-4C29-816B-6EB67B828B3A}"/>
              </a:ext>
            </a:extLst>
          </p:cNvPr>
          <p:cNvSpPr>
            <a:spLocks noGrp="1"/>
          </p:cNvSpPr>
          <p:nvPr/>
        </p:nvSpPr>
        <p:spPr>
          <a:xfrm>
            <a:off x="7753350" y="1143000"/>
            <a:ext cx="3619500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556EBA-5D88-4A65-9AA3-9502F1DD0E19}"/>
              </a:ext>
            </a:extLst>
          </p:cNvPr>
          <p:cNvSpPr>
            <a:spLocks noGrp="1"/>
          </p:cNvSpPr>
          <p:nvPr/>
        </p:nvSpPr>
        <p:spPr>
          <a:xfrm>
            <a:off x="7924800" y="1257300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Request 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62C9F-3D17-4EE6-9859-617FFC2E7765}"/>
              </a:ext>
            </a:extLst>
          </p:cNvPr>
          <p:cNvSpPr>
            <a:spLocks noGrp="1"/>
          </p:cNvSpPr>
          <p:nvPr/>
        </p:nvSpPr>
        <p:spPr>
          <a:xfrm>
            <a:off x="7924800" y="1581150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Метод + адрес + версия на HTTP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067CC1-7DB7-435D-A694-3BDB70E29BBC}"/>
              </a:ext>
            </a:extLst>
          </p:cNvPr>
          <p:cNvSpPr>
            <a:spLocks noGrp="1"/>
          </p:cNvSpPr>
          <p:nvPr/>
        </p:nvSpPr>
        <p:spPr>
          <a:xfrm>
            <a:off x="7753350" y="2190750"/>
            <a:ext cx="3619500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1F4824-F806-4E31-8FB0-5064D1B8CC87}"/>
              </a:ext>
            </a:extLst>
          </p:cNvPr>
          <p:cNvSpPr>
            <a:spLocks noGrp="1"/>
          </p:cNvSpPr>
          <p:nvPr/>
        </p:nvSpPr>
        <p:spPr>
          <a:xfrm>
            <a:off x="7924800" y="2305050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Headers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8311DC-D21D-47A2-B0AE-2643F553DE26}"/>
              </a:ext>
            </a:extLst>
          </p:cNvPr>
          <p:cNvSpPr>
            <a:spLocks noGrp="1"/>
          </p:cNvSpPr>
          <p:nvPr/>
        </p:nvSpPr>
        <p:spPr>
          <a:xfrm>
            <a:off x="7924800" y="2628900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Метаинформация за заявката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0058C8-48DA-4166-B0D2-37A763D31583}"/>
              </a:ext>
            </a:extLst>
          </p:cNvPr>
          <p:cNvSpPr>
            <a:spLocks noGrp="1"/>
          </p:cNvSpPr>
          <p:nvPr/>
        </p:nvSpPr>
        <p:spPr>
          <a:xfrm>
            <a:off x="7753350" y="3238500"/>
            <a:ext cx="3619500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96EBA-C2B0-4B38-8510-80354D5F9E87}"/>
              </a:ext>
            </a:extLst>
          </p:cNvPr>
          <p:cNvSpPr>
            <a:spLocks noGrp="1"/>
          </p:cNvSpPr>
          <p:nvPr/>
        </p:nvSpPr>
        <p:spPr>
          <a:xfrm>
            <a:off x="7924800" y="3352800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Празен ред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75F39D-AC61-4322-B56C-9AE66FAB6832}"/>
              </a:ext>
            </a:extLst>
          </p:cNvPr>
          <p:cNvSpPr>
            <a:spLocks noGrp="1"/>
          </p:cNvSpPr>
          <p:nvPr/>
        </p:nvSpPr>
        <p:spPr>
          <a:xfrm>
            <a:off x="7924800" y="3676650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Разделя headers от body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A7E907-8450-4E95-8ADF-89EB0C597253}"/>
              </a:ext>
            </a:extLst>
          </p:cNvPr>
          <p:cNvSpPr>
            <a:spLocks noGrp="1"/>
          </p:cNvSpPr>
          <p:nvPr/>
        </p:nvSpPr>
        <p:spPr>
          <a:xfrm>
            <a:off x="7753350" y="4286250"/>
            <a:ext cx="3619500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E7F97E-0CD4-4874-A0F1-65AFCB6E38C5}"/>
              </a:ext>
            </a:extLst>
          </p:cNvPr>
          <p:cNvSpPr>
            <a:spLocks noGrp="1"/>
          </p:cNvSpPr>
          <p:nvPr/>
        </p:nvSpPr>
        <p:spPr>
          <a:xfrm>
            <a:off x="7924800" y="4400550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Body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A6FF46-3951-4EBF-9562-DB6C9E4DB2A6}"/>
              </a:ext>
            </a:extLst>
          </p:cNvPr>
          <p:cNvSpPr>
            <a:spLocks noGrp="1"/>
          </p:cNvSpPr>
          <p:nvPr/>
        </p:nvSpPr>
        <p:spPr>
          <a:xfrm>
            <a:off x="7924800" y="4724400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Данните за промяната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1D316D-E87A-4CC7-A006-731A6310BFE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Цел: да можем да обясним всяка част на заявката.</a:t>
            </a:r>
          </a:p>
        </p:txBody>
      </p:sp>
    </p:spTree>
    <p:extLst>
      <p:ext uri="{BB962C8B-B14F-4D97-AF65-F5344CB8AC3E}">
        <p14:creationId xmlns:p14="http://schemas.microsoft.com/office/powerpoint/2010/main" val="1009754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4BFF5-BBA3-4B2F-9F11-9C6CCFD4C0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73C3FB-DBC1-4A13-A389-97F265662CC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Headers описват как да се обработят данните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391985-0BBF-416F-8D00-CCBAFDB4395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A2DEAA-E5A0-44CB-BA36-21B7A23A73CA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E31A10-05B2-481B-A3E3-432E8494E13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333750" cy="1638300"/>
          </a:xfrm>
          <a:prstGeom prst="roundRect">
            <a:avLst>
              <a:gd name="adj" fmla="val 4651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A7B6B-A07A-4621-B45F-3F49BCBCF6AB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Content-Type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B86D92-5CB2-4F7E-A272-10E409946A6D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299085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Форматът на изпращаното body.</a:t>
            </a:r>
          </a:p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Пример: application/json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906651-9420-4D69-8283-68B0E527B1AE}"/>
              </a:ext>
            </a:extLst>
          </p:cNvPr>
          <p:cNvSpPr>
            <a:spLocks noGrp="1"/>
          </p:cNvSpPr>
          <p:nvPr/>
        </p:nvSpPr>
        <p:spPr>
          <a:xfrm>
            <a:off x="4419600" y="1162050"/>
            <a:ext cx="3333750" cy="1638300"/>
          </a:xfrm>
          <a:prstGeom prst="roundRect">
            <a:avLst>
              <a:gd name="adj" fmla="val 465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3B4B7B-4D1A-47AB-BA95-900620DDCEE8}"/>
              </a:ext>
            </a:extLst>
          </p:cNvPr>
          <p:cNvSpPr>
            <a:spLocks noGrp="1"/>
          </p:cNvSpPr>
          <p:nvPr/>
        </p:nvSpPr>
        <p:spPr>
          <a:xfrm>
            <a:off x="4591050" y="1276350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Accept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F0D966-D959-49E2-BDCC-5672A1DD0492}"/>
              </a:ext>
            </a:extLst>
          </p:cNvPr>
          <p:cNvSpPr>
            <a:spLocks noGrp="1"/>
          </p:cNvSpPr>
          <p:nvPr/>
        </p:nvSpPr>
        <p:spPr>
          <a:xfrm>
            <a:off x="4591050" y="1600200"/>
            <a:ext cx="299085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Форматът, който клиентът предпочита да получи.</a:t>
            </a:r>
          </a:p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Пример: application/json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D7FA64-0637-4B6E-9938-AA6513DB5E25}"/>
              </a:ext>
            </a:extLst>
          </p:cNvPr>
          <p:cNvSpPr>
            <a:spLocks noGrp="1"/>
          </p:cNvSpPr>
          <p:nvPr/>
        </p:nvSpPr>
        <p:spPr>
          <a:xfrm>
            <a:off x="8229600" y="1162050"/>
            <a:ext cx="3333750" cy="1638300"/>
          </a:xfrm>
          <a:prstGeom prst="roundRect">
            <a:avLst>
              <a:gd name="adj" fmla="val 4651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7316DA-F42A-4D99-A176-747CCC22AF5C}"/>
              </a:ext>
            </a:extLst>
          </p:cNvPr>
          <p:cNvSpPr>
            <a:spLocks noGrp="1"/>
          </p:cNvSpPr>
          <p:nvPr/>
        </p:nvSpPr>
        <p:spPr>
          <a:xfrm>
            <a:off x="8401050" y="1276350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Authorization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0B6A07-12BA-4974-892C-54F3D89F16BA}"/>
              </a:ext>
            </a:extLst>
          </p:cNvPr>
          <p:cNvSpPr>
            <a:spLocks noGrp="1"/>
          </p:cNvSpPr>
          <p:nvPr/>
        </p:nvSpPr>
        <p:spPr>
          <a:xfrm>
            <a:off x="8401050" y="1600200"/>
            <a:ext cx="299085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Данни за удостоверяване, когато API ги изисква.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35CD38-8B35-499A-BE94-B9A4B1C79328}"/>
              </a:ext>
            </a:extLst>
          </p:cNvPr>
          <p:cNvSpPr>
            <a:spLocks noGrp="1"/>
          </p:cNvSpPr>
          <p:nvPr/>
        </p:nvSpPr>
        <p:spPr>
          <a:xfrm>
            <a:off x="1562100" y="3371850"/>
            <a:ext cx="9067800" cy="1104900"/>
          </a:xfrm>
          <a:prstGeom prst="roundRect">
            <a:avLst>
              <a:gd name="adj" fmla="val 689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5254D-E030-482B-B7B9-BA4B10D11E9E}"/>
              </a:ext>
            </a:extLst>
          </p:cNvPr>
          <p:cNvSpPr>
            <a:spLocks noGrp="1"/>
          </p:cNvSpPr>
          <p:nvPr/>
        </p:nvSpPr>
        <p:spPr>
          <a:xfrm>
            <a:off x="1733550" y="34671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HEADERS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35004C-B12D-4459-ABCB-BED60ADFA2A9}"/>
              </a:ext>
            </a:extLst>
          </p:cNvPr>
          <p:cNvSpPr>
            <a:spLocks noGrp="1"/>
          </p:cNvSpPr>
          <p:nvPr/>
        </p:nvSpPr>
        <p:spPr>
          <a:xfrm>
            <a:off x="1752600" y="3714750"/>
            <a:ext cx="86868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Accept: application/json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2DA97-7A0C-4CD6-A556-8ACB6930AAD2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Header не е част от JSON обекта. Той описва заявката или клиента.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49083F-5DFF-45CA-9862-D250D06CD7E4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 Postman част от headers се добавят автоматично, но трябва да разбираме значението им.</a:t>
            </a:r>
          </a:p>
        </p:txBody>
      </p:sp>
    </p:spTree>
    <p:extLst>
      <p:ext uri="{BB962C8B-B14F-4D97-AF65-F5344CB8AC3E}">
        <p14:creationId xmlns:p14="http://schemas.microsoft.com/office/powerpoint/2010/main" val="135794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57CA692-94DE-4053-8BA4-D5BFE36527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8FCE2-E51F-494E-A48B-9F27F3F85D0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JSON body трябва да е валиден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09D686-293F-462D-8202-2760230E967B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3FF7A2-290C-4415-B65F-1FDD4628CBF4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4ABE3B-AD76-48BC-8CB4-34829EFDA9AE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A99E8F-8613-4ABF-9940-0BCFBCAFA6B6}"/>
              </a:ext>
            </a:extLst>
          </p:cNvPr>
          <p:cNvSpPr>
            <a:spLocks noGrp="1"/>
          </p:cNvSpPr>
          <p:nvPr/>
        </p:nvSpPr>
        <p:spPr>
          <a:xfrm>
            <a:off x="781050" y="1333500"/>
            <a:ext cx="4610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ВАЛИДЕН JSON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57DCB-AFE3-47E9-9785-4CCC1EE39ED6}"/>
              </a:ext>
            </a:extLst>
          </p:cNvPr>
          <p:cNvSpPr>
            <a:spLocks noGrp="1"/>
          </p:cNvSpPr>
          <p:nvPr/>
        </p:nvSpPr>
        <p:spPr>
          <a:xfrm>
            <a:off x="800100" y="1581150"/>
            <a:ext cx="4572000" cy="2495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"title": "HTTP заявки",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"views": 0,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"published": false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692D72-FF5C-4351-B0C6-B2015DF0EF3A}"/>
              </a:ext>
            </a:extLst>
          </p:cNvPr>
          <p:cNvSpPr>
            <a:spLocks noGrp="1"/>
          </p:cNvSpPr>
          <p:nvPr/>
        </p:nvSpPr>
        <p:spPr>
          <a:xfrm>
            <a:off x="6629400" y="123825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C86262-9920-4EA1-89D3-70CE5F869775}"/>
              </a:ext>
            </a:extLst>
          </p:cNvPr>
          <p:cNvSpPr>
            <a:spLocks noGrp="1"/>
          </p:cNvSpPr>
          <p:nvPr/>
        </p:nvSpPr>
        <p:spPr>
          <a:xfrm>
            <a:off x="6800850" y="1333500"/>
            <a:ext cx="4610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НЕВАЛИДЕН JSON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E3C869-49C1-47A0-A730-DFD565B8ECCE}"/>
              </a:ext>
            </a:extLst>
          </p:cNvPr>
          <p:cNvSpPr>
            <a:spLocks noGrp="1"/>
          </p:cNvSpPr>
          <p:nvPr/>
        </p:nvSpPr>
        <p:spPr>
          <a:xfrm>
            <a:off x="6819900" y="1581150"/>
            <a:ext cx="4572000" cy="2495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title: "HTTP заявки",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"views": 0,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"published": false,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43DD4F-8454-4D32-84DF-40CEC11BC969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9D5263-EA00-4EAD-8D1F-36EA7C5D8C9C}"/>
              </a:ext>
            </a:extLst>
          </p:cNvPr>
          <p:cNvSpPr>
            <a:spLocks noGrp="1"/>
          </p:cNvSpPr>
          <p:nvPr/>
        </p:nvSpPr>
        <p:spPr>
          <a:xfrm>
            <a:off x="857250" y="459105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✓ Имената са в двойни кавички</a:t>
            </a:r>
          </a:p>
          <a:p>
            <a:pPr algn="l">
              <a:defRPr sz="12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✓ Няма запетая след последното поле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9F0C19-197A-491C-A3DD-AE418DFACF8D}"/>
              </a:ext>
            </a:extLst>
          </p:cNvPr>
          <p:cNvSpPr>
            <a:spLocks noGrp="1"/>
          </p:cNvSpPr>
          <p:nvPr/>
        </p:nvSpPr>
        <p:spPr>
          <a:xfrm>
            <a:off x="6629400" y="4495800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45B41-7272-4367-A3B8-5E668AD209AC}"/>
              </a:ext>
            </a:extLst>
          </p:cNvPr>
          <p:cNvSpPr>
            <a:spLocks noGrp="1"/>
          </p:cNvSpPr>
          <p:nvPr/>
        </p:nvSpPr>
        <p:spPr>
          <a:xfrm>
            <a:off x="6877050" y="459105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✕ title няма двойни кавички</a:t>
            </a:r>
          </a:p>
          <a:p>
            <a:pPr algn="l">
              <a:defRPr sz="120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✕ Има излишна последна запетая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546EFB-8D26-4283-9CF3-D645986739BB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Грешен JSON често води до 400 Bad Request.</a:t>
            </a:r>
          </a:p>
        </p:txBody>
      </p:sp>
    </p:spTree>
    <p:extLst>
      <p:ext uri="{BB962C8B-B14F-4D97-AF65-F5344CB8AC3E}">
        <p14:creationId xmlns:p14="http://schemas.microsoft.com/office/powerpoint/2010/main" val="163632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133BABA-C043-4575-AD62-DF967A72B6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2A78F3-7DF1-4BCC-BEE2-134F74E5D32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Отговорът също има структура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76B59-8052-4967-ABC7-803E1D40949E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B0630-1FDE-4F68-8622-D65F22B8BA32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E5C1C3-F613-4997-A5F6-268B90CAA479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6667500" cy="3790950"/>
          </a:xfrm>
          <a:prstGeom prst="roundRect">
            <a:avLst>
              <a:gd name="adj" fmla="val 2010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386AAD-D431-4953-BF32-A45473A258D5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6324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ПРИМЕРЕН ОТГОВОР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8AA8A-BB67-4AEB-9E0E-54298C5BCE78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6286500" cy="3333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HTTP/1.1 201 Created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Location: /posts/7</a:t>
            </a:r>
          </a:p>
          <a:p>
            <a:endParaRPr sz="12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"id": 7,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"title": "HTTP заявки"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4DD062-E63F-420E-8FB9-BC63BE3BEF32}"/>
              </a:ext>
            </a:extLst>
          </p:cNvPr>
          <p:cNvSpPr>
            <a:spLocks noGrp="1"/>
          </p:cNvSpPr>
          <p:nvPr/>
        </p:nvSpPr>
        <p:spPr>
          <a:xfrm>
            <a:off x="7753350" y="1238250"/>
            <a:ext cx="3619500" cy="9525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BEADB3-89AD-4969-A019-0512E418B0E3}"/>
              </a:ext>
            </a:extLst>
          </p:cNvPr>
          <p:cNvSpPr>
            <a:spLocks noGrp="1"/>
          </p:cNvSpPr>
          <p:nvPr/>
        </p:nvSpPr>
        <p:spPr>
          <a:xfrm>
            <a:off x="7924800" y="1352550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Status 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51E915-B7C8-4672-9A19-576687F427E6}"/>
              </a:ext>
            </a:extLst>
          </p:cNvPr>
          <p:cNvSpPr>
            <a:spLocks noGrp="1"/>
          </p:cNvSpPr>
          <p:nvPr/>
        </p:nvSpPr>
        <p:spPr>
          <a:xfrm>
            <a:off x="7924800" y="1676400"/>
            <a:ext cx="3276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Код и кратко описание на резултата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242EAA-D120-4FD2-966F-D41DAFEA3E9A}"/>
              </a:ext>
            </a:extLst>
          </p:cNvPr>
          <p:cNvSpPr>
            <a:spLocks noGrp="1"/>
          </p:cNvSpPr>
          <p:nvPr/>
        </p:nvSpPr>
        <p:spPr>
          <a:xfrm>
            <a:off x="7753350" y="2381250"/>
            <a:ext cx="3619500" cy="952500"/>
          </a:xfrm>
          <a:prstGeom prst="roundRect">
            <a:avLst>
              <a:gd name="adj" fmla="val 8000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8C9E9-62AE-43DD-A29C-14B0CE078B74}"/>
              </a:ext>
            </a:extLst>
          </p:cNvPr>
          <p:cNvSpPr>
            <a:spLocks noGrp="1"/>
          </p:cNvSpPr>
          <p:nvPr/>
        </p:nvSpPr>
        <p:spPr>
          <a:xfrm>
            <a:off x="7924800" y="2495550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Response headers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3D488A-D77D-440E-A3B6-CF9D137E019B}"/>
              </a:ext>
            </a:extLst>
          </p:cNvPr>
          <p:cNvSpPr>
            <a:spLocks noGrp="1"/>
          </p:cNvSpPr>
          <p:nvPr/>
        </p:nvSpPr>
        <p:spPr>
          <a:xfrm>
            <a:off x="7924800" y="2819400"/>
            <a:ext cx="3276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Метаинформация за отговора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DAD80D-E8D6-4B20-9F1B-A1B9A724A1D8}"/>
              </a:ext>
            </a:extLst>
          </p:cNvPr>
          <p:cNvSpPr>
            <a:spLocks noGrp="1"/>
          </p:cNvSpPr>
          <p:nvPr/>
        </p:nvSpPr>
        <p:spPr>
          <a:xfrm>
            <a:off x="7753350" y="3524250"/>
            <a:ext cx="3619500" cy="95250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F2F8F9-83D8-4884-B66D-38C8B1FA1DB9}"/>
              </a:ext>
            </a:extLst>
          </p:cNvPr>
          <p:cNvSpPr>
            <a:spLocks noGrp="1"/>
          </p:cNvSpPr>
          <p:nvPr/>
        </p:nvSpPr>
        <p:spPr>
          <a:xfrm>
            <a:off x="7924800" y="3638550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Response body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BECD29-B998-41CE-B5A6-DEB465FDB4E0}"/>
              </a:ext>
            </a:extLst>
          </p:cNvPr>
          <p:cNvSpPr>
            <a:spLocks noGrp="1"/>
          </p:cNvSpPr>
          <p:nvPr/>
        </p:nvSpPr>
        <p:spPr>
          <a:xfrm>
            <a:off x="7924800" y="3962400"/>
            <a:ext cx="3276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417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Върнатите данни или описание на грешка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4A5128-C171-465B-B3EE-A4D763020035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Location посочва адреса на новосъздадения ресурс.</a:t>
            </a:r>
          </a:p>
        </p:txBody>
      </p:sp>
    </p:spTree>
    <p:extLst>
      <p:ext uri="{BB962C8B-B14F-4D97-AF65-F5344CB8AC3E}">
        <p14:creationId xmlns:p14="http://schemas.microsoft.com/office/powerpoint/2010/main" val="115860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CA9DC18-043E-46ED-9156-EF286588CE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3F1F3-0EA6-4002-9B85-E17ADAFEAFC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Класове status кодове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92804E-8EBA-4F79-A609-FC093EEA7495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01D6E-72EB-435A-BDC0-5C776C8C7CD3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F8B8F1-2C82-45AA-8ADA-FAE8A0664E0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6BF83E-DE7B-40B0-9A7F-FA492CB61D08}"/>
              </a:ext>
            </a:extLst>
          </p:cNvPr>
          <p:cNvSpPr>
            <a:spLocks noGrp="1"/>
          </p:cNvSpPr>
          <p:nvPr/>
        </p:nvSpPr>
        <p:spPr>
          <a:xfrm>
            <a:off x="800100" y="1447800"/>
            <a:ext cx="11430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54AE4-E718-4B4A-B7F8-8D9F3A98A83F}"/>
              </a:ext>
            </a:extLst>
          </p:cNvPr>
          <p:cNvSpPr>
            <a:spLocks noGrp="1"/>
          </p:cNvSpPr>
          <p:nvPr/>
        </p:nvSpPr>
        <p:spPr>
          <a:xfrm>
            <a:off x="800100" y="146685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2xx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2426EA-8220-43DA-8490-DD457108B5DA}"/>
              </a:ext>
            </a:extLst>
          </p:cNvPr>
          <p:cNvSpPr>
            <a:spLocks noGrp="1"/>
          </p:cNvSpPr>
          <p:nvPr/>
        </p:nvSpPr>
        <p:spPr>
          <a:xfrm>
            <a:off x="2247900" y="133350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Успех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42836E-7BA9-4BF4-96DC-DFF6B53C5418}"/>
              </a:ext>
            </a:extLst>
          </p:cNvPr>
          <p:cNvSpPr>
            <a:spLocks noGrp="1"/>
          </p:cNvSpPr>
          <p:nvPr/>
        </p:nvSpPr>
        <p:spPr>
          <a:xfrm>
            <a:off x="4838700" y="133350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Заявката е приета и обработена.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BB1307-9B65-4349-9EEF-67C5F2410C64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3D2539-4FDA-4185-B3D4-00170EDDB1D2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114300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331917-E066-4AD4-BE95-A29A39385B1C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3xx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B51D42-6F30-4A94-BDFA-6C556E961DF8}"/>
              </a:ext>
            </a:extLst>
          </p:cNvPr>
          <p:cNvSpPr>
            <a:spLocks noGrp="1"/>
          </p:cNvSpPr>
          <p:nvPr/>
        </p:nvSpPr>
        <p:spPr>
          <a:xfrm>
            <a:off x="2247900" y="245745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Пренасочване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2CE8B5-8F25-4D24-A091-5B17ACFAE043}"/>
              </a:ext>
            </a:extLst>
          </p:cNvPr>
          <p:cNvSpPr>
            <a:spLocks noGrp="1"/>
          </p:cNvSpPr>
          <p:nvPr/>
        </p:nvSpPr>
        <p:spPr>
          <a:xfrm>
            <a:off x="4838700" y="24574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трябва да използва друг адрес или кеш.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7CFA45-2361-4D08-B6B5-0FA3C12DD0CE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C09259-226A-4695-AEC5-977265B4978A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11430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8AE86E-B78E-4427-8483-FA2917FDB799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4xx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BD260C-FE22-43BC-A519-A8F62AC1027B}"/>
              </a:ext>
            </a:extLst>
          </p:cNvPr>
          <p:cNvSpPr>
            <a:spLocks noGrp="1"/>
          </p:cNvSpPr>
          <p:nvPr/>
        </p:nvSpPr>
        <p:spPr>
          <a:xfrm>
            <a:off x="2247900" y="358140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769"/>
          </a:bodyPr>
          <a:lstStyle/>
          <a:p>
            <a:pPr algn="l">
              <a:defRPr sz="15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Грешка на клиента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D2CAC9-B7C3-49C0-A2E9-F3D56DFBE926}"/>
              </a:ext>
            </a:extLst>
          </p:cNvPr>
          <p:cNvSpPr>
            <a:spLocks noGrp="1"/>
          </p:cNvSpPr>
          <p:nvPr/>
        </p:nvSpPr>
        <p:spPr>
          <a:xfrm>
            <a:off x="4838700" y="358140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Проблем в заявката, правата или адреса.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34F16A-128F-4269-936C-F1C04998BAC2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0972800" cy="876300"/>
          </a:xfrm>
          <a:prstGeom prst="roundRect">
            <a:avLst>
              <a:gd name="adj" fmla="val 8696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35A06D9-0392-4E94-A3C2-3AE06A3B0688}"/>
              </a:ext>
            </a:extLst>
          </p:cNvPr>
          <p:cNvSpPr>
            <a:spLocks noGrp="1"/>
          </p:cNvSpPr>
          <p:nvPr/>
        </p:nvSpPr>
        <p:spPr>
          <a:xfrm>
            <a:off x="800100" y="4819650"/>
            <a:ext cx="11430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3C25CC-7273-460A-A0B3-1D31A7AF3592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5xx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530026-807D-4B3C-9890-BB8D2717E399}"/>
              </a:ext>
            </a:extLst>
          </p:cNvPr>
          <p:cNvSpPr>
            <a:spLocks noGrp="1"/>
          </p:cNvSpPr>
          <p:nvPr/>
        </p:nvSpPr>
        <p:spPr>
          <a:xfrm>
            <a:off x="2247900" y="470535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26"/>
          </a:bodyPr>
          <a:lstStyle/>
          <a:p>
            <a:pPr algn="l">
              <a:defRPr sz="15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Грешка на сървъра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430986-8BDD-48DD-97A2-4C2273C2716E}"/>
              </a:ext>
            </a:extLst>
          </p:cNvPr>
          <p:cNvSpPr>
            <a:spLocks noGrp="1"/>
          </p:cNvSpPr>
          <p:nvPr/>
        </p:nvSpPr>
        <p:spPr>
          <a:xfrm>
            <a:off x="4838700" y="470535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Сървърът не успява да обработи валидна заявка.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A20C7D-2D39-4157-9FCC-D6DEC03F0642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Първата цифра показва общата категория на резултата.</a:t>
            </a:r>
          </a:p>
        </p:txBody>
      </p:sp>
    </p:spTree>
    <p:extLst>
      <p:ext uri="{BB962C8B-B14F-4D97-AF65-F5344CB8AC3E}">
        <p14:creationId xmlns:p14="http://schemas.microsoft.com/office/powerpoint/2010/main" val="216821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68674AB-0DF2-49A1-8740-D8DFD83365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3FAD43-ECC1-44EF-8EDD-AEC56765CF4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Чести 4xx грешки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A4BF71-DBCF-486C-9B3A-5FFB9FBAF799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D3CF8C-DB3E-42BB-9633-83BD99B01897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E1AC8F-C803-40BE-9E72-64D430172AB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5105400" cy="114300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8BCAED-0AAB-4090-97C8-BA31C9264729}"/>
              </a:ext>
            </a:extLst>
          </p:cNvPr>
          <p:cNvSpPr>
            <a:spLocks noGrp="1"/>
          </p:cNvSpPr>
          <p:nvPr/>
        </p:nvSpPr>
        <p:spPr>
          <a:xfrm>
            <a:off x="781050" y="133350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A41AC-9AE1-4974-9C28-36F3EA280F09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809683-52E0-4D97-BC12-69C954FA4D07}"/>
              </a:ext>
            </a:extLst>
          </p:cNvPr>
          <p:cNvSpPr>
            <a:spLocks noGrp="1"/>
          </p:cNvSpPr>
          <p:nvPr/>
        </p:nvSpPr>
        <p:spPr>
          <a:xfrm>
            <a:off x="1847850" y="12954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Bad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130B21-D4FF-4F61-9C9B-AE629F660A93}"/>
              </a:ext>
            </a:extLst>
          </p:cNvPr>
          <p:cNvSpPr>
            <a:spLocks noGrp="1"/>
          </p:cNvSpPr>
          <p:nvPr/>
        </p:nvSpPr>
        <p:spPr>
          <a:xfrm>
            <a:off x="1847850" y="1657350"/>
            <a:ext cx="3619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невалидни данни или JSON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CA4250-01D9-4D2F-9CFF-BC3F00D403D8}"/>
              </a:ext>
            </a:extLst>
          </p:cNvPr>
          <p:cNvSpPr>
            <a:spLocks noGrp="1"/>
          </p:cNvSpPr>
          <p:nvPr/>
        </p:nvSpPr>
        <p:spPr>
          <a:xfrm>
            <a:off x="6096000" y="1162050"/>
            <a:ext cx="5105400" cy="1143000"/>
          </a:xfrm>
          <a:prstGeom prst="roundRect">
            <a:avLst>
              <a:gd name="adj" fmla="val 6667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FD81B1-3059-4D11-99D7-01397756325B}"/>
              </a:ext>
            </a:extLst>
          </p:cNvPr>
          <p:cNvSpPr>
            <a:spLocks noGrp="1"/>
          </p:cNvSpPr>
          <p:nvPr/>
        </p:nvSpPr>
        <p:spPr>
          <a:xfrm>
            <a:off x="6267450" y="133350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6D941D-D11C-49FE-84B5-8421F054129E}"/>
              </a:ext>
            </a:extLst>
          </p:cNvPr>
          <p:cNvSpPr>
            <a:spLocks noGrp="1"/>
          </p:cNvSpPr>
          <p:nvPr/>
        </p:nvSpPr>
        <p:spPr>
          <a:xfrm>
            <a:off x="6267450" y="13525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910CC4-85FA-465E-ADC2-878F20027FF9}"/>
              </a:ext>
            </a:extLst>
          </p:cNvPr>
          <p:cNvSpPr>
            <a:spLocks noGrp="1"/>
          </p:cNvSpPr>
          <p:nvPr/>
        </p:nvSpPr>
        <p:spPr>
          <a:xfrm>
            <a:off x="7334250" y="12954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Unauthorized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A757A-6302-46D5-A739-12DC54DE5B84}"/>
              </a:ext>
            </a:extLst>
          </p:cNvPr>
          <p:cNvSpPr>
            <a:spLocks noGrp="1"/>
          </p:cNvSpPr>
          <p:nvPr/>
        </p:nvSpPr>
        <p:spPr>
          <a:xfrm>
            <a:off x="7334250" y="1657350"/>
            <a:ext cx="3619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липсва валидно удостоверяване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CCD8BC-4EEB-42F7-BC22-EA1002772418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5105400" cy="114300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0373EA-D6F5-4E6D-9FC1-480BB04D9582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4E96E2-992A-47DF-AEA3-8E1C1DD3C8E4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CF04C5-112F-4883-9B28-6E032579DB47}"/>
              </a:ext>
            </a:extLst>
          </p:cNvPr>
          <p:cNvSpPr>
            <a:spLocks noGrp="1"/>
          </p:cNvSpPr>
          <p:nvPr/>
        </p:nvSpPr>
        <p:spPr>
          <a:xfrm>
            <a:off x="1847850" y="272415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Forbidden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2D6C10-2C77-4A09-9D52-1B8ECBB58500}"/>
              </a:ext>
            </a:extLst>
          </p:cNvPr>
          <p:cNvSpPr>
            <a:spLocks noGrp="1"/>
          </p:cNvSpPr>
          <p:nvPr/>
        </p:nvSpPr>
        <p:spPr>
          <a:xfrm>
            <a:off x="1847850" y="3086100"/>
            <a:ext cx="3619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няма право за операцията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EEA846D-B14D-453F-BC4F-2A799A3FFD8F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5105400" cy="1143000"/>
          </a:xfrm>
          <a:prstGeom prst="roundRect">
            <a:avLst>
              <a:gd name="adj" fmla="val 6667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C2F317-94C8-4C32-B893-EBE16DE7F5B2}"/>
              </a:ext>
            </a:extLst>
          </p:cNvPr>
          <p:cNvSpPr>
            <a:spLocks noGrp="1"/>
          </p:cNvSpPr>
          <p:nvPr/>
        </p:nvSpPr>
        <p:spPr>
          <a:xfrm>
            <a:off x="6267450" y="276225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0DC275-854A-439B-A2C6-D6755B621BAA}"/>
              </a:ext>
            </a:extLst>
          </p:cNvPr>
          <p:cNvSpPr>
            <a:spLocks noGrp="1"/>
          </p:cNvSpPr>
          <p:nvPr/>
        </p:nvSpPr>
        <p:spPr>
          <a:xfrm>
            <a:off x="6267450" y="278130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BDB6BA-3E13-4AE3-BC71-14B5737B1056}"/>
              </a:ext>
            </a:extLst>
          </p:cNvPr>
          <p:cNvSpPr>
            <a:spLocks noGrp="1"/>
          </p:cNvSpPr>
          <p:nvPr/>
        </p:nvSpPr>
        <p:spPr>
          <a:xfrm>
            <a:off x="7334250" y="272415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Not Found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1DDC5E-FC64-4FD2-B6D4-4535979CA414}"/>
              </a:ext>
            </a:extLst>
          </p:cNvPr>
          <p:cNvSpPr>
            <a:spLocks noGrp="1"/>
          </p:cNvSpPr>
          <p:nvPr/>
        </p:nvSpPr>
        <p:spPr>
          <a:xfrm>
            <a:off x="7334250" y="3086100"/>
            <a:ext cx="3619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ресурсът или маршрутът не съществува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FA2018-0576-4E57-9F15-0D58B5A914EE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5105400" cy="114300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0CE767-9B03-480E-85AE-B510B2C61309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98E4DB-301A-4D03-B3BC-D8FD212B5690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45032C-B49C-4595-BA24-4400D90B91ED}"/>
              </a:ext>
            </a:extLst>
          </p:cNvPr>
          <p:cNvSpPr>
            <a:spLocks noGrp="1"/>
          </p:cNvSpPr>
          <p:nvPr/>
        </p:nvSpPr>
        <p:spPr>
          <a:xfrm>
            <a:off x="1847850" y="41529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Method Not Allowed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7A62C6-2D0E-4B2D-99EC-A9B934472E6E}"/>
              </a:ext>
            </a:extLst>
          </p:cNvPr>
          <p:cNvSpPr>
            <a:spLocks noGrp="1"/>
          </p:cNvSpPr>
          <p:nvPr/>
        </p:nvSpPr>
        <p:spPr>
          <a:xfrm>
            <a:off x="1847850" y="4514850"/>
            <a:ext cx="3619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методът не се поддържа за този адрес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1606DE-9D8B-47FA-8295-FA018BEC9688}"/>
              </a:ext>
            </a:extLst>
          </p:cNvPr>
          <p:cNvSpPr>
            <a:spLocks noGrp="1"/>
          </p:cNvSpPr>
          <p:nvPr/>
        </p:nvSpPr>
        <p:spPr>
          <a:xfrm>
            <a:off x="6096000" y="4019550"/>
            <a:ext cx="5105400" cy="1143000"/>
          </a:xfrm>
          <a:prstGeom prst="roundRect">
            <a:avLst>
              <a:gd name="adj" fmla="val 6667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13BECD-56E4-4C57-8052-400ED5D06A5B}"/>
              </a:ext>
            </a:extLst>
          </p:cNvPr>
          <p:cNvSpPr>
            <a:spLocks noGrp="1"/>
          </p:cNvSpPr>
          <p:nvPr/>
        </p:nvSpPr>
        <p:spPr>
          <a:xfrm>
            <a:off x="6267450" y="4191000"/>
            <a:ext cx="8763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39A8F9-D7E8-4366-839E-70AA326D5BE9}"/>
              </a:ext>
            </a:extLst>
          </p:cNvPr>
          <p:cNvSpPr>
            <a:spLocks noGrp="1"/>
          </p:cNvSpPr>
          <p:nvPr/>
        </p:nvSpPr>
        <p:spPr>
          <a:xfrm>
            <a:off x="6267450" y="42100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415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4737A6-9932-41F2-BAF5-95B653FD3DE6}"/>
              </a:ext>
            </a:extLst>
          </p:cNvPr>
          <p:cNvSpPr>
            <a:spLocks noGrp="1"/>
          </p:cNvSpPr>
          <p:nvPr/>
        </p:nvSpPr>
        <p:spPr>
          <a:xfrm>
            <a:off x="7334250" y="41529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Unsupported Media Type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6B728F-71A2-4080-AAD6-3D37A85AEDEB}"/>
              </a:ext>
            </a:extLst>
          </p:cNvPr>
          <p:cNvSpPr>
            <a:spLocks noGrp="1"/>
          </p:cNvSpPr>
          <p:nvPr/>
        </p:nvSpPr>
        <p:spPr>
          <a:xfrm>
            <a:off x="7334250" y="4514850"/>
            <a:ext cx="3619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неподдържан Content-Type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891C48-7302-47F5-9FD8-9DB108EABD2F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591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401 и 403 не са едно и също: идентификация срещу разрешение.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977536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35DC4D4-9396-44E0-85E2-0A6BE6CFEB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ECED5E-8D8F-49B2-BE03-F786831608E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Успешен резултат според метода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DD8EF-45D7-44C6-A018-63F003D845E4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98BB4-5ED9-49D6-A6AF-6187AA7CFED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87A40C-E574-4136-8570-BA3F0826B155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9A8AFA-7E92-4570-ACA8-973B530759AE}"/>
              </a:ext>
            </a:extLst>
          </p:cNvPr>
          <p:cNvSpPr>
            <a:spLocks noGrp="1"/>
          </p:cNvSpPr>
          <p:nvPr/>
        </p:nvSpPr>
        <p:spPr>
          <a:xfrm>
            <a:off x="819150" y="1238250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GET /posts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F2403-0A84-4B02-A0E4-9DA5DC31A662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200 OK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CBC229-D110-43BA-A388-9803951CA8C3}"/>
              </a:ext>
            </a:extLst>
          </p:cNvPr>
          <p:cNvSpPr>
            <a:spLocks noGrp="1"/>
          </p:cNvSpPr>
          <p:nvPr/>
        </p:nvSpPr>
        <p:spPr>
          <a:xfrm>
            <a:off x="7867650" y="1238250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връща списък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5EAFF7-2DBC-402C-92AA-1229A7CB1785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26B73B-4394-448B-A673-2F127D4FE5A0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GET /posts/4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80ACF9-01F9-44B5-B7BC-776A9F82D336}"/>
              </a:ext>
            </a:extLst>
          </p:cNvPr>
          <p:cNvSpPr>
            <a:spLocks noGrp="1"/>
          </p:cNvSpPr>
          <p:nvPr/>
        </p:nvSpPr>
        <p:spPr>
          <a:xfrm>
            <a:off x="4591050" y="21526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200 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B571E-583E-4BFC-8873-4F4D79DDE178}"/>
              </a:ext>
            </a:extLst>
          </p:cNvPr>
          <p:cNvSpPr>
            <a:spLocks noGrp="1"/>
          </p:cNvSpPr>
          <p:nvPr/>
        </p:nvSpPr>
        <p:spPr>
          <a:xfrm>
            <a:off x="7867650" y="2152650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връща един ресурс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524CD3-94DC-45AB-A06D-FFF52BDE6C56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74721F-521F-4E1B-8569-8022D2DA33FA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POST /posts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37174C-ECCF-4124-9FFE-71B384013BDD}"/>
              </a:ext>
            </a:extLst>
          </p:cNvPr>
          <p:cNvSpPr>
            <a:spLocks noGrp="1"/>
          </p:cNvSpPr>
          <p:nvPr/>
        </p:nvSpPr>
        <p:spPr>
          <a:xfrm>
            <a:off x="4591050" y="30670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201 Created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D5E966-0787-4F5C-B27D-8DA102CC8E40}"/>
              </a:ext>
            </a:extLst>
          </p:cNvPr>
          <p:cNvSpPr>
            <a:spLocks noGrp="1"/>
          </p:cNvSpPr>
          <p:nvPr/>
        </p:nvSpPr>
        <p:spPr>
          <a:xfrm>
            <a:off x="7867650" y="3067050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създава ресурс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AA4EBB-C8EE-4FF0-A329-5FACAF619C3A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A4B45D-F20E-4181-AED2-0D3DADFCDCBE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PUT / PATCH /posts/4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E31EB-F35C-4854-83EE-CDC3683F27C4}"/>
              </a:ext>
            </a:extLst>
          </p:cNvPr>
          <p:cNvSpPr>
            <a:spLocks noGrp="1"/>
          </p:cNvSpPr>
          <p:nvPr/>
        </p:nvSpPr>
        <p:spPr>
          <a:xfrm>
            <a:off x="4591050" y="39814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200 OK или 204 No Content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6854BE-98E1-4BC3-8720-E16D5F5BBC73}"/>
              </a:ext>
            </a:extLst>
          </p:cNvPr>
          <p:cNvSpPr>
            <a:spLocks noGrp="1"/>
          </p:cNvSpPr>
          <p:nvPr/>
        </p:nvSpPr>
        <p:spPr>
          <a:xfrm>
            <a:off x="7867650" y="3981450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променя ресурс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78DF34-BA40-4CAF-AC0B-8D321CE5A635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A286C1-2880-40D9-B6F1-8E8888B4FC19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DELETE /posts/4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512716-09AD-4A8D-85DF-DDBD79DD23FF}"/>
              </a:ext>
            </a:extLst>
          </p:cNvPr>
          <p:cNvSpPr>
            <a:spLocks noGrp="1"/>
          </p:cNvSpPr>
          <p:nvPr/>
        </p:nvSpPr>
        <p:spPr>
          <a:xfrm>
            <a:off x="4591050" y="48958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200 OK или 204 No Content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2EA7B6-9634-497F-A67A-9DDAE60C68E4}"/>
              </a:ext>
            </a:extLst>
          </p:cNvPr>
          <p:cNvSpPr>
            <a:spLocks noGrp="1"/>
          </p:cNvSpPr>
          <p:nvPr/>
        </p:nvSpPr>
        <p:spPr>
          <a:xfrm>
            <a:off x="7867650" y="4895850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премахва ресурс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9F735A-C25E-4833-9F45-686F92B9305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Конкретният код зависи от договора на API.</a:t>
            </a:r>
          </a:p>
        </p:txBody>
      </p:sp>
    </p:spTree>
    <p:extLst>
      <p:ext uri="{BB962C8B-B14F-4D97-AF65-F5344CB8AC3E}">
        <p14:creationId xmlns:p14="http://schemas.microsoft.com/office/powerpoint/2010/main" val="99278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005F05E-3667-4C29-A6C7-4D9BF4276E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E7039-1726-4981-B148-28BCE534FF0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Диагностика на неуспешна заявка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1BBDB8-2844-4069-82BC-9568A043605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C0E02-E4A3-433D-B3A6-8DACAA9A92CE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604F07-D360-4257-85B3-5D702E6A017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C24354-1130-4D02-831F-EF70AEC09801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B9BCC-08FE-4A7C-917A-2D374F1937D0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0ED166-415A-4CC8-BCD1-3CAF0673261E}"/>
              </a:ext>
            </a:extLst>
          </p:cNvPr>
          <p:cNvSpPr>
            <a:spLocks noGrp="1"/>
          </p:cNvSpPr>
          <p:nvPr/>
        </p:nvSpPr>
        <p:spPr>
          <a:xfrm>
            <a:off x="1466850" y="12001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METHOD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3A318F-C430-42F2-B81E-394A34BCE65A}"/>
              </a:ext>
            </a:extLst>
          </p:cNvPr>
          <p:cNvSpPr>
            <a:spLocks noGrp="1"/>
          </p:cNvSpPr>
          <p:nvPr/>
        </p:nvSpPr>
        <p:spPr>
          <a:xfrm>
            <a:off x="3829050" y="120015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Подходящ ли е методът?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CEB97B-9F15-4686-A428-5F48E38BD798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FEE693-4426-46E1-943E-04C306D13E06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CD188-B482-4B6E-98FA-D53EFD4B3B25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7055EC-1D16-40CE-B00A-FC27E13CF5B9}"/>
              </a:ext>
            </a:extLst>
          </p:cNvPr>
          <p:cNvSpPr>
            <a:spLocks noGrp="1"/>
          </p:cNvSpPr>
          <p:nvPr/>
        </p:nvSpPr>
        <p:spPr>
          <a:xfrm>
            <a:off x="1466850" y="21526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URL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69E1AF-A61C-4D88-843F-5F554FCA6A92}"/>
              </a:ext>
            </a:extLst>
          </p:cNvPr>
          <p:cNvSpPr>
            <a:spLocks noGrp="1"/>
          </p:cNvSpPr>
          <p:nvPr/>
        </p:nvSpPr>
        <p:spPr>
          <a:xfrm>
            <a:off x="3829050" y="215265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Правилен ли е маршрутът и id?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8C8E15-1614-4200-98F9-99565FB2C756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DCD475-9C15-4D61-9EFD-B34618184B1F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4168E3-ADD6-40BA-84F6-9E48C57AE702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7135CA-F2C6-47B2-8C44-FDADC2D2542F}"/>
              </a:ext>
            </a:extLst>
          </p:cNvPr>
          <p:cNvSpPr>
            <a:spLocks noGrp="1"/>
          </p:cNvSpPr>
          <p:nvPr/>
        </p:nvSpPr>
        <p:spPr>
          <a:xfrm>
            <a:off x="1466850" y="31051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HEADERS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A8937E-56F1-4E44-8E1B-08BA074AF6F0}"/>
              </a:ext>
            </a:extLst>
          </p:cNvPr>
          <p:cNvSpPr>
            <a:spLocks noGrp="1"/>
          </p:cNvSpPr>
          <p:nvPr/>
        </p:nvSpPr>
        <p:spPr>
          <a:xfrm>
            <a:off x="3829050" y="310515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Content-Type правилен ли е?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33514B-8B89-414A-9C95-3B085A4E06B4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52B759-4021-4591-ADB9-AD75C3D1D2F2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8407D0-CF59-49C8-8933-9C4B12C6106B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F1D150-35C9-45F2-BC12-E4A1932BAF8D}"/>
              </a:ext>
            </a:extLst>
          </p:cNvPr>
          <p:cNvSpPr>
            <a:spLocks noGrp="1"/>
          </p:cNvSpPr>
          <p:nvPr/>
        </p:nvSpPr>
        <p:spPr>
          <a:xfrm>
            <a:off x="1466850" y="40576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BODY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3C19B6-340C-4D3D-8A99-EF89689DA886}"/>
              </a:ext>
            </a:extLst>
          </p:cNvPr>
          <p:cNvSpPr>
            <a:spLocks noGrp="1"/>
          </p:cNvSpPr>
          <p:nvPr/>
        </p:nvSpPr>
        <p:spPr>
          <a:xfrm>
            <a:off x="3829050" y="405765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JSON валиден и пълен ли е?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EE45B0-3934-487B-AB82-9D56F608BDDB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528353-B927-41BA-96BC-C7B73A935378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47625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E1F5C3-4C68-4687-99BE-963B0A1A0AB9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47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A71BD0-D094-48DB-909E-6676621165D4}"/>
              </a:ext>
            </a:extLst>
          </p:cNvPr>
          <p:cNvSpPr>
            <a:spLocks noGrp="1"/>
          </p:cNvSpPr>
          <p:nvPr/>
        </p:nvSpPr>
        <p:spPr>
          <a:xfrm>
            <a:off x="1466850" y="50101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STATUS + BODY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148AF-6F8C-4C0F-B1A3-C6508385CF8C}"/>
              </a:ext>
            </a:extLst>
          </p:cNvPr>
          <p:cNvSpPr>
            <a:spLocks noGrp="1"/>
          </p:cNvSpPr>
          <p:nvPr/>
        </p:nvSpPr>
        <p:spPr>
          <a:xfrm>
            <a:off x="3829050" y="5010150"/>
            <a:ext cx="7239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казва отговорът?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B57775-4603-4954-B6DB-A6CF47B77392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Проверяваме заявката последователно, вместо да променяме всичко наведнъж.</a:t>
            </a:r>
          </a:p>
        </p:txBody>
      </p:sp>
    </p:spTree>
    <p:extLst>
      <p:ext uri="{BB962C8B-B14F-4D97-AF65-F5344CB8AC3E}">
        <p14:creationId xmlns:p14="http://schemas.microsoft.com/office/powerpoint/2010/main" val="1517092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093372D-FF31-4636-8DC7-B6401EB99D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98203E-1058-45D4-A89C-8FE9DB5FC36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Анализ на три заявки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4EEE8-1CE3-4228-B4ED-70DF80BA3FB6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F4717F-E34D-4DBD-BF24-73A498393EA3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A4DAE9-7135-437A-9572-5A55E5AA0EE5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D7297A-2F3D-4384-9BDB-E9129BE1C7A8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2990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982F4D-D1D4-4E5F-8D8D-B08C1074EB1B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2952750" cy="2019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POST /posts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endParaRPr sz="12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 "title": "Нов урок" 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A031CE-CF57-493A-9DEC-9B703361A042}"/>
              </a:ext>
            </a:extLst>
          </p:cNvPr>
          <p:cNvSpPr>
            <a:spLocks noGrp="1"/>
          </p:cNvSpPr>
          <p:nvPr/>
        </p:nvSpPr>
        <p:spPr>
          <a:xfrm>
            <a:off x="4419600" y="120015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C13B-7A61-4FBB-A827-8159132F2909}"/>
              </a:ext>
            </a:extLst>
          </p:cNvPr>
          <p:cNvSpPr>
            <a:spLocks noGrp="1"/>
          </p:cNvSpPr>
          <p:nvPr/>
        </p:nvSpPr>
        <p:spPr>
          <a:xfrm>
            <a:off x="4591050" y="1295400"/>
            <a:ext cx="2990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65DBAA-FE8D-4985-A96E-1E9BA517AE37}"/>
              </a:ext>
            </a:extLst>
          </p:cNvPr>
          <p:cNvSpPr>
            <a:spLocks noGrp="1"/>
          </p:cNvSpPr>
          <p:nvPr/>
        </p:nvSpPr>
        <p:spPr>
          <a:xfrm>
            <a:off x="4610100" y="1543050"/>
            <a:ext cx="2952750" cy="2019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PATCH /posts/4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endParaRPr sz="12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 "published": true 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B1BB8E-52C2-48DE-816C-7AB6D36E71AD}"/>
              </a:ext>
            </a:extLst>
          </p:cNvPr>
          <p:cNvSpPr>
            <a:spLocks noGrp="1"/>
          </p:cNvSpPr>
          <p:nvPr/>
        </p:nvSpPr>
        <p:spPr>
          <a:xfrm>
            <a:off x="8229600" y="1200150"/>
            <a:ext cx="3333750" cy="2476500"/>
          </a:xfrm>
          <a:prstGeom prst="roundRect">
            <a:avLst>
              <a:gd name="adj" fmla="val 307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02E2D4-5F1E-427D-886B-3833F27C383F}"/>
              </a:ext>
            </a:extLst>
          </p:cNvPr>
          <p:cNvSpPr>
            <a:spLocks noGrp="1"/>
          </p:cNvSpPr>
          <p:nvPr/>
        </p:nvSpPr>
        <p:spPr>
          <a:xfrm>
            <a:off x="8401050" y="1295400"/>
            <a:ext cx="2990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E0C16C-747C-422D-97EF-658977E6DDFB}"/>
              </a:ext>
            </a:extLst>
          </p:cNvPr>
          <p:cNvSpPr>
            <a:spLocks noGrp="1"/>
          </p:cNvSpPr>
          <p:nvPr/>
        </p:nvSpPr>
        <p:spPr>
          <a:xfrm>
            <a:off x="8420100" y="1543050"/>
            <a:ext cx="2952750" cy="2019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DELETE /posts/4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31E1A-B970-4414-B85B-E7B24371E69E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За всяка заявка определете: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61DB1D-0677-41F0-B9AB-E613FB883DD6}"/>
              </a:ext>
            </a:extLst>
          </p:cNvPr>
          <p:cNvSpPr>
            <a:spLocks noGrp="1"/>
          </p:cNvSpPr>
          <p:nvPr/>
        </p:nvSpPr>
        <p:spPr>
          <a:xfrm>
            <a:off x="1181100" y="483870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308830-3898-4B66-8E6E-9C8286B4B710}"/>
              </a:ext>
            </a:extLst>
          </p:cNvPr>
          <p:cNvSpPr>
            <a:spLocks noGrp="1"/>
          </p:cNvSpPr>
          <p:nvPr/>
        </p:nvSpPr>
        <p:spPr>
          <a:xfrm>
            <a:off x="1181100" y="4857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НАМЕРЕНИЕ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EB38F0-9086-4B13-9015-DB50D2B13444}"/>
              </a:ext>
            </a:extLst>
          </p:cNvPr>
          <p:cNvSpPr>
            <a:spLocks noGrp="1"/>
          </p:cNvSpPr>
          <p:nvPr/>
        </p:nvSpPr>
        <p:spPr>
          <a:xfrm>
            <a:off x="3771900" y="483870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E6C94-E42A-4463-B256-E62D16BAC260}"/>
              </a:ext>
            </a:extLst>
          </p:cNvPr>
          <p:cNvSpPr>
            <a:spLocks noGrp="1"/>
          </p:cNvSpPr>
          <p:nvPr/>
        </p:nvSpPr>
        <p:spPr>
          <a:xfrm>
            <a:off x="3771900" y="4857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ИМА ЛИ BODY?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1A610D-E5FB-4C8C-88B2-3CF3BE121629}"/>
              </a:ext>
            </a:extLst>
          </p:cNvPr>
          <p:cNvSpPr>
            <a:spLocks noGrp="1"/>
          </p:cNvSpPr>
          <p:nvPr/>
        </p:nvSpPr>
        <p:spPr>
          <a:xfrm>
            <a:off x="6362700" y="4838700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211704-F1AD-4013-91AE-44BF5B740CC9}"/>
              </a:ext>
            </a:extLst>
          </p:cNvPr>
          <p:cNvSpPr>
            <a:spLocks noGrp="1"/>
          </p:cNvSpPr>
          <p:nvPr/>
        </p:nvSpPr>
        <p:spPr>
          <a:xfrm>
            <a:off x="6362700" y="4857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УСПЕШЕН КОД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48AB62F-CE54-4DAE-B0CC-5445C4006243}"/>
              </a:ext>
            </a:extLst>
          </p:cNvPr>
          <p:cNvSpPr>
            <a:spLocks noGrp="1"/>
          </p:cNvSpPr>
          <p:nvPr/>
        </p:nvSpPr>
        <p:spPr>
          <a:xfrm>
            <a:off x="8953500" y="4838700"/>
            <a:ext cx="20955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CBDE1F-AA8E-45DE-90CC-56564F6BBCCC}"/>
              </a:ext>
            </a:extLst>
          </p:cNvPr>
          <p:cNvSpPr>
            <a:spLocks noGrp="1"/>
          </p:cNvSpPr>
          <p:nvPr/>
        </p:nvSpPr>
        <p:spPr>
          <a:xfrm>
            <a:off x="8953500" y="4857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0A1DC4-0821-4A22-9FBB-F3776C58B052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Работа по двойки • 5 минути</a:t>
            </a:r>
          </a:p>
        </p:txBody>
      </p:sp>
    </p:spTree>
    <p:extLst>
      <p:ext uri="{BB962C8B-B14F-4D97-AF65-F5344CB8AC3E}">
        <p14:creationId xmlns:p14="http://schemas.microsoft.com/office/powerpoint/2010/main" val="106737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612BF82-5D79-41C6-BD9B-2F507E3D66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AAD2D-40DC-462F-A9FC-E26A41E4796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Мини тест преди практиката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987687-37D1-4663-B2AE-A6F512721943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25"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ЗАКЛЮЧИТЕЛЕН ЧАС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63A499-AEE1-4915-A0DA-A91B8A50704A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537C50-6AFE-42B7-AB10-332EAE7301D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5105400" cy="1790700"/>
          </a:xfrm>
          <a:prstGeom prst="roundRect">
            <a:avLst>
              <a:gd name="adj" fmla="val 4255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AB2286-43CD-4FB9-A347-6ECE885A0E1C}"/>
              </a:ext>
            </a:extLst>
          </p:cNvPr>
          <p:cNvSpPr>
            <a:spLocks noGrp="1"/>
          </p:cNvSpPr>
          <p:nvPr/>
        </p:nvSpPr>
        <p:spPr>
          <a:xfrm>
            <a:off x="781050" y="13716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8CD27-B10D-42F5-A244-951661665004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8BAB32-D283-4EF8-9241-61B7B74A4254}"/>
              </a:ext>
            </a:extLst>
          </p:cNvPr>
          <p:cNvSpPr>
            <a:spLocks noGrp="1"/>
          </p:cNvSpPr>
          <p:nvPr/>
        </p:nvSpPr>
        <p:spPr>
          <a:xfrm>
            <a:off x="1409700" y="133350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Кой header описва формата на изпращаното body?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855365-75B1-4414-99DA-3622E9D1E34A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4572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A) Accept   B) Content-Type   C) Location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E390C3-B454-4EEB-8C73-D1D9001B7626}"/>
              </a:ext>
            </a:extLst>
          </p:cNvPr>
          <p:cNvSpPr>
            <a:spLocks noGrp="1"/>
          </p:cNvSpPr>
          <p:nvPr/>
        </p:nvSpPr>
        <p:spPr>
          <a:xfrm>
            <a:off x="6096000" y="1200150"/>
            <a:ext cx="5105400" cy="1790700"/>
          </a:xfrm>
          <a:prstGeom prst="roundRect">
            <a:avLst>
              <a:gd name="adj" fmla="val 4255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8E0F25-0C56-4B27-A0D8-7D343C438A23}"/>
              </a:ext>
            </a:extLst>
          </p:cNvPr>
          <p:cNvSpPr>
            <a:spLocks noGrp="1"/>
          </p:cNvSpPr>
          <p:nvPr/>
        </p:nvSpPr>
        <p:spPr>
          <a:xfrm>
            <a:off x="6267450" y="137160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992737-8292-4F6C-BA28-83DC025D7A41}"/>
              </a:ext>
            </a:extLst>
          </p:cNvPr>
          <p:cNvSpPr>
            <a:spLocks noGrp="1"/>
          </p:cNvSpPr>
          <p:nvPr/>
        </p:nvSpPr>
        <p:spPr>
          <a:xfrm>
            <a:off x="6267450" y="13906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4A07EB-ED64-45DB-808C-8729A7618532}"/>
              </a:ext>
            </a:extLst>
          </p:cNvPr>
          <p:cNvSpPr>
            <a:spLocks noGrp="1"/>
          </p:cNvSpPr>
          <p:nvPr/>
        </p:nvSpPr>
        <p:spPr>
          <a:xfrm>
            <a:off x="6896100" y="133350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Кой код показва успешно създаване?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FC91DD-4A50-4087-BA82-6B14A8C02471}"/>
              </a:ext>
            </a:extLst>
          </p:cNvPr>
          <p:cNvSpPr>
            <a:spLocks noGrp="1"/>
          </p:cNvSpPr>
          <p:nvPr/>
        </p:nvSpPr>
        <p:spPr>
          <a:xfrm>
            <a:off x="6362700" y="2038350"/>
            <a:ext cx="4572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A) 201   B) 404   C) 415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58D72A-FC95-47CB-82D1-63A01014FA93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5105400" cy="1790700"/>
          </a:xfrm>
          <a:prstGeom prst="roundRect">
            <a:avLst>
              <a:gd name="adj" fmla="val 4255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CFE98D-9A89-4383-96C3-2ACDAB0539E8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C109CF-AE16-4D0F-AE96-06B168A49E2A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ABFAE1-CA05-477A-B6A0-783D5B812E28}"/>
              </a:ext>
            </a:extLst>
          </p:cNvPr>
          <p:cNvSpPr>
            <a:spLocks noGrp="1"/>
          </p:cNvSpPr>
          <p:nvPr/>
        </p:nvSpPr>
        <p:spPr>
          <a:xfrm>
            <a:off x="1409700" y="352425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означава 405?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7055D8-4E67-45D5-8C85-9F000477A160}"/>
              </a:ext>
            </a:extLst>
          </p:cNvPr>
          <p:cNvSpPr>
            <a:spLocks noGrp="1"/>
          </p:cNvSpPr>
          <p:nvPr/>
        </p:nvSpPr>
        <p:spPr>
          <a:xfrm>
            <a:off x="876300" y="4229100"/>
            <a:ext cx="4572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A) Грешен JSON   B) Липсва ресурс   C) Методът не е позволен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A170BC-090D-4855-8C42-5B8AE1958EAE}"/>
              </a:ext>
            </a:extLst>
          </p:cNvPr>
          <p:cNvSpPr>
            <a:spLocks noGrp="1"/>
          </p:cNvSpPr>
          <p:nvPr/>
        </p:nvSpPr>
        <p:spPr>
          <a:xfrm>
            <a:off x="6096000" y="3390900"/>
            <a:ext cx="5105400" cy="1790700"/>
          </a:xfrm>
          <a:prstGeom prst="roundRect">
            <a:avLst>
              <a:gd name="adj" fmla="val 4255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3C6994-9674-423D-A1DA-7FA8073BC72F}"/>
              </a:ext>
            </a:extLst>
          </p:cNvPr>
          <p:cNvSpPr>
            <a:spLocks noGrp="1"/>
          </p:cNvSpPr>
          <p:nvPr/>
        </p:nvSpPr>
        <p:spPr>
          <a:xfrm>
            <a:off x="6267450" y="3562350"/>
            <a:ext cx="4572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B32E67-3BC5-4F18-A10E-C3F002ABAEC6}"/>
              </a:ext>
            </a:extLst>
          </p:cNvPr>
          <p:cNvSpPr>
            <a:spLocks noGrp="1"/>
          </p:cNvSpPr>
          <p:nvPr/>
        </p:nvSpPr>
        <p:spPr>
          <a:xfrm>
            <a:off x="6267450" y="358140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F206F4-49AC-4380-A141-1DA07CCDF666}"/>
              </a:ext>
            </a:extLst>
          </p:cNvPr>
          <p:cNvSpPr>
            <a:spLocks noGrp="1"/>
          </p:cNvSpPr>
          <p:nvPr/>
        </p:nvSpPr>
        <p:spPr>
          <a:xfrm>
            <a:off x="6896100" y="352425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Кое проверяваме първо при 404?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C60956-C577-4D0D-87E3-A06E258BCE7E}"/>
              </a:ext>
            </a:extLst>
          </p:cNvPr>
          <p:cNvSpPr>
            <a:spLocks noGrp="1"/>
          </p:cNvSpPr>
          <p:nvPr/>
        </p:nvSpPr>
        <p:spPr>
          <a:xfrm>
            <a:off x="6362700" y="4229100"/>
            <a:ext cx="4572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A) URL и id   B) Цвета на Postman   C) Името на файла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259D88-D2F9-4BB9-9E73-9AD2896EE48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 err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Отговори</a:t>
            </a:r>
            <a:r>
              <a:rPr sz="1350" b="1" dirty="0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: 1B, 2A, 3C, 4A</a:t>
            </a:r>
          </a:p>
        </p:txBody>
      </p:sp>
    </p:spTree>
    <p:extLst>
      <p:ext uri="{BB962C8B-B14F-4D97-AF65-F5344CB8AC3E}">
        <p14:creationId xmlns:p14="http://schemas.microsoft.com/office/powerpoint/2010/main" val="163762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CCA8FD1-116E-43F0-9A0A-6BE8443E03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67755B-9986-4AFC-BCDE-22AF2CAC157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001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 и преход към практиката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426F41-8762-4E71-AA76-285E3C7931EF}"/>
              </a:ext>
            </a:extLst>
          </p:cNvPr>
          <p:cNvSpPr>
            <a:spLocks noGrp="1"/>
          </p:cNvSpPr>
          <p:nvPr/>
        </p:nvSpPr>
        <p:spPr>
          <a:xfrm>
            <a:off x="10287000" y="26670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ТЕМАТА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98E39-6C63-4C97-9C56-2D1CD45CCCD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E5BE18-3987-4830-8F01-8A208F9125D3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A4298-C3C1-4A08-AEB5-853724F63E00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1. Намерение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9BD97-AFC1-4A17-A2B1-B7798D258CB6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29908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Избираме GET, POST, PUT, PATCH или DELETE.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5AA626-0F79-424D-9831-BEDF9CDF7C74}"/>
              </a:ext>
            </a:extLst>
          </p:cNvPr>
          <p:cNvSpPr>
            <a:spLocks noGrp="1"/>
          </p:cNvSpPr>
          <p:nvPr/>
        </p:nvSpPr>
        <p:spPr>
          <a:xfrm>
            <a:off x="4419600" y="112395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8666F7-54B7-47FF-B3A8-4350FB570432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2. Адрес и данни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955A6-818A-42B7-AEB9-A76869C8B626}"/>
              </a:ext>
            </a:extLst>
          </p:cNvPr>
          <p:cNvSpPr>
            <a:spLocks noGrp="1"/>
          </p:cNvSpPr>
          <p:nvPr/>
        </p:nvSpPr>
        <p:spPr>
          <a:xfrm>
            <a:off x="4591050" y="1562100"/>
            <a:ext cx="29908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Формулираме URL, headers и валиден JSON body.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134D31-9BD7-49CC-AF76-44BC73D582A8}"/>
              </a:ext>
            </a:extLst>
          </p:cNvPr>
          <p:cNvSpPr>
            <a:spLocks noGrp="1"/>
          </p:cNvSpPr>
          <p:nvPr/>
        </p:nvSpPr>
        <p:spPr>
          <a:xfrm>
            <a:off x="8229600" y="112395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45C83-E0A1-4F41-8A27-818A4FA9B30C}"/>
              </a:ext>
            </a:extLst>
          </p:cNvPr>
          <p:cNvSpPr>
            <a:spLocks noGrp="1"/>
          </p:cNvSpPr>
          <p:nvPr/>
        </p:nvSpPr>
        <p:spPr>
          <a:xfrm>
            <a:off x="8401050" y="1238250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3. Резултат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AFB97-67EE-48FE-B210-35F3E9EBB120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9908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Разчитаме status, headers и response body.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65D1AF-11A4-47C8-8D82-FC9D6184FC10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53750" cy="1066800"/>
          </a:xfrm>
          <a:prstGeom prst="roundRect">
            <a:avLst>
              <a:gd name="adj" fmla="val 714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229CF2-D883-4D42-AEA3-693929EE6630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1084BF-E03A-4EFF-A2C6-98C9293509D1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Формулирайте заявка, която променя само published на ресурс с id 4. Посочете метод, URL, header, body и възможен успешен код.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4031D5-B919-4D99-B00B-D9B534CC6252}"/>
              </a:ext>
            </a:extLst>
          </p:cNvPr>
          <p:cNvSpPr>
            <a:spLocks noGrp="1"/>
          </p:cNvSpPr>
          <p:nvPr/>
        </p:nvSpPr>
        <p:spPr>
          <a:xfrm>
            <a:off x="1714500" y="4552950"/>
            <a:ext cx="8763000" cy="1181100"/>
          </a:xfrm>
          <a:prstGeom prst="roundRect">
            <a:avLst>
              <a:gd name="adj" fmla="val 6452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3642DE-B48B-4D01-A21B-E794A31F054E}"/>
              </a:ext>
            </a:extLst>
          </p:cNvPr>
          <p:cNvSpPr>
            <a:spLocks noGrp="1"/>
          </p:cNvSpPr>
          <p:nvPr/>
        </p:nvSpPr>
        <p:spPr>
          <a:xfrm>
            <a:off x="1885950" y="4648200"/>
            <a:ext cx="8420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ПРИМЕРЕН ОТГОВОР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82A6A0-E89A-49A0-9823-3D7ADF0906F4}"/>
              </a:ext>
            </a:extLst>
          </p:cNvPr>
          <p:cNvSpPr>
            <a:spLocks noGrp="1"/>
          </p:cNvSpPr>
          <p:nvPr/>
        </p:nvSpPr>
        <p:spPr>
          <a:xfrm>
            <a:off x="1905000" y="4895850"/>
            <a:ext cx="8382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73"/>
          </a:bodyPr>
          <a:lstStyle/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PATCH /posts/4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Content-Type: application/json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 "published": true }</a:t>
            </a:r>
          </a:p>
          <a:p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200 OK или 204 No Content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CAD460-7369-43C5-9BA4-84AEB903707A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Следва: изпълнение на заявките с JSON Server и Postman.</a:t>
            </a:r>
          </a:p>
        </p:txBody>
      </p:sp>
    </p:spTree>
    <p:extLst>
      <p:ext uri="{BB962C8B-B14F-4D97-AF65-F5344CB8AC3E}">
        <p14:creationId xmlns:p14="http://schemas.microsoft.com/office/powerpoint/2010/main" val="5936901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Microsoft Office PowerPoint</Application>
  <DocSecurity>0</DocSecurity>
  <PresentationFormat>Widescreen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1</cp:revision>
  <dcterms:created xsi:type="dcterms:W3CDTF">2026-09-28T18:15:03Z</dcterms:created>
  <dcterms:modified xsi:type="dcterms:W3CDTF">2026-09-28T18:43:47Z</dcterms:modified>
</cp:coreProperties>
</file>