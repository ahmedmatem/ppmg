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d19c5b50c94364" /><Relationship Type="http://schemas.openxmlformats.org/officeDocument/2006/relationships/extended-properties" Target="/docProps/app.xml" Id="R57bdf19787de4a30" /><Relationship Type="http://schemas.openxmlformats.org/officeDocument/2006/relationships/officeDocument" Target="/ppt/presentation.xml" Id="R695da0a6e83c45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9f5fe4708d4406"/>
  </p:sldMasterIdLst>
  <p:notesMasterIdLst>
    <p:notesMasterId xmlns:r="http://schemas.openxmlformats.org/officeDocument/2006/relationships" r:id="Re29b1c824713432a"/>
  </p:notesMasterIdLst>
  <p:sldIdLst>
    <p:sldId xmlns:r="http://schemas.openxmlformats.org/officeDocument/2006/relationships" id="256" r:id="Rdcdf693d4d8143f1"/>
    <p:sldId xmlns:r="http://schemas.openxmlformats.org/officeDocument/2006/relationships" id="257" r:id="R39e4160691f04716"/>
    <p:sldId xmlns:r="http://schemas.openxmlformats.org/officeDocument/2006/relationships" id="258" r:id="R867e23644a924997"/>
    <p:sldId xmlns:r="http://schemas.openxmlformats.org/officeDocument/2006/relationships" id="259" r:id="Re418acd204d74cb2"/>
    <p:sldId xmlns:r="http://schemas.openxmlformats.org/officeDocument/2006/relationships" id="260" r:id="R43848376646f424f"/>
    <p:sldId xmlns:r="http://schemas.openxmlformats.org/officeDocument/2006/relationships" id="261" r:id="R73251187f57d439c"/>
    <p:sldId xmlns:r="http://schemas.openxmlformats.org/officeDocument/2006/relationships" id="262" r:id="Raa7671d26e8f479d"/>
    <p:sldId xmlns:r="http://schemas.openxmlformats.org/officeDocument/2006/relationships" id="263" r:id="R39df5aaeec29492a"/>
    <p:sldId xmlns:r="http://schemas.openxmlformats.org/officeDocument/2006/relationships" id="264" r:id="R3cb2149955af48a3"/>
    <p:sldId xmlns:r="http://schemas.openxmlformats.org/officeDocument/2006/relationships" id="265" r:id="R891312c423324675"/>
    <p:sldId xmlns:r="http://schemas.openxmlformats.org/officeDocument/2006/relationships" id="266" r:id="Rb6384a46ec11468f"/>
    <p:sldId xmlns:r="http://schemas.openxmlformats.org/officeDocument/2006/relationships" id="267" r:id="R5cf220751e0d4b58"/>
    <p:sldId xmlns:r="http://schemas.openxmlformats.org/officeDocument/2006/relationships" id="268" r:id="R958cdbd5e2ae4447"/>
    <p:sldId xmlns:r="http://schemas.openxmlformats.org/officeDocument/2006/relationships" id="269" r:id="Ra708ed775304484f"/>
    <p:sldId xmlns:r="http://schemas.openxmlformats.org/officeDocument/2006/relationships" id="270" r:id="R50badd6edb5942aa"/>
    <p:sldId xmlns:r="http://schemas.openxmlformats.org/officeDocument/2006/relationships" id="271" r:id="Rb756585a7231414f"/>
    <p:sldId xmlns:r="http://schemas.openxmlformats.org/officeDocument/2006/relationships" id="272" r:id="Rf79e30b44edb4ae1"/>
    <p:sldId xmlns:r="http://schemas.openxmlformats.org/officeDocument/2006/relationships" id="273" r:id="R04ba8cb777ce4787"/>
    <p:sldId xmlns:r="http://schemas.openxmlformats.org/officeDocument/2006/relationships" id="274" r:id="Rcb0b43dc592e4091"/>
    <p:sldId xmlns:r="http://schemas.openxmlformats.org/officeDocument/2006/relationships" id="275" r:id="Rc69452f222444de7"/>
    <p:sldId xmlns:r="http://schemas.openxmlformats.org/officeDocument/2006/relationships" id="276" r:id="R02a7e49cade54834"/>
    <p:sldId xmlns:r="http://schemas.openxmlformats.org/officeDocument/2006/relationships" id="277" r:id="R77412dbe589b46a6"/>
    <p:sldId xmlns:r="http://schemas.openxmlformats.org/officeDocument/2006/relationships" id="278" r:id="R646729a0a23544b1"/>
    <p:sldId xmlns:r="http://schemas.openxmlformats.org/officeDocument/2006/relationships" id="279" r:id="Rb95277a423ad4f80"/>
    <p:sldId xmlns:r="http://schemas.openxmlformats.org/officeDocument/2006/relationships" id="280" r:id="R79373b675ed04249"/>
    <p:sldId xmlns:r="http://schemas.openxmlformats.org/officeDocument/2006/relationships" id="281" r:id="R13e6d90040a449dd"/>
    <p:sldId xmlns:r="http://schemas.openxmlformats.org/officeDocument/2006/relationships" id="282" r:id="Ra6b2281338f243c6"/>
    <p:sldId xmlns:r="http://schemas.openxmlformats.org/officeDocument/2006/relationships" id="283" r:id="R1815cbc043ed47d9"/>
    <p:sldId xmlns:r="http://schemas.openxmlformats.org/officeDocument/2006/relationships" id="284" r:id="Rcf46277c8a5c4b44"/>
    <p:sldId xmlns:r="http://schemas.openxmlformats.org/officeDocument/2006/relationships" id="285" r:id="Rf9cb55f4ce9a4ab7"/>
    <p:sldId xmlns:r="http://schemas.openxmlformats.org/officeDocument/2006/relationships" id="286" r:id="Rb479de1cd3ba49c6"/>
    <p:sldId xmlns:r="http://schemas.openxmlformats.org/officeDocument/2006/relationships" id="287" r:id="Ra2a9a22d3618408f"/>
    <p:sldId xmlns:r="http://schemas.openxmlformats.org/officeDocument/2006/relationships" id="288" r:id="R9137a9638ecf4e33"/>
    <p:sldId xmlns:r="http://schemas.openxmlformats.org/officeDocument/2006/relationships" id="289" r:id="Rd25289c2ee5a49c9"/>
    <p:sldId xmlns:r="http://schemas.openxmlformats.org/officeDocument/2006/relationships" id="290" r:id="Re94dae6cc62e4489"/>
    <p:sldId xmlns:r="http://schemas.openxmlformats.org/officeDocument/2006/relationships" id="291" r:id="Re9bf2c2c299e45c9"/>
    <p:sldId xmlns:r="http://schemas.openxmlformats.org/officeDocument/2006/relationships" id="292" r:id="R035bb0678a4f4f3a"/>
    <p:sldId xmlns:r="http://schemas.openxmlformats.org/officeDocument/2006/relationships" id="293" r:id="R85a19f37eb244024"/>
    <p:sldId xmlns:r="http://schemas.openxmlformats.org/officeDocument/2006/relationships" id="294" r:id="Raee6bc6f1d2c4b39"/>
    <p:sldId xmlns:r="http://schemas.openxmlformats.org/officeDocument/2006/relationships" id="295" r:id="Rccf83678a2ae4bb1"/>
    <p:sldId xmlns:r="http://schemas.openxmlformats.org/officeDocument/2006/relationships" id="296" r:id="R4306c49329d04ae1"/>
    <p:sldId xmlns:r="http://schemas.openxmlformats.org/officeDocument/2006/relationships" id="297" r:id="R9dc2cf31fedb47b2"/>
    <p:sldId xmlns:r="http://schemas.openxmlformats.org/officeDocument/2006/relationships" id="298" r:id="R3a1a8cc346474982"/>
    <p:sldId xmlns:r="http://schemas.openxmlformats.org/officeDocument/2006/relationships" id="299" r:id="R01e9a5f5205f4792"/>
    <p:sldId xmlns:r="http://schemas.openxmlformats.org/officeDocument/2006/relationships" id="300" r:id="R7d5e3d2e79b44d28"/>
    <p:sldId xmlns:r="http://schemas.openxmlformats.org/officeDocument/2006/relationships" id="301" r:id="R90495e9036f7443f"/>
    <p:sldId xmlns:r="http://schemas.openxmlformats.org/officeDocument/2006/relationships" id="302" r:id="R178eb453714d4f15"/>
    <p:sldId xmlns:r="http://schemas.openxmlformats.org/officeDocument/2006/relationships" id="303" r:id="R668b3e51875a4de6"/>
    <p:sldId xmlns:r="http://schemas.openxmlformats.org/officeDocument/2006/relationships" id="304" r:id="R705477c5b0a146b4"/>
    <p:sldId xmlns:r="http://schemas.openxmlformats.org/officeDocument/2006/relationships" id="305" r:id="R27dc2bf0215444a9"/>
    <p:sldId xmlns:r="http://schemas.openxmlformats.org/officeDocument/2006/relationships" id="306" r:id="R080bd109ee744b7c"/>
    <p:sldId xmlns:r="http://schemas.openxmlformats.org/officeDocument/2006/relationships" id="307" r:id="R0c13b5239d224760"/>
    <p:sldId xmlns:r="http://schemas.openxmlformats.org/officeDocument/2006/relationships" id="308" r:id="R831c11aefc444867"/>
    <p:sldId xmlns:r="http://schemas.openxmlformats.org/officeDocument/2006/relationships" id="309" r:id="R2df5749ad378460c"/>
    <p:sldId xmlns:r="http://schemas.openxmlformats.org/officeDocument/2006/relationships" id="310" r:id="R47f960dca19e4c33"/>
    <p:sldId xmlns:r="http://schemas.openxmlformats.org/officeDocument/2006/relationships" id="311" r:id="R64a6d9cc092f492d"/>
    <p:sldId xmlns:r="http://schemas.openxmlformats.org/officeDocument/2006/relationships" id="312" r:id="R9170d09a506b43da"/>
    <p:sldId xmlns:r="http://schemas.openxmlformats.org/officeDocument/2006/relationships" id="313" r:id="R4fb81c3374794cd9"/>
    <p:sldId xmlns:r="http://schemas.openxmlformats.org/officeDocument/2006/relationships" id="314" r:id="R4c6b81e601de4bf8"/>
    <p:sldId xmlns:r="http://schemas.openxmlformats.org/officeDocument/2006/relationships" id="315" r:id="Radda46a79b934946"/>
    <p:sldId xmlns:r="http://schemas.openxmlformats.org/officeDocument/2006/relationships" id="316" r:id="R88acbb6aa17f4484"/>
    <p:sldId xmlns:r="http://schemas.openxmlformats.org/officeDocument/2006/relationships" id="317" r:id="R139be06c2a5e4689"/>
    <p:sldId xmlns:r="http://schemas.openxmlformats.org/officeDocument/2006/relationships" id="318" r:id="R85fa1819367b4900"/>
    <p:sldId xmlns:r="http://schemas.openxmlformats.org/officeDocument/2006/relationships" id="319" r:id="R14e8a6fe6453499d"/>
    <p:sldId xmlns:r="http://schemas.openxmlformats.org/officeDocument/2006/relationships" id="320" r:id="Rf146939e13e54529"/>
    <p:sldId xmlns:r="http://schemas.openxmlformats.org/officeDocument/2006/relationships" id="321" r:id="Rf10524be5aae4b5b"/>
    <p:sldId xmlns:r="http://schemas.openxmlformats.org/officeDocument/2006/relationships" id="322" r:id="R5186ff323ef54314"/>
    <p:sldId xmlns:r="http://schemas.openxmlformats.org/officeDocument/2006/relationships" id="323" r:id="Rf7b0131fe2d54764"/>
    <p:sldId xmlns:r="http://schemas.openxmlformats.org/officeDocument/2006/relationships" id="324" r:id="Rb871952946024fcd"/>
    <p:sldId xmlns:r="http://schemas.openxmlformats.org/officeDocument/2006/relationships" id="325" r:id="Rf2c7241e111145a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ef813a9f0b4008" /><Relationship Type="http://schemas.openxmlformats.org/officeDocument/2006/relationships/slideMaster" Target="/ppt/slideMasters/slideMaster1.xml" Id="R889f5fe4708d4406" /><Relationship Type="http://schemas.openxmlformats.org/officeDocument/2006/relationships/notesMaster" Target="/ppt/notesMasters/notesMaster1.xml" Id="Re29b1c824713432a" /><Relationship Type="http://schemas.openxmlformats.org/officeDocument/2006/relationships/presProps" Target="/ppt/presProps.xml" Id="R8706801b3f5343a3" /><Relationship Type="http://schemas.openxmlformats.org/officeDocument/2006/relationships/tableStyles" Target="/ppt/tableStyles.xml" Id="R7552a70fe7464c61" /><Relationship Type="http://schemas.openxmlformats.org/officeDocument/2006/relationships/slide" Target="/ppt/slides/slide1.xml" Id="Rdcdf693d4d8143f1" /><Relationship Type="http://schemas.openxmlformats.org/officeDocument/2006/relationships/slide" Target="/ppt/slides/slide2.xml" Id="R39e4160691f04716" /><Relationship Type="http://schemas.openxmlformats.org/officeDocument/2006/relationships/slide" Target="/ppt/slides/slide3.xml" Id="R867e23644a924997" /><Relationship Type="http://schemas.openxmlformats.org/officeDocument/2006/relationships/slide" Target="/ppt/slides/slide4.xml" Id="Re418acd204d74cb2" /><Relationship Type="http://schemas.openxmlformats.org/officeDocument/2006/relationships/slide" Target="/ppt/slides/slide5.xml" Id="R43848376646f424f" /><Relationship Type="http://schemas.openxmlformats.org/officeDocument/2006/relationships/slide" Target="/ppt/slides/slide6.xml" Id="R73251187f57d439c" /><Relationship Type="http://schemas.openxmlformats.org/officeDocument/2006/relationships/slide" Target="/ppt/slides/slide7.xml" Id="Raa7671d26e8f479d" /><Relationship Type="http://schemas.openxmlformats.org/officeDocument/2006/relationships/slide" Target="/ppt/slides/slide8.xml" Id="R39df5aaeec29492a" /><Relationship Type="http://schemas.openxmlformats.org/officeDocument/2006/relationships/slide" Target="/ppt/slides/slide9.xml" Id="R3cb2149955af48a3" /><Relationship Type="http://schemas.openxmlformats.org/officeDocument/2006/relationships/slide" Target="/ppt/slides/slide10.xml" Id="R891312c423324675" /><Relationship Type="http://schemas.openxmlformats.org/officeDocument/2006/relationships/slide" Target="/ppt/slides/slide11.xml" Id="Rb6384a46ec11468f" /><Relationship Type="http://schemas.openxmlformats.org/officeDocument/2006/relationships/slide" Target="/ppt/slides/slide12.xml" Id="R5cf220751e0d4b58" /><Relationship Type="http://schemas.openxmlformats.org/officeDocument/2006/relationships/slide" Target="/ppt/slides/slide13.xml" Id="R958cdbd5e2ae4447" /><Relationship Type="http://schemas.openxmlformats.org/officeDocument/2006/relationships/slide" Target="/ppt/slides/slide14.xml" Id="Ra708ed775304484f" /><Relationship Type="http://schemas.openxmlformats.org/officeDocument/2006/relationships/slide" Target="/ppt/slides/slide15.xml" Id="R50badd6edb5942aa" /><Relationship Type="http://schemas.openxmlformats.org/officeDocument/2006/relationships/slide" Target="/ppt/slides/slide16.xml" Id="Rb756585a7231414f" /><Relationship Type="http://schemas.openxmlformats.org/officeDocument/2006/relationships/slide" Target="/ppt/slides/slide17.xml" Id="Rf79e30b44edb4ae1" /><Relationship Type="http://schemas.openxmlformats.org/officeDocument/2006/relationships/slide" Target="/ppt/slides/slide18.xml" Id="R04ba8cb777ce4787" /><Relationship Type="http://schemas.openxmlformats.org/officeDocument/2006/relationships/slide" Target="/ppt/slides/slide19.xml" Id="Rcb0b43dc592e4091" /><Relationship Type="http://schemas.openxmlformats.org/officeDocument/2006/relationships/slide" Target="/ppt/slides/slide20.xml" Id="Rc69452f222444de7" /><Relationship Type="http://schemas.openxmlformats.org/officeDocument/2006/relationships/slide" Target="/ppt/slides/slide21.xml" Id="R02a7e49cade54834" /><Relationship Type="http://schemas.openxmlformats.org/officeDocument/2006/relationships/slide" Target="/ppt/slides/slide22.xml" Id="R77412dbe589b46a6" /><Relationship Type="http://schemas.openxmlformats.org/officeDocument/2006/relationships/slide" Target="/ppt/slides/slide23.xml" Id="R646729a0a23544b1" /><Relationship Type="http://schemas.openxmlformats.org/officeDocument/2006/relationships/slide" Target="/ppt/slides/slide24.xml" Id="Rb95277a423ad4f80" /><Relationship Type="http://schemas.openxmlformats.org/officeDocument/2006/relationships/slide" Target="/ppt/slides/slide25.xml" Id="R79373b675ed04249" /><Relationship Type="http://schemas.openxmlformats.org/officeDocument/2006/relationships/slide" Target="/ppt/slides/slide26.xml" Id="R13e6d90040a449dd" /><Relationship Type="http://schemas.openxmlformats.org/officeDocument/2006/relationships/slide" Target="/ppt/slides/slide27.xml" Id="Ra6b2281338f243c6" /><Relationship Type="http://schemas.openxmlformats.org/officeDocument/2006/relationships/slide" Target="/ppt/slides/slide28.xml" Id="R1815cbc043ed47d9" /><Relationship Type="http://schemas.openxmlformats.org/officeDocument/2006/relationships/slide" Target="/ppt/slides/slide29.xml" Id="Rcf46277c8a5c4b44" /><Relationship Type="http://schemas.openxmlformats.org/officeDocument/2006/relationships/slide" Target="/ppt/slides/slide30.xml" Id="Rf9cb55f4ce9a4ab7" /><Relationship Type="http://schemas.openxmlformats.org/officeDocument/2006/relationships/slide" Target="/ppt/slides/slide31.xml" Id="Rb479de1cd3ba49c6" /><Relationship Type="http://schemas.openxmlformats.org/officeDocument/2006/relationships/slide" Target="/ppt/slides/slide32.xml" Id="Ra2a9a22d3618408f" /><Relationship Type="http://schemas.openxmlformats.org/officeDocument/2006/relationships/slide" Target="/ppt/slides/slide33.xml" Id="R9137a9638ecf4e33" /><Relationship Type="http://schemas.openxmlformats.org/officeDocument/2006/relationships/slide" Target="/ppt/slides/slide34.xml" Id="Rd25289c2ee5a49c9" /><Relationship Type="http://schemas.openxmlformats.org/officeDocument/2006/relationships/slide" Target="/ppt/slides/slide35.xml" Id="Re94dae6cc62e4489" /><Relationship Type="http://schemas.openxmlformats.org/officeDocument/2006/relationships/slide" Target="/ppt/slides/slide36.xml" Id="Re9bf2c2c299e45c9" /><Relationship Type="http://schemas.openxmlformats.org/officeDocument/2006/relationships/slide" Target="/ppt/slides/slide37.xml" Id="R035bb0678a4f4f3a" /><Relationship Type="http://schemas.openxmlformats.org/officeDocument/2006/relationships/slide" Target="/ppt/slides/slide38.xml" Id="R85a19f37eb244024" /><Relationship Type="http://schemas.openxmlformats.org/officeDocument/2006/relationships/slide" Target="/ppt/slides/slide39.xml" Id="Raee6bc6f1d2c4b39" /><Relationship Type="http://schemas.openxmlformats.org/officeDocument/2006/relationships/slide" Target="/ppt/slides/slide40.xml" Id="Rccf83678a2ae4bb1" /><Relationship Type="http://schemas.openxmlformats.org/officeDocument/2006/relationships/slide" Target="/ppt/slides/slide41.xml" Id="R4306c49329d04ae1" /><Relationship Type="http://schemas.openxmlformats.org/officeDocument/2006/relationships/slide" Target="/ppt/slides/slide42.xml" Id="R9dc2cf31fedb47b2" /><Relationship Type="http://schemas.openxmlformats.org/officeDocument/2006/relationships/slide" Target="/ppt/slides/slide43.xml" Id="R3a1a8cc346474982" /><Relationship Type="http://schemas.openxmlformats.org/officeDocument/2006/relationships/slide" Target="/ppt/slides/slide44.xml" Id="R01e9a5f5205f4792" /><Relationship Type="http://schemas.openxmlformats.org/officeDocument/2006/relationships/slide" Target="/ppt/slides/slide45.xml" Id="R7d5e3d2e79b44d28" /><Relationship Type="http://schemas.openxmlformats.org/officeDocument/2006/relationships/slide" Target="/ppt/slides/slide46.xml" Id="R90495e9036f7443f" /><Relationship Type="http://schemas.openxmlformats.org/officeDocument/2006/relationships/slide" Target="/ppt/slides/slide47.xml" Id="R178eb453714d4f15" /><Relationship Type="http://schemas.openxmlformats.org/officeDocument/2006/relationships/slide" Target="/ppt/slides/slide48.xml" Id="R668b3e51875a4de6" /><Relationship Type="http://schemas.openxmlformats.org/officeDocument/2006/relationships/slide" Target="/ppt/slides/slide49.xml" Id="R705477c5b0a146b4" /><Relationship Type="http://schemas.openxmlformats.org/officeDocument/2006/relationships/slide" Target="/ppt/slides/slide50.xml" Id="R27dc2bf0215444a9" /><Relationship Type="http://schemas.openxmlformats.org/officeDocument/2006/relationships/slide" Target="/ppt/slides/slide51.xml" Id="R080bd109ee744b7c" /><Relationship Type="http://schemas.openxmlformats.org/officeDocument/2006/relationships/slide" Target="/ppt/slides/slide52.xml" Id="R0c13b5239d224760" /><Relationship Type="http://schemas.openxmlformats.org/officeDocument/2006/relationships/slide" Target="/ppt/slides/slide53.xml" Id="R831c11aefc444867" /><Relationship Type="http://schemas.openxmlformats.org/officeDocument/2006/relationships/slide" Target="/ppt/slides/slide54.xml" Id="R2df5749ad378460c" /><Relationship Type="http://schemas.openxmlformats.org/officeDocument/2006/relationships/slide" Target="/ppt/slides/slide55.xml" Id="R47f960dca19e4c33" /><Relationship Type="http://schemas.openxmlformats.org/officeDocument/2006/relationships/slide" Target="/ppt/slides/slide56.xml" Id="R64a6d9cc092f492d" /><Relationship Type="http://schemas.openxmlformats.org/officeDocument/2006/relationships/slide" Target="/ppt/slides/slide57.xml" Id="R9170d09a506b43da" /><Relationship Type="http://schemas.openxmlformats.org/officeDocument/2006/relationships/slide" Target="/ppt/slides/slide58.xml" Id="R4fb81c3374794cd9" /><Relationship Type="http://schemas.openxmlformats.org/officeDocument/2006/relationships/slide" Target="/ppt/slides/slide59.xml" Id="R4c6b81e601de4bf8" /><Relationship Type="http://schemas.openxmlformats.org/officeDocument/2006/relationships/slide" Target="/ppt/slides/slide60.xml" Id="Radda46a79b934946" /><Relationship Type="http://schemas.openxmlformats.org/officeDocument/2006/relationships/slide" Target="/ppt/slides/slide61.xml" Id="R88acbb6aa17f4484" /><Relationship Type="http://schemas.openxmlformats.org/officeDocument/2006/relationships/slide" Target="/ppt/slides/slide62.xml" Id="R139be06c2a5e4689" /><Relationship Type="http://schemas.openxmlformats.org/officeDocument/2006/relationships/slide" Target="/ppt/slides/slide63.xml" Id="R85fa1819367b4900" /><Relationship Type="http://schemas.openxmlformats.org/officeDocument/2006/relationships/slide" Target="/ppt/slides/slide64.xml" Id="R14e8a6fe6453499d" /><Relationship Type="http://schemas.openxmlformats.org/officeDocument/2006/relationships/slide" Target="/ppt/slides/slide65.xml" Id="Rf146939e13e54529" /><Relationship Type="http://schemas.openxmlformats.org/officeDocument/2006/relationships/slide" Target="/ppt/slides/slide66.xml" Id="Rf10524be5aae4b5b" /><Relationship Type="http://schemas.openxmlformats.org/officeDocument/2006/relationships/slide" Target="/ppt/slides/slide67.xml" Id="R5186ff323ef54314" /><Relationship Type="http://schemas.openxmlformats.org/officeDocument/2006/relationships/slide" Target="/ppt/slides/slide68.xml" Id="Rf7b0131fe2d54764" /><Relationship Type="http://schemas.openxmlformats.org/officeDocument/2006/relationships/slide" Target="/ppt/slides/slide69.xml" Id="Rb871952946024fcd" /><Relationship Type="http://schemas.openxmlformats.org/officeDocument/2006/relationships/slide" Target="/ppt/slides/slide70.xml" Id="Rf2c7241e111145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acf8a90aca4a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eb71673fd04a11" /><Relationship Type="http://schemas.openxmlformats.org/officeDocument/2006/relationships/notesMaster" Target="/ppt/notesMasters/notesMaster1.xml" Id="Rf06c61fca33e4b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0830feb59f4779" /><Relationship Type="http://schemas.openxmlformats.org/officeDocument/2006/relationships/notesMaster" Target="/ppt/notesMasters/notesMaster1.xml" Id="R8aa29f70f8f347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834e19f95346e7" /><Relationship Type="http://schemas.openxmlformats.org/officeDocument/2006/relationships/notesMaster" Target="/ppt/notesMasters/notesMaster1.xml" Id="Rad650fd24b5d4e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09cf184488432c" /><Relationship Type="http://schemas.openxmlformats.org/officeDocument/2006/relationships/notesMaster" Target="/ppt/notesMasters/notesMaster1.xml" Id="Rd2d80b4a1e28457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0c75309b414d3c" /><Relationship Type="http://schemas.openxmlformats.org/officeDocument/2006/relationships/notesMaster" Target="/ppt/notesMasters/notesMaster1.xml" Id="Ra76159814ce647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28a2b6e3f641a2" /><Relationship Type="http://schemas.openxmlformats.org/officeDocument/2006/relationships/notesMaster" Target="/ppt/notesMasters/notesMaster1.xml" Id="R3aba76d5291447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c8aae250d44595" /><Relationship Type="http://schemas.openxmlformats.org/officeDocument/2006/relationships/notesMaster" Target="/ppt/notesMasters/notesMaster1.xml" Id="R4bbc16251d0c436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45f18cfc48545a2" /><Relationship Type="http://schemas.openxmlformats.org/officeDocument/2006/relationships/notesMaster" Target="/ppt/notesMasters/notesMaster1.xml" Id="Reb07373c017246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5df25b260a64f48" /><Relationship Type="http://schemas.openxmlformats.org/officeDocument/2006/relationships/notesMaster" Target="/ppt/notesMasters/notesMaster1.xml" Id="Rbe906e767627460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325162a35b84a12" /><Relationship Type="http://schemas.openxmlformats.org/officeDocument/2006/relationships/notesMaster" Target="/ppt/notesMasters/notesMaster1.xml" Id="R1e2ede300a7a47d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b0f8553d1a7461a" /><Relationship Type="http://schemas.openxmlformats.org/officeDocument/2006/relationships/notesMaster" Target="/ppt/notesMasters/notesMaster1.xml" Id="Re77df209dc96479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342fb52438f4220" /><Relationship Type="http://schemas.openxmlformats.org/officeDocument/2006/relationships/notesMaster" Target="/ppt/notesMasters/notesMaster1.xml" Id="R17e3ae4c4fb9493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1c041dbffcf4348" /><Relationship Type="http://schemas.openxmlformats.org/officeDocument/2006/relationships/notesMaster" Target="/ppt/notesMasters/notesMaster1.xml" Id="Rbdd79113a559480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04c93fe23b0422a" /><Relationship Type="http://schemas.openxmlformats.org/officeDocument/2006/relationships/notesMaster" Target="/ppt/notesMasters/notesMaster1.xml" Id="Rd6cdab1745b9483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b44387180754cca" /><Relationship Type="http://schemas.openxmlformats.org/officeDocument/2006/relationships/notesMaster" Target="/ppt/notesMasters/notesMaster1.xml" Id="Refd3992d26ad478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ade669e1861481c" /><Relationship Type="http://schemas.openxmlformats.org/officeDocument/2006/relationships/notesMaster" Target="/ppt/notesMasters/notesMaster1.xml" Id="Rce453e712f604f0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7e78ab2a98a46da" /><Relationship Type="http://schemas.openxmlformats.org/officeDocument/2006/relationships/notesMaster" Target="/ppt/notesMasters/notesMaster1.xml" Id="R58c4e5520284408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ff69bd03dec46ca" /><Relationship Type="http://schemas.openxmlformats.org/officeDocument/2006/relationships/notesMaster" Target="/ppt/notesMasters/notesMaster1.xml" Id="Rd907f7f7ff354d8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0a965a9228442aa" /><Relationship Type="http://schemas.openxmlformats.org/officeDocument/2006/relationships/notesMaster" Target="/ppt/notesMasters/notesMaster1.xml" Id="R451b1b8bc6a145c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591ec8577814a7f" /><Relationship Type="http://schemas.openxmlformats.org/officeDocument/2006/relationships/notesMaster" Target="/ppt/notesMasters/notesMaster1.xml" Id="Rfce301885aea4b5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7c4769ee7f3494e" /><Relationship Type="http://schemas.openxmlformats.org/officeDocument/2006/relationships/notesMaster" Target="/ppt/notesMasters/notesMaster1.xml" Id="R6875da5a4625412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49882110ad94889" /><Relationship Type="http://schemas.openxmlformats.org/officeDocument/2006/relationships/notesMaster" Target="/ppt/notesMasters/notesMaster1.xml" Id="R964721a41b674b6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2ce8a59e91b4a46" /><Relationship Type="http://schemas.openxmlformats.org/officeDocument/2006/relationships/notesMaster" Target="/ppt/notesMasters/notesMaster1.xml" Id="R8f2e43194b26400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dc3752cfbb34324" /><Relationship Type="http://schemas.openxmlformats.org/officeDocument/2006/relationships/notesMaster" Target="/ppt/notesMasters/notesMaster1.xml" Id="R7f3f8bff7b9841a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e3d5e9d71f54dbb" /><Relationship Type="http://schemas.openxmlformats.org/officeDocument/2006/relationships/notesMaster" Target="/ppt/notesMasters/notesMaster1.xml" Id="Rdf5ead0de8f54b7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dd021cd89384505" /><Relationship Type="http://schemas.openxmlformats.org/officeDocument/2006/relationships/notesMaster" Target="/ppt/notesMasters/notesMaster1.xml" Id="Rde993db9421747d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c1b2c28d6824f81" /><Relationship Type="http://schemas.openxmlformats.org/officeDocument/2006/relationships/notesMaster" Target="/ppt/notesMasters/notesMaster1.xml" Id="Rb920f9b88f0948d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a26fbe088d744c7" /><Relationship Type="http://schemas.openxmlformats.org/officeDocument/2006/relationships/notesMaster" Target="/ppt/notesMasters/notesMaster1.xml" Id="R9ca97fbab1ee47a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d8f05b58faa4f27" /><Relationship Type="http://schemas.openxmlformats.org/officeDocument/2006/relationships/notesMaster" Target="/ppt/notesMasters/notesMaster1.xml" Id="Ra9f926f8189f4d1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31ac4557dec489d" /><Relationship Type="http://schemas.openxmlformats.org/officeDocument/2006/relationships/notesMaster" Target="/ppt/notesMasters/notesMaster1.xml" Id="R69f178a8b1de4fb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0fda1dc81ac49ed" /><Relationship Type="http://schemas.openxmlformats.org/officeDocument/2006/relationships/notesMaster" Target="/ppt/notesMasters/notesMaster1.xml" Id="R1659ff9f7aba408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ae936980662415f" /><Relationship Type="http://schemas.openxmlformats.org/officeDocument/2006/relationships/notesMaster" Target="/ppt/notesMasters/notesMaster1.xml" Id="Rd49f65d80a674ac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f4ea65e6a024d0b" /><Relationship Type="http://schemas.openxmlformats.org/officeDocument/2006/relationships/notesMaster" Target="/ppt/notesMasters/notesMaster1.xml" Id="R14e739e777fc48bf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c00b990e0c44ea0" /><Relationship Type="http://schemas.openxmlformats.org/officeDocument/2006/relationships/notesMaster" Target="/ppt/notesMasters/notesMaster1.xml" Id="R4257248c7d43411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2f199367780c46a5" /><Relationship Type="http://schemas.openxmlformats.org/officeDocument/2006/relationships/notesMaster" Target="/ppt/notesMasters/notesMaster1.xml" Id="Ra2bce06e19c64c6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32b6c32b5ca4239" /><Relationship Type="http://schemas.openxmlformats.org/officeDocument/2006/relationships/notesMaster" Target="/ppt/notesMasters/notesMaster1.xml" Id="R6df3343909904c7e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a1c9343d78a4fac" /><Relationship Type="http://schemas.openxmlformats.org/officeDocument/2006/relationships/notesMaster" Target="/ppt/notesMasters/notesMaster1.xml" Id="Rdc2eaedafb7444a6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cc18f1eff5c430e" /><Relationship Type="http://schemas.openxmlformats.org/officeDocument/2006/relationships/notesMaster" Target="/ppt/notesMasters/notesMaster1.xml" Id="Rf6ae86ec2075449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92fa71b94574ec7" /><Relationship Type="http://schemas.openxmlformats.org/officeDocument/2006/relationships/notesMaster" Target="/ppt/notesMasters/notesMaster1.xml" Id="Raa504a536f694613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3ffda8bfc71149b6" /><Relationship Type="http://schemas.openxmlformats.org/officeDocument/2006/relationships/notesMaster" Target="/ppt/notesMasters/notesMaster1.xml" Id="R28a8161ee2a8431f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6387cc8e43734874" /><Relationship Type="http://schemas.openxmlformats.org/officeDocument/2006/relationships/notesMaster" Target="/ppt/notesMasters/notesMaster1.xml" Id="R458a98c61be743cd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bcc43f4dcdcf4e01" /><Relationship Type="http://schemas.openxmlformats.org/officeDocument/2006/relationships/notesMaster" Target="/ppt/notesMasters/notesMaster1.xml" Id="R97866865a2c14be6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ee7bdc9068b945bf" /><Relationship Type="http://schemas.openxmlformats.org/officeDocument/2006/relationships/notesMaster" Target="/ppt/notesMasters/notesMaster1.xml" Id="R7c884fc7ad924c3f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6e7bfcee5fef48f4" /><Relationship Type="http://schemas.openxmlformats.org/officeDocument/2006/relationships/notesMaster" Target="/ppt/notesMasters/notesMaster1.xml" Id="R2007ff295efb4625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3a73ad24272f4be7" /><Relationship Type="http://schemas.openxmlformats.org/officeDocument/2006/relationships/notesMaster" Target="/ppt/notesMasters/notesMaster1.xml" Id="Rb58a766a6fc340a9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d5ee8aba2e1f415c" /><Relationship Type="http://schemas.openxmlformats.org/officeDocument/2006/relationships/notesMaster" Target="/ppt/notesMasters/notesMaster1.xml" Id="Rc635d596e4d74cd2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87f3429fe4214f04" /><Relationship Type="http://schemas.openxmlformats.org/officeDocument/2006/relationships/notesMaster" Target="/ppt/notesMasters/notesMaster1.xml" Id="R5e3838ec75764e2e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a2b46cdd00334062" /><Relationship Type="http://schemas.openxmlformats.org/officeDocument/2006/relationships/notesMaster" Target="/ppt/notesMasters/notesMaster1.xml" Id="R306aab9a171f4e92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43186d89e3814108" /><Relationship Type="http://schemas.openxmlformats.org/officeDocument/2006/relationships/notesMaster" Target="/ppt/notesMasters/notesMaster1.xml" Id="Rbf60250ef5914b4c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72bf1a6da4e2455c" /><Relationship Type="http://schemas.openxmlformats.org/officeDocument/2006/relationships/notesMaster" Target="/ppt/notesMasters/notesMaster1.xml" Id="Rc46c4d889d954f31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7b4247fec44b44ce" /><Relationship Type="http://schemas.openxmlformats.org/officeDocument/2006/relationships/notesMaster" Target="/ppt/notesMasters/notesMaster1.xml" Id="R9caeaeb6a945474d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1c9b2f4df5174210" /><Relationship Type="http://schemas.openxmlformats.org/officeDocument/2006/relationships/notesMaster" Target="/ppt/notesMasters/notesMaster1.xml" Id="Rb6c3c38728344bcb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172505dbc531466a" /><Relationship Type="http://schemas.openxmlformats.org/officeDocument/2006/relationships/notesMaster" Target="/ppt/notesMasters/notesMaster1.xml" Id="R2f7d26e846ea4b19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6f3ba5369c644881" /><Relationship Type="http://schemas.openxmlformats.org/officeDocument/2006/relationships/notesMaster" Target="/ppt/notesMasters/notesMaster1.xml" Id="R409a5074ec2a472a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3caaf4a50f5b412b" /><Relationship Type="http://schemas.openxmlformats.org/officeDocument/2006/relationships/notesMaster" Target="/ppt/notesMasters/notesMaster1.xml" Id="R87ae47f42a0f495c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f98258d1499848d6" /><Relationship Type="http://schemas.openxmlformats.org/officeDocument/2006/relationships/notesMaster" Target="/ppt/notesMasters/notesMaster1.xml" Id="R20d2c187c48843a1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5fdc2a672fd64fdb" /><Relationship Type="http://schemas.openxmlformats.org/officeDocument/2006/relationships/notesMaster" Target="/ppt/notesMasters/notesMaster1.xml" Id="Rf6f08ed569744771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dc91bc9a9cdc4417" /><Relationship Type="http://schemas.openxmlformats.org/officeDocument/2006/relationships/notesMaster" Target="/ppt/notesMasters/notesMaster1.xml" Id="R9d499ddedb1c477f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0b9727d806944895" /><Relationship Type="http://schemas.openxmlformats.org/officeDocument/2006/relationships/notesMaster" Target="/ppt/notesMasters/notesMaster1.xml" Id="R3f40baaa59e9448f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62332bfcf67a484f" /><Relationship Type="http://schemas.openxmlformats.org/officeDocument/2006/relationships/notesMaster" Target="/ppt/notesMasters/notesMaster1.xml" Id="Rba3766045e0c4820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baba99bc1b964d6d" /><Relationship Type="http://schemas.openxmlformats.org/officeDocument/2006/relationships/notesMaster" Target="/ppt/notesMasters/notesMaster1.xml" Id="R66d15e05e3814eb3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f359f7bccec04cd5" /><Relationship Type="http://schemas.openxmlformats.org/officeDocument/2006/relationships/notesMaster" Target="/ppt/notesMasters/notesMaster1.xml" Id="R91e25850b87c40cd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a344985af8cd4f8a" /><Relationship Type="http://schemas.openxmlformats.org/officeDocument/2006/relationships/notesMaster" Target="/ppt/notesMasters/notesMaster1.xml" Id="R54a68771b8cc46b6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5d679620e87c4e9c" /><Relationship Type="http://schemas.openxmlformats.org/officeDocument/2006/relationships/notesMaster" Target="/ppt/notesMasters/notesMaster1.xml" Id="R382af830465c4712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52331992bc7f4c62" /><Relationship Type="http://schemas.openxmlformats.org/officeDocument/2006/relationships/notesMaster" Target="/ppt/notesMasters/notesMaster1.xml" Id="R7fbdb9a2440f4974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8d5a0dead7e549f9" /><Relationship Type="http://schemas.openxmlformats.org/officeDocument/2006/relationships/notesMaster" Target="/ppt/notesMasters/notesMaster1.xml" Id="Re70cc11919254972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ec191fe04ca14a0f" /><Relationship Type="http://schemas.openxmlformats.org/officeDocument/2006/relationships/notesMaster" Target="/ppt/notesMasters/notesMaster1.xml" Id="Rb12e4df675ab4e4c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593965e70bfe4947" /><Relationship Type="http://schemas.openxmlformats.org/officeDocument/2006/relationships/notesMaster" Target="/ppt/notesMasters/notesMaster1.xml" Id="R871527409b4945a9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4ba4fee9cf624c37" /><Relationship Type="http://schemas.openxmlformats.org/officeDocument/2006/relationships/notesMaster" Target="/ppt/notesMasters/notesMaster1.xml" Id="R9a603fbc94134b95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609a4ad2c4f34fb0" /><Relationship Type="http://schemas.openxmlformats.org/officeDocument/2006/relationships/notesMaster" Target="/ppt/notesMasters/notesMaster1.xml" Id="R4807df928d8749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Ориентир за учителя: инсталацията е предварителна подготовка или справка за дома. Час 1: увод 10 мин, проект и първа програма 10 мин, cout и шаблон 10 мин, задача 01 10 мин, проверка 5 мин. Час 2: преговор 5 мин, присвояване и изрази 10 мин, задача 02 10 мин, 03–04 13 мин, тестове 5 мин, домашно 2 мин. Не е нужно да показвате всички справочни слайдове в часа.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>Външен източник: https://www.codeblocks.org/docs/main_codeblocks_en3.html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>Външен източник: https://www.codeblocks.org/downloads/binaries/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>Външен източник: https://www.codeblocks.org/downloads/binaries/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>Външен източник: https://www.codeblocks.org/docs/main_codeblocks_en3.html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>Външен източник: https://forums.codeblocks.org/index.php?topic=23119.0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>Външен източник: https://www.codeblocks.org/docs/main_codeblocks_en3.html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>Външен източник: https://www.codeblocks.org/docs/main_codeblocks_en3.html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>Външен източник: https://www.codeblocks.org/docs/main_codeblocks_en3.html ; изображение: https://www.codeblocks.org/docs/codeblocks.png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ПЪРВИ ЧАС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ПЪРВИ ЧАС · РЕШАВАМЕ ЗАЕДНО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ПЪРВИ ЧАС · РЕШАВАМЕ ЗАЕДНО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ВТОРИ ЧАС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ВТОРИ ЧАС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ВТОРИ ЧАС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ВТОРИ ЧАС · РЕШАВАМЕ ЗАЕДНО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ВТОРИ ЧАС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ВТОРИ ЧАС · РЕШАВАМЕ ЗАЕДНО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ВТОРИ ЧАС · САМОСТОЯТЕЛНО · 7 МИН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ВТОРИ ЧАС · САМОСТОЯТЕЛНО · 6 МИН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ЗА ВКЪЩИ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ЗА ВКЪЩИ · ОСНОВНА ЗАДАЧА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ЗА ВКЪЩИ · ОСНОВНА ЗАДАЧА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ЗА ВКЪЩИ · ПРЕДИЗВИКАТЕЛСТВО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ПОДСКАЗКИ · СЛЕД СОБСТВЕН ОПИТ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РЕШЕНИЯ ЗА САМОПРОВЕРКА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РЕШЕНИЯ ЗА САМОПРОВЕРКА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РЕШЕНИЯ ЗА САМОПРОВЕРКА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РЕШЕНИЯ ЗА САМОПРОВЕРКА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РЕШЕНИЯ ЗА САМОПРОВЕРКА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ПРОДЪЛЖЕНИЕ · НЕ Е ЗАДЪЛЖИТЕЛНО ЗА ПЪРВИТЕ ДВА ЧАСА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ПРОДЪЛЖЕНИЕ · ПЪЛНИ ГРУПИ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ПРОДЪЛЖЕНИЕ · РЕШЕНИЕ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ПРОДЪЛЖЕНИЕ · ВРЕМЕ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ПРОДЪЛЖЕНИЕ · РЕШЕНИЕ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ПРОДЪЛЖЕНИЕ · ЦИФРИ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ПРОДЪЛЖЕНИЕ · ЦИФРИ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ПРОДЪЛЖЕНИЕ · РЕШЕНИЕ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ПРОДЪЛЖЕНИЕ · ПРЕДИЗВИКАТЕЛСТВО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ПРОДЪЛЖЕНИЕ · ОБЯСНЕНИЕ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ПРОДЪЛЖЕНИЕ · РЕШЕНИЕ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ПРОДЪЛЖЕНИЕ · ПРЕДИЗВИКАТЕЛСТВО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ПРОДЪЛЖЕНИЕ · РЕШЕНИЕ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ПРОДЪЛЖЕНИЕ · ПРЕДИЗВИКАТЕЛСТВО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ПРОДЪЛЖЕНИЕ · РЕШЕНИЕ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02_Uchitel_parvi_2_chasa_i_razshirenie.docx и 03_Raboten_list_uchenici_sedmitsa_1.docx, предоставени материали, 23.09.2026.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4d1566c04a4f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03c5b090e445fb" /><Relationship Type="http://schemas.openxmlformats.org/officeDocument/2006/relationships/slideLayout" Target="/ppt/slideLayouts/slideLayout1.xml" Id="Rc043bdcf17004e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43bdcf17004e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1de14cc9a944f1" /><Relationship Type="http://schemas.openxmlformats.org/officeDocument/2006/relationships/notesSlide" Target="/ppt/notesSlides/notesSlide1.xml" Id="Rc3d4e99f02b245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e05591ce2a4b6f" /><Relationship Type="http://schemas.openxmlformats.org/officeDocument/2006/relationships/notesSlide" Target="/ppt/notesSlides/notesSlide2.xml" Id="R15097658d87f4e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e8cde6e46a459c" /><Relationship Type="http://schemas.openxmlformats.org/officeDocument/2006/relationships/notesSlide" Target="/ppt/notesSlides/notesSlide3.xml" Id="Re3bf4ac1d2a748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c05e85da3b4851" /><Relationship Type="http://schemas.openxmlformats.org/officeDocument/2006/relationships/notesSlide" Target="/ppt/notesSlides/notesSlide4.xml" Id="Rf1c77a6b667a48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08297463dc493c" /><Relationship Type="http://schemas.openxmlformats.org/officeDocument/2006/relationships/notesSlide" Target="/ppt/notesSlides/notesSlide5.xml" Id="R56bef93a77a84a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c3b50c1afe41ff" /><Relationship Type="http://schemas.openxmlformats.org/officeDocument/2006/relationships/notesSlide" Target="/ppt/notesSlides/notesSlide6.xml" Id="R04d1aa2c2ad343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a20c1ecfa54470" /><Relationship Type="http://schemas.openxmlformats.org/officeDocument/2006/relationships/notesSlide" Target="/ppt/notesSlides/notesSlide7.xml" Id="Rf407c7ac74e24f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3e1bc6ceec42e2" /><Relationship Type="http://schemas.openxmlformats.org/officeDocument/2006/relationships/notesSlide" Target="/ppt/notesSlides/notesSlide8.xml" Id="Rfda8b5da6cc24c7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3d85f0a9ca45ea" /><Relationship Type="http://schemas.openxmlformats.org/officeDocument/2006/relationships/notesSlide" Target="/ppt/notesSlides/notesSlide9.xml" Id="R8e94cfdef11e41c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a1431089934ff7" /><Relationship Type="http://schemas.openxmlformats.org/officeDocument/2006/relationships/notesSlide" Target="/ppt/notesSlides/notesSlide10.xml" Id="R98b9b0bff578420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c4a076a7b5434c" /><Relationship Type="http://schemas.openxmlformats.org/officeDocument/2006/relationships/notesSlide" Target="/ppt/notesSlides/notesSlide11.xml" Id="R5d9b912189d8466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46550e0b864703" /><Relationship Type="http://schemas.openxmlformats.org/officeDocument/2006/relationships/notesSlide" Target="/ppt/notesSlides/notesSlide12.xml" Id="R3c51def01da4460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7428afda7a4b95" /><Relationship Type="http://schemas.openxmlformats.org/officeDocument/2006/relationships/image" Target="/ppt/media/image.png" Id="R18d476e247204346" /><Relationship Type="http://schemas.openxmlformats.org/officeDocument/2006/relationships/notesSlide" Target="/ppt/notesSlides/notesSlide13.xml" Id="R5475530e1709429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6b4522e4ab43fe" /><Relationship Type="http://schemas.openxmlformats.org/officeDocument/2006/relationships/notesSlide" Target="/ppt/notesSlides/notesSlide14.xml" Id="R8696fc52c444460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cd58993cd04d08" /><Relationship Type="http://schemas.openxmlformats.org/officeDocument/2006/relationships/notesSlide" Target="/ppt/notesSlides/notesSlide15.xml" Id="Ree3dcf277b734f3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6be23e77e94169" /><Relationship Type="http://schemas.openxmlformats.org/officeDocument/2006/relationships/notesSlide" Target="/ppt/notesSlides/notesSlide16.xml" Id="R3615978f598d4ef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e7dd81843547ab" /><Relationship Type="http://schemas.openxmlformats.org/officeDocument/2006/relationships/notesSlide" Target="/ppt/notesSlides/notesSlide17.xml" Id="R650f30fb8b554b5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d437face5240e2" /><Relationship Type="http://schemas.openxmlformats.org/officeDocument/2006/relationships/notesSlide" Target="/ppt/notesSlides/notesSlide18.xml" Id="R664c72530243448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ffd6fada5b424a" /><Relationship Type="http://schemas.openxmlformats.org/officeDocument/2006/relationships/notesSlide" Target="/ppt/notesSlides/notesSlide19.xml" Id="Ra74500c4759c48f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52105d1003472d" /><Relationship Type="http://schemas.openxmlformats.org/officeDocument/2006/relationships/notesSlide" Target="/ppt/notesSlides/notesSlide20.xml" Id="R933148b24e8c43b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a688b8f468489a" /><Relationship Type="http://schemas.openxmlformats.org/officeDocument/2006/relationships/notesSlide" Target="/ppt/notesSlides/notesSlide21.xml" Id="Rd2b0bc5d3d0147d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aceba7ff574f52" /><Relationship Type="http://schemas.openxmlformats.org/officeDocument/2006/relationships/notesSlide" Target="/ppt/notesSlides/notesSlide22.xml" Id="R99b1a378b56e441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9c4c09b0cc4c6f" /><Relationship Type="http://schemas.openxmlformats.org/officeDocument/2006/relationships/notesSlide" Target="/ppt/notesSlides/notesSlide23.xml" Id="Raa0ea464df17461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f6f7a2380e4e08" /><Relationship Type="http://schemas.openxmlformats.org/officeDocument/2006/relationships/notesSlide" Target="/ppt/notesSlides/notesSlide24.xml" Id="R47e63e20b99a46f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a4f865872f4c2f" /><Relationship Type="http://schemas.openxmlformats.org/officeDocument/2006/relationships/notesSlide" Target="/ppt/notesSlides/notesSlide25.xml" Id="Rb3350567445741c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52e44fbb64410b" /><Relationship Type="http://schemas.openxmlformats.org/officeDocument/2006/relationships/notesSlide" Target="/ppt/notesSlides/notesSlide26.xml" Id="R87fa0688826d4ef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56b16be3434bdd" /><Relationship Type="http://schemas.openxmlformats.org/officeDocument/2006/relationships/notesSlide" Target="/ppt/notesSlides/notesSlide27.xml" Id="Rd08125ba077d4a6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91c7acd09949b5" /><Relationship Type="http://schemas.openxmlformats.org/officeDocument/2006/relationships/notesSlide" Target="/ppt/notesSlides/notesSlide28.xml" Id="R5eb85f1db357455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e595bab76f40ae" /><Relationship Type="http://schemas.openxmlformats.org/officeDocument/2006/relationships/notesSlide" Target="/ppt/notesSlides/notesSlide29.xml" Id="R03e293b1a4014dc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d6da027906448b" /><Relationship Type="http://schemas.openxmlformats.org/officeDocument/2006/relationships/notesSlide" Target="/ppt/notesSlides/notesSlide30.xml" Id="Rcb77a5d583614a6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59f33601924177" /><Relationship Type="http://schemas.openxmlformats.org/officeDocument/2006/relationships/notesSlide" Target="/ppt/notesSlides/notesSlide31.xml" Id="R11a20ecf37df418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f5a74b593b4860" /><Relationship Type="http://schemas.openxmlformats.org/officeDocument/2006/relationships/notesSlide" Target="/ppt/notesSlides/notesSlide32.xml" Id="R1d5f737d7187465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c94727781480f" /><Relationship Type="http://schemas.openxmlformats.org/officeDocument/2006/relationships/notesSlide" Target="/ppt/notesSlides/notesSlide33.xml" Id="R2ebccf0bb11e4c2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843f932e23440e" /><Relationship Type="http://schemas.openxmlformats.org/officeDocument/2006/relationships/notesSlide" Target="/ppt/notesSlides/notesSlide34.xml" Id="R818cb15dfc63481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b7eaca4ba54fab" /><Relationship Type="http://schemas.openxmlformats.org/officeDocument/2006/relationships/notesSlide" Target="/ppt/notesSlides/notesSlide35.xml" Id="R859f4ff0d65c41b4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b4294480b24748" /><Relationship Type="http://schemas.openxmlformats.org/officeDocument/2006/relationships/notesSlide" Target="/ppt/notesSlides/notesSlide36.xml" Id="R3899e97e87874b0c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749d6339384f41" /><Relationship Type="http://schemas.openxmlformats.org/officeDocument/2006/relationships/notesSlide" Target="/ppt/notesSlides/notesSlide37.xml" Id="R7f99670742bd4f66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227400b34c4459" /><Relationship Type="http://schemas.openxmlformats.org/officeDocument/2006/relationships/notesSlide" Target="/ppt/notesSlides/notesSlide38.xml" Id="Rc07d2747835a499e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3614b6e1964b0e" /><Relationship Type="http://schemas.openxmlformats.org/officeDocument/2006/relationships/notesSlide" Target="/ppt/notesSlides/notesSlide39.xml" Id="R3b939d1ec1034762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5f99c0a036474a" /><Relationship Type="http://schemas.openxmlformats.org/officeDocument/2006/relationships/notesSlide" Target="/ppt/notesSlides/notesSlide40.xml" Id="Ra735500d06624272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8dd7a574b64fc9" /><Relationship Type="http://schemas.openxmlformats.org/officeDocument/2006/relationships/notesSlide" Target="/ppt/notesSlides/notesSlide41.xml" Id="R5f10b521d66c4637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1bcbeeaf894c30" /><Relationship Type="http://schemas.openxmlformats.org/officeDocument/2006/relationships/notesSlide" Target="/ppt/notesSlides/notesSlide42.xml" Id="R95720eb873c34abf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31875aab364d35" /><Relationship Type="http://schemas.openxmlformats.org/officeDocument/2006/relationships/notesSlide" Target="/ppt/notesSlides/notesSlide43.xml" Id="Ra3a93770ebc04bbf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97efaff0774a6e" /><Relationship Type="http://schemas.openxmlformats.org/officeDocument/2006/relationships/notesSlide" Target="/ppt/notesSlides/notesSlide44.xml" Id="Ra9b367a481534f9a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2ce914f40746ce" /><Relationship Type="http://schemas.openxmlformats.org/officeDocument/2006/relationships/notesSlide" Target="/ppt/notesSlides/notesSlide45.xml" Id="R6b9be811d9a341a7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bce49c8c374659" /><Relationship Type="http://schemas.openxmlformats.org/officeDocument/2006/relationships/notesSlide" Target="/ppt/notesSlides/notesSlide46.xml" Id="R57df31e69664466a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84f6e9ee814c64" /><Relationship Type="http://schemas.openxmlformats.org/officeDocument/2006/relationships/notesSlide" Target="/ppt/notesSlides/notesSlide47.xml" Id="Reb9915a227ed4f3e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414cdbe8a34b29" /><Relationship Type="http://schemas.openxmlformats.org/officeDocument/2006/relationships/notesSlide" Target="/ppt/notesSlides/notesSlide48.xml" Id="Rfe0026e2066942b4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1884c089ab4ab0" /><Relationship Type="http://schemas.openxmlformats.org/officeDocument/2006/relationships/notesSlide" Target="/ppt/notesSlides/notesSlide49.xml" Id="R29d964ff0f304935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959540adf54635" /><Relationship Type="http://schemas.openxmlformats.org/officeDocument/2006/relationships/notesSlide" Target="/ppt/notesSlides/notesSlide50.xml" Id="R61d12c69b9b044a5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5bf6fdab4b4a13" /><Relationship Type="http://schemas.openxmlformats.org/officeDocument/2006/relationships/notesSlide" Target="/ppt/notesSlides/notesSlide51.xml" Id="R850dae80d4064bce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c37712f4334497" /><Relationship Type="http://schemas.openxmlformats.org/officeDocument/2006/relationships/notesSlide" Target="/ppt/notesSlides/notesSlide52.xml" Id="Re7a831186b5d4dd1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ee7a7f6644913" /><Relationship Type="http://schemas.openxmlformats.org/officeDocument/2006/relationships/notesSlide" Target="/ppt/notesSlides/notesSlide53.xml" Id="Rf5755470d399482b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11c7d7775941b2" /><Relationship Type="http://schemas.openxmlformats.org/officeDocument/2006/relationships/notesSlide" Target="/ppt/notesSlides/notesSlide54.xml" Id="Rf56451f7845c440d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7add309cb0495f" /><Relationship Type="http://schemas.openxmlformats.org/officeDocument/2006/relationships/notesSlide" Target="/ppt/notesSlides/notesSlide55.xml" Id="R917ad77b753c49d8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182dfb06db47c6" /><Relationship Type="http://schemas.openxmlformats.org/officeDocument/2006/relationships/notesSlide" Target="/ppt/notesSlides/notesSlide56.xml" Id="R78b092073b974e39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2f29e2f003453e" /><Relationship Type="http://schemas.openxmlformats.org/officeDocument/2006/relationships/notesSlide" Target="/ppt/notesSlides/notesSlide57.xml" Id="R90ba4949aee74a9c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77deb729e2435c" /><Relationship Type="http://schemas.openxmlformats.org/officeDocument/2006/relationships/notesSlide" Target="/ppt/notesSlides/notesSlide58.xml" Id="R3600b57f663f40cc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6195e83fac4b34" /><Relationship Type="http://schemas.openxmlformats.org/officeDocument/2006/relationships/notesSlide" Target="/ppt/notesSlides/notesSlide59.xml" Id="Rcec8dfeceebe479a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762effe8374b6f" /><Relationship Type="http://schemas.openxmlformats.org/officeDocument/2006/relationships/notesSlide" Target="/ppt/notesSlides/notesSlide60.xml" Id="R7b4945be7bc34600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bfe1b45b31426a" /><Relationship Type="http://schemas.openxmlformats.org/officeDocument/2006/relationships/notesSlide" Target="/ppt/notesSlides/notesSlide61.xml" Id="R959d3ad26da34648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e0203f12794a02" /><Relationship Type="http://schemas.openxmlformats.org/officeDocument/2006/relationships/notesSlide" Target="/ppt/notesSlides/notesSlide62.xml" Id="Rb3b9dd35a33f404e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d86282e12c48f2" /><Relationship Type="http://schemas.openxmlformats.org/officeDocument/2006/relationships/notesSlide" Target="/ppt/notesSlides/notesSlide63.xml" Id="R8edd19eb6d8648c1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fc7a472f754c86" /><Relationship Type="http://schemas.openxmlformats.org/officeDocument/2006/relationships/notesSlide" Target="/ppt/notesSlides/notesSlide64.xml" Id="R96d8c54b749e48af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917367175c40b2" /><Relationship Type="http://schemas.openxmlformats.org/officeDocument/2006/relationships/notesSlide" Target="/ppt/notesSlides/notesSlide65.xml" Id="Rb18ec22f633d4c68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86b7e4b41e4c16" /><Relationship Type="http://schemas.openxmlformats.org/officeDocument/2006/relationships/notesSlide" Target="/ppt/notesSlides/notesSlide66.xml" Id="R6bc93adb8a0d4cd5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8627ccc3684011" /><Relationship Type="http://schemas.openxmlformats.org/officeDocument/2006/relationships/notesSlide" Target="/ppt/notesSlides/notesSlide67.xml" Id="R9a30624630554952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b85e2a7cde4473" /><Relationship Type="http://schemas.openxmlformats.org/officeDocument/2006/relationships/notesSlide" Target="/ppt/notesSlides/notesSlide68.xml" Id="R4b05107fa3dc4d12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6dd58cd8754800" /><Relationship Type="http://schemas.openxmlformats.org/officeDocument/2006/relationships/notesSlide" Target="/ppt/notesSlides/notesSlide69.xml" Id="R282f1b9ae13945a1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f36f92c9104e1d" /><Relationship Type="http://schemas.openxmlformats.org/officeDocument/2006/relationships/notesSlide" Target="/ppt/notesSlides/notesSlide70.xml" Id="Rf4dae746d7804c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C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8676B4-F8BE-4385-A26F-980006BAD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5D5CA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65D5CA"/>
                </a:solidFill>
                <a:latin typeface="DejaVu Sans"/>
                <a:ea typeface="DejaVu Sans"/>
                <a:cs typeface="DejaVu Sans"/>
              </a:rPr>
              <a:t>ИНФОРМАТИКА · 5. КЛАС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B8BFF2-3049-41E7-894B-1DC7FFA1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76375"/>
            <a:ext cx="10477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Моите първи</a:t>
            </a:r>
          </a:p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C++ програми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3E24E2-B50A-4352-95EC-5A96EC5A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10287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1EDF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E1EDF3"/>
                </a:solidFill>
                <a:latin typeface="DejaVu Sans"/>
                <a:ea typeface="DejaVu Sans"/>
                <a:cs typeface="DejaVu Sans"/>
              </a:rPr>
              <a:t>Подготовка по информатика за 5. клас</a:t>
            </a:r>
          </a:p>
          <a:p xmlns:a="http://schemas.openxmlformats.org/drawingml/2006/main">
            <a:pPr>
              <a:defRPr sz="2175" b="0">
                <a:solidFill>
                  <a:srgbClr val="E1EDF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E1EDF3"/>
                </a:solidFill>
                <a:latin typeface="DejaVu Sans"/>
                <a:ea typeface="DejaVu Sans"/>
                <a:cs typeface="DejaVu Sans"/>
              </a:rPr>
              <a:t>Първи два учебни часа и самоподготовка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1EDF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E1EDF3"/>
                </a:solidFill>
                <a:latin typeface="DejaVu Sans"/>
                <a:ea typeface="DejaVu Sans"/>
                <a:cs typeface="DejaVu Sans"/>
              </a:rPr>
              <a:t>Ахмед Матем Ахмед · 2026/2027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E2D8CE-3FA5-418E-83C0-E04AA9D7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4CCD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B4CCD8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216466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3C33C0-2F33-4A0C-A087-61EAE0E5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ПЪРВИ СТЪПКИ В C++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3F4E42-FF92-4674-98DA-0A441F4F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rPr>
              <a:t>Как да използваш презентацията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A73776-51A8-4C56-908D-ED530FE4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Слайдове 3–26: първи час. Инсталирането на слайдове 7–10 е справка и за вкъщи.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DBC172-216A-4D0D-A324-A471F3EC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Слайдове 27–40: втори час, задачи 02–04 и проверка на програмите.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7A908F-A287-4E4D-8FE7-80153EAF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Слайдове 41–46: домашно, допълнителна задача и подсказки.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00E053-2406-4FBA-8A69-5E9135F6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Слайдове 47–52: решения. Отвори ги след собствен опит.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485277-E983-4E9E-9AF1-71AED6C8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768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Слайдове 53–68: продължение за следващото занятие. Слайд 69: проверка на напредъка.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1E7E21-0ACA-4B59-9CDE-1FB74894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207398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8EDCA7-FD58-4C21-924D-4B874E2F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ПЪРВИ СТЪПКИ В C++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ECB9F7-D96B-4BC9-B549-8C948AFD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rPr>
              <a:t>Нашата цел за днес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C4F70A-A8E2-40BE-8D37-960FDA7B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Създавам проект и изпълнявам C++ програма.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013F66-B502-4A9E-80F3-0D5BB4FB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Разпознавам входа, изчислението и изхода.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49C038-F178-4C3E-8218-9C21EA65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95700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Използвам цели числа, cin, cout, +, − и *.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90126B-439D-4C97-8CCA-8E5D5FAA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Проверявам с различни данни и запазвам своя .cpp файл.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1AF5F0-9748-443B-AE19-6CED2D14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817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Не е нужно веднага да запомниш целия начален шаблон.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3FE16A-5FB0-4E4E-A3CC-13C36FF2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584374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334B5F-2022-4005-BDED-C61C398C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ПЪРВИ СТЪПКИ В C++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B98686-4EA5-46C9-8DF3-66F76A00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rPr>
              <a:t>Какво е състезателно програмиране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6A666E-1D56-41B4-AE99-91CD2545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Получаваш задача с точно описани входни данни и търсен резултат.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AFAD6B-F847-40A1-8623-136C681C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Измисляш начин за решаване и го записваш като програма.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73E7F1-35A0-4D84-B04E-BF7AC162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95700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Проверяващата система изпълнява програмата с различни тестове.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DB53E2-CEA3-4D27-BA43-8959ECB0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Един верен пример е начало. Решението трябва да работи за всички допустими данни.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B5E2AF-68CC-4FC4-9B1B-63FE19D5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817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Днешните задачи са учебни упражнения, а не официална състезателна тема.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969425-4F6D-4D1B-BBF2-1AFF0ABB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407660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A9C51A-D171-45E5-8E61-72177463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ПЪРВИ СТЪПКИ В C++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5CA677-11B4-4790-B379-FF5D8B75D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rPr>
              <a:t>Алгоритъм: точни стъпки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12F04E-A5DC-47D8-A2F8-770F9E70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Задача: в две кутии има 7 и 5 молива. Колко са общо?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CB8ED8-85DD-4B61-BA8A-879D1457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1. Научи броя на моливите във всяка кутия.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20781D-9017-4FD3-9742-56ABB690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2. Събери двата броя: 7 + 5 = 12.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27A2DE-3848-4AFC-A1BC-EE8AA1B0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3. Съобщи резултата: 12.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787E18-7C9D-47F7-91CB-5C699201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768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Същите стъпки работят и за 2 и 9 молива. Променят се данните.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AEA063-B48B-4053-B706-96420658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817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Вход: 7 5       Изчисление: 7 + 5       Изход: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522441-394A-487F-B970-1BBE3158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752336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6C75C4-E90A-4B34-916A-7A8D8C50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ПЪРВИ СТЪПКИ В C++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287E51-9F4B-42A5-B64A-7803C97F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rPr>
              <a:t>Език, среда и компилатор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96DEA6-1240-4DDC-A598-28EA176E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C++ е езикът, на който ще записваме програмите.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C55871-A3D2-468F-AE4B-A47BC465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Code::Blocks е средата, в която пишем и стартираме кода.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F5DA53-BEDB-4801-B8F7-68D899D1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95700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Компилаторът превежда кода в изпълнима програма и съобщава за синтактични грешки.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E2AE9D-3A30-4AF1-9400-DA6AE328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При Windows ще използваме пакет с MinGW/GCC, който включва и компилатор.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81D51D-F07F-47FE-9701-9090DA60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559761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DB5273-364E-4EEA-9A75-4DEA0426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ПЪРВИ СТЪПКИ В C++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97117E-86F5-4FAC-9276-3A688D64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rPr>
              <a:t>Инсталиране 1: подходящият файл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7DF2E3-FC7C-46DF-8341-17F863DE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Инструкциите са за Windows. При друга система потърси помощ от учителя.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BC40AF-FB5E-44DA-B4BD-2D53AB5F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Отвори официалната страница: codeblocks.org/downloads/binaries/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5EDCC1-C7C2-4B5B-AEFD-EAE21C37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В раздел Windows избери codeblocks-25.03mingw-setup.exe.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0148B0-13E3-4431-ACB2-AF6D1425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Думата mingw в името е важна: този пакет съдържа компилатор.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B4F4DB-21C6-43DB-A56E-7DEB7FA0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768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Използвай връзката за изтегляне в реда на файла.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DD8A2F-4BF0-490C-ACB8-5816B192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817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Версията е проверена на 23.09.2026. При бъдеща версия отново търси пакет с MinGW.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7A7200-07BA-4608-800F-E210B390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18177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2F0CD8-6D8E-4E49-B6EA-4CE8047CC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ПЪРВИ СТЪПКИ В C++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96DFB6-45BB-4546-8816-49B0013D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rPr>
              <a:t>Инсталиране 2: съветникът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688F1F-F8CD-4946-8EA6-D73F7BEA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1. Отвори изтегления .exe файл. При искане за администраторски права потърси възрастен.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5B08D7-1243-40BE-B939-8933E083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2. Продължи с Next и прочети лицензионните условия.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898507-90BD-4555-B83F-BD663DA8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3. В избора на компоненти остави включени средствата MinGW/GCC.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374D9D-4FD2-48F2-A8FF-CA97EB98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4. Запази предложената папка и избери Install.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18DA95-4A70-44C5-9545-150D686D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768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5. Изчакай края и стартирай Code::Blocks. Надписите може да се различават по версия.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3C5F1C-CFBB-4E12-81D6-3BFD42F9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129178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4F588A-8C7B-4C28-8E49-173BD962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ПЪРВИ СТЪПКИ В C++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088412-17A2-4145-9384-D50F5759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rPr>
              <a:t>Инсталиране 3: първо стартиране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0C4E6D-61E0-49B5-A2FB-2A8BF6EF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Ако се появи списък с намерени компилатори, избери GNU GCC Compiler.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2B4089-F96C-4002-AC9E-3E78F50D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Потвърди избора. Следващата проверка е истинска компилация.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1DAAD7-9C51-475D-9AB2-A2EF044E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Създай папка C:\Olympiad\Week01 или Olympiad\Week01 в Documents.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6B9FB5-7D67-4A3A-8B6D-06293334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За всяка задача прави отделен проект: task01, task02 и т.н.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AC24E6-1D26-405E-81C9-64E86D82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768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Кратките имена на латиница улесняват намирането на файловете.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B35C7B-4344-43DE-BC7F-EB48925C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190858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3461FD-127F-438E-B1E1-2806F960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ПЪРВИ СТЪПКИ В C++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D4774A-ACA1-44FB-B514-20F1059B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rPr>
              <a:t>Когато компилаторът липсва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2B7D43-67C0-4F5E-943C-CD7CCBFF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Симптом: „compiler not found“ или „compiler setup is invalid“.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A4E804-2AB4-4F01-8E5C-A653B627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Отвори Settings &gt; Compiler и избери GNU GCC Compiler.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2A1396-0AA7-4178-AE4B-CB324657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В Toolchain executables натисни Auto-detect.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A54CF5-0334-4FD6-A124-737138038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Ако не го намери, провери дали си инсталирал пакета с mingw. Потърси помощ от учителя.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B71955-B068-46D0-BE74-E1360137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768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След поправката компилирай отново. Самото отваряне на редактора не доказва, че всичко работи.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6A1F9A-613B-46E0-B9B8-AF02DD3D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285071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F8A465-D363-4B81-9007-30E0251E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ПЪРВИ СТЪПКИ В C++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8E7518-37CF-4C62-BC89-68971252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rPr>
              <a:t>Нов проект: стъпки 1–4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6D0272-58AB-4A3E-83AF-032C9A4F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1. File &gt; New &gt; Project.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CA7216-DAA5-4D25-83AD-6FE24459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2. Избери Console application и натисни Go.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94CE56-3293-4E82-8596-B670B48E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95700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3. На началния екран натисни Next, ако се появи.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E2955F-33B1-403A-97A2-2B23B0C6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4. Избери C++ и продължи с Next.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0D9C3C-81D5-4C5C-8340-80BC3517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817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Console application е програма с текстов вход и текстов изход.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B93DCF-6428-4FC3-85E4-2F76775B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96891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F36177-EF77-4F65-9078-9B3EEC61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ПЪРВИ СТЪПКИ В C++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81E2EE-59AA-4BFC-9A3E-A6C584CE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rPr>
              <a:t>Нов проект: стъпки 5–7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8C0F6E-D7BA-43FF-A2EA-42C95C7B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5. Project title: task01. Избери папката Week01.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B1C2E6-BD6D-4C88-B369-2AB013B7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6. Остави GNU GCC Compiler и завърши с Finish.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F720A7-9058-4B68-8527-8F4D5B03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7. Вляво разгъни Sources и отвори main.cpp с двойно щракване.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9A70F7-98FC-4038-B026-E960D20E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Замени примерния код с програмата от следващите слайдове.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EE9917-D0A2-418C-9993-74C2D4DE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768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За нова задача създавай нов проект, за да пазиш предишното решение.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AEB1AA-6ABC-4E1E-9C0E-80DE72A2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055046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98999E-7D40-4AA6-BEF4-23815EB1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ПЪРВИ СТЪПКИ В C++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6E6FC3-79DC-45B9-8544-2EEC1278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rPr>
              <a:t>Къде работим в Code::Blocks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d476e247204346"/>
          <a:stretch xmlns:a="http://schemas.openxmlformats.org/drawingml/2006/main"/>
        </p:blipFill>
        <p:spPr>
          <a:xfrm xmlns:a="http://schemas.openxmlformats.org/drawingml/2006/main">
            <a:off x="1770857" y="1771650"/>
            <a:ext cx="5583235" cy="4000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13FA87-72C5-4BF7-AE4F-B2B31D00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09750"/>
            <a:ext cx="276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Вляво: проектът и файловете.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В средата: редакторът за кода.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Долу: съобщенията при компилиране.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Конзолата се отваря отделно при стартиране.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497848-67D5-4B96-B4EC-630A0504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817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Илюстрация от официалното ръководство. Външният вид може да се различава.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C31E87-9600-41C9-A85D-9A0522B0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0509564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EF7715-407C-4955-BF58-E2989AA4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ПЪРВИ ЧАС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F401CA-C87C-4F8A-8A8C-BACDEA23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rPr>
              <a:t>Първа работеща програма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FB1919-85EE-4DA3-9E4F-E349936D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47700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#include &lt;iostream&gt;</a:t>
            </a:r>
          </a:p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using namespace std;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int main() {</a:t>
            </a:r>
          </a:p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    cout &lt;&lt; "Hello, Olympiad!" &lt;&lt; '\n';</a:t>
            </a:r>
          </a:p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    return 0;</a:t>
            </a:r>
          </a:p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8E03B7-C651-448E-8143-BBD372787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09750"/>
            <a:ext cx="398145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1. Въведи кода в main.cpp.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2. Запази с Ctrl+S.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3. Избери Build &gt; Build and run (обичайно F9).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Очакван изход: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Hello, Olympiad!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5B9A42-65AC-4649-BD09-18001063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78639630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20CCE3-EDBF-42EF-84F6-09C56F17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ПЪРВИ СТЪПКИ В C++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D99B5D-3FDB-40E8-9A05-58CF4FB5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rPr>
              <a:t>Какво правят Build и Run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59E8BB-45D7-4E30-B5A2-01F5685E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Build компилира кода и създава изпълним файл.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3AEAEA-69F5-47F7-8EF8-F8ADA6FF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Run стартира вече създадената програма.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E7E72A-D678-47F6-96BD-1E927BEA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Build and run изпълнява последователно двете действия.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A45013-A915-4C2D-A0B7-2BF22E66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След промяна използвай Build and run. Ако компилацията се провали, първо поправи грешката.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88EC02-E71B-4E18-9383-88B0DA52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768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Текст като „Process returned 0“ е съобщение на средата, а не част от твоя cout.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A4907C-FD18-4364-AD4D-AAE6089F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09023867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046FB4-B985-448F-AADC-78058557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ПЪРВИ СТЪПКИ В C++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486D63-D56B-4C02-9314-C01E5705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rPr>
              <a:t>Началният шаблон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0CE74B-1C1E-4610-B8DF-80131E5E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47700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#include &lt;iostream&gt;</a:t>
            </a:r>
          </a:p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using namespace std;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int main() {</a:t>
            </a:r>
          </a:p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    cout &lt;&lt; "Hello!" &lt;&lt; '\n';</a:t>
            </a:r>
          </a:p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    return 0;</a:t>
            </a:r>
          </a:p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28E5C2-24E1-4764-BFCC-80B578F4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09750"/>
            <a:ext cx="398145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#include &lt;iostream&gt;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Средства за вход и изход.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using namespace std;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Пишем cin и cout без std::.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int main() и { }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Начало на изпълнението и тяло на програмата.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return 0;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Успешен край на програмата.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9EAB2D-38F3-4B66-8F38-3BD27A32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01626414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CA5457-58DD-44A5-AD26-49E30F2B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ПЪРВИ СТЪПКИ В C++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CA9366-4841-49AC-8E2D-49C85483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rPr>
              <a:t>cout: показване на резултат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37FA82-EF74-46C7-BB0A-013D66BB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47700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cout &lt;&lt; 2 + 3 &lt;&lt; '\n';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cout &lt;&lt; "2 + 3" &lt;&lt; '\n';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AE4D3D-7C6C-4008-B1F8-8C34E3F0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09750"/>
            <a:ext cx="398145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Първият ред пресмята израза.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Изход: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Вторият ред извежда текст.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Изход: 2 + 3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Двойните кавички означават текст. Изразът извън тях се пресмята.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3C39B5-7D6D-4E63-B609-582437A5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817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Преди стартиране предскажи: какво ще покаже cout &lt;&lt; "5";?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76ADA6-EF8D-4677-817B-FC8FFA18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02682484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F3C542-2AA2-45C2-AAA6-6F17964B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ПЪРВИ СТЪПКИ В C++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E5A229-16F4-4FF5-A20E-84A53F6E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rPr>
              <a:t>Нов ред и интервал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C1D9D5-D63A-4ABE-8B98-7C2F0793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47700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cout &lt;&lt; 16 &lt;&lt; 15;</a:t>
            </a:r>
          </a:p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// 1615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cout &lt;&lt; 16 &lt;&lt; ' ' &lt;&lt; 15;</a:t>
            </a:r>
          </a:p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// 16 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cout &lt;&lt; 16 &lt;&lt; '\n' &lt;&lt; 15;</a:t>
            </a:r>
          </a:p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// на два отделни реда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0B526F-F212-4C3E-9596-592963CC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09750"/>
            <a:ext cx="398145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' ' е един интервал.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'\n' е нов ред.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// започва коментар. Той е бележка за човека и не се изпълнява.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Разделителят между числата е част от правилния отговор.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FF4AE4-6F1F-44A2-B3E6-E609AF75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84255905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3A9BF8-DEEB-40CD-8586-55996107E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ПЪРВИ СТЪПКИ В C++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B2E8DE-501C-455E-A356-D1F44F0B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rPr>
              <a:t>Малко упражнение: моята визитка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EEA360-AE3F-40E2-927A-196CB64E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Напиши програма, която извежда на три отделни реда: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20C570-66C6-4E52-8648-0DC3C466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Hello!</a:t>
            </a:r>
          </a:p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I am in grade 5.</a:t>
            </a:r>
          </a:p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I learn C++.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91DA67-794F-4D21-AB24-9473EF65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95700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Промени първия ред и стартирай отново.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88F457-9EB0-4163-91A4-1A1E3187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За първите опити използваме текст на латиница, за да избегнем затруднения с кодировката.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649F93-244A-42DF-A386-48A8B762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817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Време за опит: 3 минути. Цел: кавички, ; и нов ред.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CE25F4-EFE9-42C5-803D-B6384D9C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0036380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139150-AE15-4E0D-A7FB-78B281F1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ПЪРВИ СТЪПКИ В C++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D116DB-88F3-47D6-89FD-F61D4F5E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rPr>
              <a:t>Променливи за цели числа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EFA7E7-6CE8-46DD-BECC-C0B48466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47700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int a, b;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a = 7;</a:t>
            </a:r>
          </a:p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b = 5;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cout &lt;&lt; a + b &lt;&lt; '\n';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9487D8-24AB-4CE2-AF35-8F65197F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09750"/>
            <a:ext cx="398145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Променливата е именувано място за стойност.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int означава целочислен тип.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a и b са имена. След присвояването пазят 7 и 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Стойността може да се промени при изпълнение.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E396D3-22D9-4D7F-9BC2-090B87E3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817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Не използвай стойността на променлива, преди да я въведеш или зададеш.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B0582C-D28A-478C-8479-E5225EDD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85530087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7E17B5-E725-4D83-AED7-967E3370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ПЪРВИ СТЪПКИ В C++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6A1F24-68BF-45FD-9588-E393C264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rPr>
              <a:t>cin: въвеждане на данни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AE4244-983A-4EC2-9E78-EB627825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47700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int a, b;</a:t>
            </a:r>
          </a:p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cin &gt;&gt; a &gt;&gt; b;</a:t>
            </a:r>
          </a:p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cout &lt;&lt; a + b &lt;&lt; '\n';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76E3E2-706C-423D-98A7-A980BD52C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09750"/>
            <a:ext cx="398145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При стартиране програмата чака числа.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Щракни в конзолата, напиши: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7 5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и натисни 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cin записва 7 в a и 5 в b.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Резултатът е 12.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Числата може да са разделени с интервал или нов ред.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16523A-7FCB-4AE2-AAC0-E9359C8F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04673565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54614A-8BDA-4ED3-8D48-3D8489FAA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ПЪРВИ СТЪПКИ В C++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7709DC-1256-4F08-9B09-462EB8BB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rPr>
              <a:t>Четене на условие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9701B9-86FE-411A-B208-53381E1D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Вход: кои данни получаваме и в какъв ред?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912C15-30E1-4D7E-B63F-40F8919E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Ограничения: кои стойности са позволени?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27B10A-051B-4BAF-94CF-3D60EEE7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Идея: как намираме отговора на хартия?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C8F322-052F-4F87-895F-5E977E64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Изход: колко числа показваме и как ги разделяме?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3DC541-4017-4FF1-9B12-15F393A3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768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Пример: един тест, с който проверяваме разбирането си.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C2993D-EE44-4EE5-B366-EC6D62C5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817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Първо описваме идеята с думи. После пишем код.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6FB324-02BE-441A-8AA2-4F1D6EED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37058176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6E21CC-0204-4238-A627-B94CBAAC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ПЪРВИ ЧАС · РЕШАВАМЕ ЗАЕДНО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775440-EF15-47B7-B225-3F2B2BCC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rPr>
              <a:t>01 · Две кутии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926B32-B7B5-4211-8B9E-D42673200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53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В първата кутия има a молива, а във втората b. Намери общия брой.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6D2246-E2FF-447C-B4F9-A39001D8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Вход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8CFBC9-4851-423D-A175-6E0906ED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Две цели числа a и b. 0 ≤ a, b ≤ 1000.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9074D7-0290-449E-A2CC-A269E725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Изход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FFE597-BED2-4619-8011-CFFE0F1B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Едно цяло число: общият брой.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1718A1-2808-483F-8274-6C02CF7C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5752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Примерен вход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18CC21-8A41-4A99-8EBB-2BCC091C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7662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3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250" b="0">
                <a:solidFill>
                  <a:srgbClr val="183347"/>
                </a:solidFill>
                <a:latin typeface="DejaVu Sans Mono"/>
                <a:ea typeface="DejaVu Sans Mono"/>
                <a:cs typeface="DejaVu Sans Mono"/>
              </a:rPr>
              <a:t>7 5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757667-F3E4-4427-81BE-7BA514E8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7197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Примерен изход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269B9E-1863-446E-A599-98261531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8155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3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250" b="0">
                <a:solidFill>
                  <a:srgbClr val="183347"/>
                </a:solidFill>
                <a:latin typeface="DejaVu Sans Mono"/>
                <a:ea typeface="DejaVu Sans Mono"/>
                <a:cs typeface="DejaVu Sans Mono"/>
              </a:rPr>
              <a:t>12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21CB9C-C1F1-49B3-BCB9-FC8198AE0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32719084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6F1A1F-6B0F-4F34-8E34-301224B3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ПЪРВИ ЧАС · РЕШАВАМЕ ЗАЕДНО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01CA82-B98B-4001-8136-7E34FB5D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rPr>
              <a:t>01 · Решение и проверка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0F9E54-55E7-4FA3-9DE1-9D43AF9E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47700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#include &lt;iostream&gt;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using namespace std;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int main() {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    int a, b;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    cin &gt;&gt; a &gt;&gt; b;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    cout &lt;&lt; a + b &lt;&lt; '\n';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    return 0;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71FFDB-CC88-41C8-98EE-AC48B363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09750"/>
            <a:ext cx="398145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Събираме броя в двете кутии.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Допълнителни тестове: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0 0  →  0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0 5  →  5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1000 1000  →  2000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CCDA83-8FF2-458B-BDAB-A662FDDC4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27411280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DF80F6-67FC-4891-A479-C69D7A4F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ПЪРВИ СТЪПКИ В C++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D62884-D913-4121-B7D8-4E82051D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rPr>
              <a:t>Проследяване с нов вход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80EFF4-69C6-460D-BC47-37FEF40F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Стартирай задача 01 отново с вход 0 5.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E30C9C-2F25-4005-9110-912F2E63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След cin: a = 0 и b = 5.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D86D1F-D2A1-47C4-834B-5FACD105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Изчислението е 0 + 5, затова изходът е 5.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78BE07-0688-44C8-821A-CC2E092A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Пробвай и 1000 1000. Предскажи резултата преди стартиране.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8CA90A-E958-43FE-90A7-50FEFB29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768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Кодът трябва да използва a + b, а не предварително записаното число 12.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E9DF54-7ED9-4005-B2E1-17FAC4AA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05749938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669B99-9B6C-4D0A-87E3-11919942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ПЪРВИ СТЪПКИ В C++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122E46-E8FD-472F-B270-78CEFA16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rPr>
              <a:t>Проверка в края на първия час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87F688-1D45-4625-B242-AB365DB8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1. Какво прави cin и къде пишеш входните числа?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3A1085-BC10-4977-BF6D-B96CBD91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2. Каква е разликата между 2 + 3 и "2 + 3"?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D1B5CC-9595-41FB-8192-46530D64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3. Защо не извеждаме „Въведи a“ в състезателно решение?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FE2126-FFC4-47EB-AED2-BCAC1BA4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4. Къде е запазен твоят main.cpp?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CB5213-DFAA-4C23-8408-24ECCA1A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768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Покажи работещата задача 01 с два различни входа.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FCE033-8F37-43A6-912C-67AA5C7E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817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Отговори: cin чете от конзолата; израз срещу текст; изходът трябва да спазва условието.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411B6A-ADAC-4C9A-8E1D-CFC14DC9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87628588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83092E-4FD2-4EC9-8CD4-9508D977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ВТОРИ ЧАС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B070A7-47C2-4A84-A8D2-601E2786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rPr>
              <a:t>Аритметични изрази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9CF2EC-BD02-4394-8377-ACAC3A27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В C++ събиране се записва с +, изваждане с − в математиката и с - в кода, умножение с *.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D7CDDC-A92E-4EC3-AB27-2C0059D4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Първо се пресмятат скобите, после умножението, после събирането и изваждането.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124F41-0343-4EE3-9B2E-6A672013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3 + 4 * 2 = 3 + 8 =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A7F460-26B6-4329-8384-5AC09BF7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(3 + 4) * 2 = 7 * 2 =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D042E2-8476-48B0-B83F-7839FB34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768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В кода пишем 2 * a. Записът 2a не е умножение в C++.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BDAD2B-884E-4A89-B719-FAE46DA8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46793741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F84B7F-93FB-4A5B-92F5-85507DB5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ВТОРИ ЧАС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6C60C8-2071-45F7-A885-2A603117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rPr>
              <a:t>Присвояване: нова стойност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31ACB9-0903-4941-A746-4DF868DF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47700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int x = 5;</a:t>
            </a:r>
          </a:p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x = x + 2;</a:t>
            </a:r>
          </a:p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cout &lt;&lt; x &lt;&lt; '\n';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3D0D32-0D51-44EB-B643-0F3F223E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09750"/>
            <a:ext cx="398145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След първия ред: x е 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На втория ред първо смятаме 5 + 2. После записваме 7 в 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Изходът е 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Знакът = означава присвояване. Тук той не е математическо уравнение.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868FB4-459F-4CF2-8699-38A81756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54919648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7E0093-E415-4129-90FC-E022E1B2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ВТОРИ ЧАС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6BB75C-51C6-4EEB-AB96-B2B28334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rPr>
              <a:t>Проследяване ред по ред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9FAF21-CA65-4E7C-A765-9960BBD2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47700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int x = 4;</a:t>
            </a:r>
          </a:p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int y = x + 3;</a:t>
            </a:r>
          </a:p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x = 10;</a:t>
            </a:r>
          </a:p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cout &lt;&lt; x &lt;&lt; ' ' &lt;&lt; y;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90E45C-5889-42FA-85FC-83516500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09750"/>
            <a:ext cx="398145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Преди да стартираш: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Какви са x и y накрая?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1. x получава 4.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2. y получава 4 + 3 = 7.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3. x получава 10.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Изход: 10 7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y пази получената стойност 7, не формула, която се обновява.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FB6855-2F3C-426C-B88B-8A6AF26B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39232184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026F01-4F34-4D6D-AEC7-AF1381FE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ВТОРИ ЧАС · РЕШАВАМЕ ЗАЕДНО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31218D-B92C-46C2-8921-40ED47E5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rPr>
              <a:t>02 · Правоъгълна площадка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475644-B98A-48D4-A60F-77C6BEA5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53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Площадка има страни a и b метра. Намери обиколката и лицето.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D55BFA-95DB-41E9-84D2-73351F2A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Вход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880645-4C6C-491F-A219-F734B976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Две цели числа a и b. 1 ≤ a, b ≤ 1000.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87DA62-CE0E-45BA-977A-5D0E94B8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Изход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23DBDA-54EB-47A2-9E6A-29F66539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Обиколка и лице на един ред с интервал.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752C72-8BA6-476A-B7AA-834FBF7D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5752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Примерен вход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A08A1A-E800-4CEA-9AFD-2F7AA30A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7662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3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250" b="0">
                <a:solidFill>
                  <a:srgbClr val="183347"/>
                </a:solidFill>
                <a:latin typeface="DejaVu Sans Mono"/>
                <a:ea typeface="DejaVu Sans Mono"/>
                <a:cs typeface="DejaVu Sans Mono"/>
              </a:rPr>
              <a:t>3 5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E95FBE-0D4A-4B8B-9C67-6230DA75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7197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Примерен изход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AA48EC-16D6-41C9-91CF-2E043DEE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8155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3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250" b="0">
                <a:solidFill>
                  <a:srgbClr val="183347"/>
                </a:solidFill>
                <a:latin typeface="DejaVu Sans Mono"/>
                <a:ea typeface="DejaVu Sans Mono"/>
                <a:cs typeface="DejaVu Sans Mono"/>
              </a:rPr>
              <a:t>16 15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5C9041-4836-4CCA-9ABC-C9369122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81279640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557CAE-F68B-4676-9BAA-0C324985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ВТОРИ ЧАС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9F4E8B-7BAC-4811-9D40-94BFA999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rPr>
              <a:t>Обиколката има нужда от скоби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70A075-E35F-47FE-86F6-B4FC1779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47700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2 * (a + b)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// при a = 3, b = 5:</a:t>
            </a:r>
          </a:p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2 * (3 + 5) = 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// грешната формула:</a:t>
            </a:r>
          </a:p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2 * 3 + 5 =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D85AA2-238F-4373-A9F2-EA0EFB3E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09750"/>
            <a:ext cx="398145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Правоъгълникът има две страни по a и две страни по 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P = a + b + a + b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P = 2 * (a + b)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S = a * 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Редовете със знак = вляво са математическо проследяване, не готов C++ код.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7698FF-3111-420C-963B-24CE2286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79212329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1CAC44-87D3-4625-813A-23C67331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ВТОРИ ЧАС · РЕШАВАМЕ ЗАЕДНО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010B01-9270-457F-A6A6-4A15D9BA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rPr>
              <a:t>02 · Решение и проверка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682CA1-170D-4824-B3ED-D252D630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47700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#include &lt;iostream&gt;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using namespace std;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int main() {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    int a, b;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    cin &gt;&gt; a &gt;&gt; b;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    cout &lt;&lt; 2 * (a + b) &lt;&lt; ' '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         &lt;&lt; a * b &lt;&lt; '\n';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    return 0;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68242B-925C-4C0C-BD1A-8D27F233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09750"/>
            <a:ext cx="398145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Обиколка: a + b + a + b.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Лице: a * 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Допълнителни тестове: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1 1  →  4 1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2 3  →  10 6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1000 1000  →  4000 1000000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386F66-F5C3-4091-A73C-13BB2A0B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07039636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7759CE-BFEB-4E4B-B944-11A57750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ВТОРИ ЧАС · САМОСТОЯТЕЛНО · 7 МИН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0D35ED-6521-4216-ABC8-5BC3C97A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rPr>
              <a:t>03 · Пакети моливи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213319-4F5D-422F-ADDC-2A433074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53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Има k пакета с по p молива и още r отделни молива. Колко са общо?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A89DCB-B402-4659-B5D1-D0777401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Вход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1936A2-8DDC-4C50-8C3B-7B5CA2AA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Цели k, p, r. 0 ≤ k, r ≤ 1000, 1 ≤ p ≤ 1000.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0B6FA0-3AC5-46E8-9108-A391DCDC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Изход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B34882-936D-47BE-BFB9-99998CF1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Едно цяло число: общият брой.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659072-5BD1-4E75-932F-9C40B596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5752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Примерен вход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374581-9E67-4154-9AA5-7E994301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7662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3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250" b="0">
                <a:solidFill>
                  <a:srgbClr val="183347"/>
                </a:solidFill>
                <a:latin typeface="DejaVu Sans Mono"/>
                <a:ea typeface="DejaVu Sans Mono"/>
                <a:cs typeface="DejaVu Sans Mono"/>
              </a:rPr>
              <a:t>4 6 3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43B948-28DD-4B52-AB87-2815C150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7197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Примерен изход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6B4D85-7A7C-4C36-A9BE-8489153A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8155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3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250" b="0">
                <a:solidFill>
                  <a:srgbClr val="183347"/>
                </a:solidFill>
                <a:latin typeface="DejaVu Sans Mono"/>
                <a:ea typeface="DejaVu Sans Mono"/>
                <a:cs typeface="DejaVu Sans Mono"/>
              </a:rPr>
              <a:t>27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DC9267-1EEB-47AF-BBB0-BD3048E3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49430644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CCF1A3-4EC0-45EE-B112-E30EF365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ВТОРИ ЧАС · САМОСТОЯТЕЛНО · 6 МИН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D081BC-0E79-48BE-BB88-E09B3674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rPr>
              <a:t>04 · Време за пътуване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4A58BF-812A-40F6-BFE3-585D6834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53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Пътуване продължава h часа и m минути. Изрази продължителността в минути.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F927BF-122C-43F9-AAA2-7697EE67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Вход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6B4453-C562-40AE-A071-8F840A2C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Цели h и m. 0 ≤ h ≤ 1000, 0 ≤ m ≤ 59.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E56570-6DE5-4404-8240-AB3EC779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Изход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E3094A-6617-495D-846A-4A6353E6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Едно цяло число: всички минути.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049DA9-8EC2-47CE-AB09-C2B737BF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5752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Примерен вход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BB9622-CC21-49D6-855F-218078C8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7662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3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250" b="0">
                <a:solidFill>
                  <a:srgbClr val="183347"/>
                </a:solidFill>
                <a:latin typeface="DejaVu Sans Mono"/>
                <a:ea typeface="DejaVu Sans Mono"/>
                <a:cs typeface="DejaVu Sans Mono"/>
              </a:rPr>
              <a:t>2 15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25C986-10C0-445D-967A-827FC08B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7197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Примерен изход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E3582A-D290-40E4-957A-96D29D1A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8155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3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250" b="0">
                <a:solidFill>
                  <a:srgbClr val="183347"/>
                </a:solidFill>
                <a:latin typeface="DejaVu Sans Mono"/>
                <a:ea typeface="DejaVu Sans Mono"/>
                <a:cs typeface="DejaVu Sans Mono"/>
              </a:rPr>
              <a:t>135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04A81E-C883-4C78-946F-58C248F5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82653085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BCBCFE-5A45-46D6-B568-CF1A6B9D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ПЪРВИ СТЪПКИ В C++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F121B4-01F2-4AB4-939E-EA634B95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rPr>
              <a:t>Проверка с различни тестове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EDA893-2D34-44B3-9B56-34BA50C6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Първо пресметни очаквания отговор на хартия.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55DE67-F523-4DCD-8D0F-4552D0BB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После стартирай програмата и сравни двата резултата.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6A128B-3A10-4275-9117-86BCEB1C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За задача 03: 0 6 3 проверява случая без пакети.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EF0CAE-1444-43F2-9C66-B9DEC92E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За задача 04: 0 59 проверява случая без цели часове.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B9ADB0-6DA6-46FD-892E-1BC6C0C7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768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Използвай и най-големи допустими данни. Не проверявай невалиден вход като страна 0 в задача 02.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104E7F-A462-4B3D-9826-B0CF321B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817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Тестът е двойка: входни данни и очакван изход.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7EA448-EACD-41BF-ABDB-5143B531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92998738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19C9F9-B5D2-4488-B9F8-582FBCCA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ПЪРВИ СТЪПКИ В C++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6C0E1F-9C47-4F94-9457-6A5C03E7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rPr>
              <a:t>Грешка при компилиране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069991-10FB-4744-8999-CF587478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47700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int a, b;</a:t>
            </a:r>
          </a:p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cin &gt;&gt; a &gt;&gt; b</a:t>
            </a:r>
          </a:p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cout &lt;&lt; a + b &lt;&lt; '\n';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D47419-3145-4837-A297-A8474FD1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09750"/>
            <a:ext cx="398145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В този код липсва ; след cin.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Прочети първата грешка в Build messages.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Провери посочения ред и реда преди него.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Поправи, запази и компилирай отново. Една пропусната ; може да предизвика няколко съобщения.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DB75F1-F894-4591-AE46-A9566C64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817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Редовете с #include и отварящите/затварящите скоби не получават произволно ;.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D2075B-A511-4132-9E44-405FD048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56259540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2B6940-3A97-43E1-BF56-2F65F52A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ПЪРВИ СТЪПКИ В C++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BBE658-EACC-460C-9A54-64AC5234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rPr>
              <a:t>Програмата тръгва, но греши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A5B514-2545-4946-ADD4-A878BB4D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47700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int a, b;</a:t>
            </a:r>
          </a:p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cin &gt;&gt; a &gt;&gt; b;</a:t>
            </a:r>
          </a:p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cout &lt;&lt; "a + b";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36531B-B499-4CE4-BE5B-5BB47D31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09750"/>
            <a:ext cx="398145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Кодът се компилира.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Но извежда текста a + 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Поправка: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cout &lt;&lt; a + b &lt;&lt; '\n';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Друг пример за логическа грешка е 2 * a + b вместо 2 * (a + b).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Правилен синтаксис не гарантира правилна идея.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B12C22-3368-42DE-85C9-46C80191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119019561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46AE31-36CA-4EF6-A33E-F9F4BF33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ПЪРВИ СТЪПКИ В C++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0AD6CC-7B3A-4459-9D21-19087D42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rPr>
              <a:t>Когато нещо не работи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D8ECEF-4E38-4DD8-9D82-BF733E33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Прозорецът чака: въведи всички числа, които cin очаква, и натисни Enter.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71DD02-88F5-4071-9811-0D4B8731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Виждаш стар резултат: затвори предишното изпълнение, запази и избери Build and run.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844E53-EE19-429A-93CA-C5642015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„multiple definition of main“: провери дали в проекта няма две програми с main.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69222B-2677-47E7-898C-B06BCD32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Числата са слепени: добави интервал или нов ред според условието.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3D59C4-12E1-4AAF-AAEB-7B776350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768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Грешни посоки: cin &gt;&gt; променлива, а cout &lt;&lt; стойност.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00849F-D975-4CD6-9B67-ED0A2021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189448580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F64698-0C8B-4F6C-8D92-F236D50F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ПЪРВИ СТЪПКИ В C++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7F7B44-8A0A-4612-AF8A-FE5BA24D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rPr>
              <a:t>Файлове и собствена работа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B44B0A-8B70-4381-9010-CC5A446E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main.cpp съдържа твоя C++ код. Него пазим и подаваме според указанията на задачата.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38DAE7-54BA-47A2-94F4-B1124CB0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Файлът .cbp пази настройките на проекта в Code::Blocks.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64D386-D7E4-4045-8158-1D9C686B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Файлът .exe е изпълнимата програма за Windows.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DD541D-967D-4B2F-AE2A-F94C3151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Пази всяка задача в отделен проект. Отвори отново .cbp, за да продължиш работа.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45749B-3919-480A-B48A-358BC95E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768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Преди предаване провери дали .cpp е последната работеща версия.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E7DD28-3510-475E-B5D6-460B9396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01221147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B9810D-9A7E-43C0-9B4E-33491A6B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ПЪРВИ СТЪПКИ В C++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EBC05A-8C5E-4CBC-A456-EE0854D9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rPr>
              <a:t>Кратка самопроверка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E6A4A8-3BCD-4654-B7B2-2B84F1D7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1. Колко е 3 + 4 * 2? А (3 + 4) * 2?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F38754-4824-46B6-93AD-9BD48E91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2. Какво извежда cout &lt;&lt; "3 + 4";?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6656FE-3319-4CE8-BE68-F3702333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3. Как прочитаме две цели числа a и b?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CAEA96-D624-4146-9A1E-EEBCC390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4. Как извеждаме a и b с интервал?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5E59D5-5712-4933-AE30-1FFCA80A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768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5. Какъв файл пазим с изходния код?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5E5AEE-365E-427C-93C1-26F66130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817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Отговори: 11 и 14; текст 3 + 4; cin &gt;&gt; a &gt;&gt; b; cout &lt;&lt; a &lt;&lt; ' ' &lt;&lt; b; .cpp.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C4493E-8B54-4502-8428-CE02ED33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8910401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82A026-3C14-4736-80A7-B0D03679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ЗА ВКЪЩИ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7849C5-67D6-4169-9CAA-916A69B4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rPr>
              <a:t>Самоподготовка след урока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248DC0-1898-493C-AB8C-00F91386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Сесия 1, около 20 минути: довърши 03–04 и провери с по три теста.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989A3C-5294-4185-BF51-53C9D371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Сесия 2, около 20 минути: реши 05 и 06. Използвай шаблона при нужда.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8F8E9F-9B73-4606-8A03-2BD63691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95700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Сесия 3, около 20 минути: поправи грешките и напиши едно решение отново без преписване.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3245BE-AB5D-4A87-8D73-5059A792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Ако си готов: опитай задачата „Карти в клуба“ и намери собствен граничен тест.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CD1A9-F170-4F42-99C7-E88B4F6C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1531045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0B9264-ED44-4076-A730-02D252B7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ЗА ВКЪЩИ · ОСНОВНА ЗАДАЧА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A15F7B-FA1E-442F-9D72-77629C35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rPr>
              <a:t>05 · Точки в турнир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680CC5-8CB6-4EA4-B567-CE407685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53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В нашия учебен турнир решена задача носи 3 точки, а частично решена 1 точка. Ученик има a решени и b частично решени задачи.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865E4E-1729-4B1F-92FE-8A068D3D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Вход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74E950-903F-4D6F-83C4-1BD456AA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Цели a и b. 0 ≤ a, b ≤ 1000.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38DECA-5C3A-486C-A026-3FD18431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Изход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647B54-3E17-4103-98BD-E82414CC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Едно цяло число: сборът от точките.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F22A10-5DC4-40DF-B788-A3D6B744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5752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Примерен вход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E789A6-FC95-43DF-973F-6D9B1FD4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7662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3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250" b="0">
                <a:solidFill>
                  <a:srgbClr val="183347"/>
                </a:solidFill>
                <a:latin typeface="DejaVu Sans Mono"/>
                <a:ea typeface="DejaVu Sans Mono"/>
                <a:cs typeface="DejaVu Sans Mono"/>
              </a:rPr>
              <a:t>4 2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C4DB5D-AD27-458A-A1FA-150D9805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7197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Примерен изход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B14094-F6C1-4797-B06F-5C12E478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8155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3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250" b="0">
                <a:solidFill>
                  <a:srgbClr val="183347"/>
                </a:solidFill>
                <a:latin typeface="DejaVu Sans Mono"/>
                <a:ea typeface="DejaVu Sans Mono"/>
                <a:cs typeface="DejaVu Sans Mono"/>
              </a:rPr>
              <a:t>14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2BCE15-C465-40EB-B5FD-5BBD19A8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1554749105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F65DC4-5B1D-43E0-8818-3DD393EE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ЗА ВКЪЩИ · ОСНОВНА ЗАДАЧА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4F9251-A96B-4E98-B3DC-C7656312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rPr>
              <a:t>06 · Ресто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847750-5C7B-48F5-BECC-8F32AA15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53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Купуваме n тетрадки по p стотинки. Плащаме s стотинки. Намери рестото. Гарантирано е, че парите стигат.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029B74-58FD-4889-9265-7B1E9265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Вход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B3FD67-259D-4247-A232-6877203A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Цели n, p, s. 1 ≤ n, p ≤ 1000, n * p ≤ s ≤ 1000000.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091527-A226-455F-A694-FE8AC5DA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Изход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9AFCFE-007C-49B4-98A1-206B8D07C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Едно цяло число: рестото в стотинки.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DEB3F3-FB32-4BEF-A122-AE3B79DE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5752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Примерен вход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82C16F-5C57-411E-B7B9-C5D3A526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7662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3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250" b="0">
                <a:solidFill>
                  <a:srgbClr val="183347"/>
                </a:solidFill>
                <a:latin typeface="DejaVu Sans Mono"/>
                <a:ea typeface="DejaVu Sans Mono"/>
                <a:cs typeface="DejaVu Sans Mono"/>
              </a:rPr>
              <a:t>3 120 500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D9A8BF-86D5-4164-BE85-AEF7A5DA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7197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Примерен изход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F3E034-9F28-4A44-B3BA-6B62966D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8155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3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250" b="0">
                <a:solidFill>
                  <a:srgbClr val="183347"/>
                </a:solidFill>
                <a:latin typeface="DejaVu Sans Mono"/>
                <a:ea typeface="DejaVu Sans Mono"/>
                <a:cs typeface="DejaVu Sans Mono"/>
              </a:rPr>
              <a:t>140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F5F204-6701-4C59-9483-322A7BBE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1221008936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A9CED6-FA26-4293-B1FB-C09A2809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ЗА ВКЪЩИ · ПРЕДИЗВИКАТЕЛСТВО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158A7B-AC6B-4A15-8738-6E60C94A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rPr>
              <a:t>Допълнително: карти в клуба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14A98F-0A9D-4B2B-96D2-F9EFA391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53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В клуба има a ученици. Всеки носи b карти, а учителят добавя c карти. Намери общия брой.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13B9BD-2770-48A2-BF92-BDD6319D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Вход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39BD41-2D4F-4257-A5BA-EC00A822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Цели a, b, c. 0 ≤ a, b, c ≤ 100.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3F540D-4F32-410C-BE1A-B0B59C7C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Изход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A70FCC-734F-477A-B259-AD05A982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Едно цяло число: броят карти.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E65CF2-F565-410A-A428-0489DBBB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5752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Примерен вход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BFC91B-8637-4F9F-B6DE-7A21D036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7662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3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250" b="0">
                <a:solidFill>
                  <a:srgbClr val="183347"/>
                </a:solidFill>
                <a:latin typeface="DejaVu Sans Mono"/>
                <a:ea typeface="DejaVu Sans Mono"/>
                <a:cs typeface="DejaVu Sans Mono"/>
              </a:rPr>
              <a:t>5 4 3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67825B-F6C4-4212-B9EA-9D1FAC47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7197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Примерен изход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3AC8E2-8C09-4B51-B633-64C41B9D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8155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3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250" b="0">
                <a:solidFill>
                  <a:srgbClr val="183347"/>
                </a:solidFill>
                <a:latin typeface="DejaVu Sans Mono"/>
                <a:ea typeface="DejaVu Sans Mono"/>
                <a:cs typeface="DejaVu Sans Mono"/>
              </a:rPr>
              <a:t>23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528A8E-2C05-4F74-A2D3-6A39748F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817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Разширение при b ≥ 1: всеки ученик подарява една карта извън клуба. Колко остават?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1D5BA8-007C-4DA5-ACCA-6012D6DD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1786880765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03E30-49FE-49F9-B63A-94C28285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ПОДСКАЗКИ · СЛЕД СОБСТВЕН ОПИТ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58725E-551D-45BA-81A6-324E60870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rPr>
              <a:t>Подсказки без готов код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8B28BC-2A51-4D18-948A-9F7F4477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03: колко молива има само в пакетите? После добави отделните.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79C2DF-BEC5-4D0D-B247-2075DCDF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04: превърни часовете в минути. Прибави оставащите минути.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070CE9-C6C6-4FC8-909F-B76FCC22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05: пресметни отделно точките за решени и частично решени задачи.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2ACC3F-A20B-475F-93FC-4BB4B135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06: първо намери цената на всички тетрадки.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DA8168-45DF-4325-8FEA-440DB827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768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Карти: всички ученици носят еднакъв брой карти. Кое действие заменя повтарящото се събиране?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188EF1-431C-4806-B74E-F6694DE3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300358247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72560E-86E5-4867-BBB0-190C194A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ПЪРВИ СТЪПКИ В C++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4EEF4C-C20D-47DA-9A84-4B037BF2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rPr>
              <a:t>Дневник на грешките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404593-B25C-47B8-BCC1-A83A386D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Каква грешка направих?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D26E59-3B96-418B-B20B-F49DC32F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С кой тест я открих?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762C5A-1279-40E9-BF34-10D2E437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Какво поправих?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5FB9A8-1A9B-4BD1-86BD-D792E177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Как ще разпозная същата грешка следващия път?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E1712B-140D-4BE2-B425-194C03DC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768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Пример: „За обиколката получих 11 при вход 3 5. Бях написал 2 * a + b. Добавих скоби и получих 16.“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91339F-6D84-4E07-BCA2-9A937AD4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817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Запиши поне една поправка от днешната си работа.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EC8A0A-422E-400A-B20A-A3086820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467884736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122C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D186C8-9692-4563-A2C1-5A8E6C9A4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5D5CA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65D5CA"/>
                </a:solidFill>
                <a:latin typeface="DejaVu Sans"/>
                <a:ea typeface="DejaVu Sans"/>
                <a:cs typeface="DejaVu Sans"/>
              </a:rPr>
              <a:t>САМОСТОЯТЕЛНА РАБОТА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A467EF-03A7-4EFD-8D0F-0510504B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76375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Решения за самопроверка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7CB7A2-F935-4789-926C-E5C30D92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10287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1EDF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E1EDF3"/>
                </a:solidFill>
                <a:latin typeface="DejaVu Sans"/>
                <a:ea typeface="DejaVu Sans"/>
                <a:cs typeface="DejaVu Sans"/>
              </a:rPr>
              <a:t>Следващите слайдове показват готов код.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1EDF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E1EDF3"/>
                </a:solidFill>
                <a:latin typeface="DejaVu Sans"/>
                <a:ea typeface="DejaVu Sans"/>
                <a:cs typeface="DejaVu Sans"/>
              </a:rPr>
              <a:t>Преди да ги отвориш, запиши своята идея и направи опит.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1EDF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E1EDF3"/>
                </a:solidFill>
                <a:latin typeface="DejaVu Sans"/>
                <a:ea typeface="DejaVu Sans"/>
                <a:cs typeface="DejaVu Sans"/>
              </a:rPr>
              <a:t>След сравняване затвори решението и напиши програмата отново. Обясни всяко изчисление.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346C9E-D4C0-48C4-A0D2-9864E1DE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4CCD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B4CCD8"/>
                </a:solidFill>
                <a:latin typeface="DejaVu Sans"/>
                <a:ea typeface="DejaVu Sans"/>
                <a:cs typeface="DejaVu Sans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375483960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FDEE8D-A30A-4933-812D-20B61CBA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РЕШЕНИЯ ЗА САМОПРОВЕРКА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3B51DF-63F2-469B-9F44-A8CFE1F9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rPr>
              <a:t>03 · Решение и проверка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554C8A-FE29-47C0-AD9F-48A24773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47700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#include &lt;iostream&gt;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using namespace std;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int main() {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    int k, p, r;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    cin &gt;&gt; k &gt;&gt; p &gt;&gt; r;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    cout &lt;&lt; k * p + r &lt;&lt; '\n';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    return 0;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6D4D62-9498-4941-896D-43E2133BE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09750"/>
            <a:ext cx="398145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В пакетите има k * p молива.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Добавяме отделните 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Допълнителни тестове: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0 6 3  →  3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1 1 0  →  1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1000 1000 1000  →  1001000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1B65BF-CCFC-4AA5-BC4D-6A5D90A5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1673774299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BD42F9-78ED-4736-8A7C-2EA84986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РЕШЕНИЯ ЗА САМОПРОВЕРКА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668239-0495-4A6C-B8A9-A012C309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rPr>
              <a:t>04 · Решение и проверка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B84414-2BD8-416C-9D7C-E17EFA10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47700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#include &lt;iostream&gt;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using namespace std;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int main() {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    int h, m;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    cin &gt;&gt; h &gt;&gt; m;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    cout &lt;&lt; h * 60 + m &lt;&lt; '\n';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    return 0;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D91302-5FD4-401C-87DB-2CEBD1F7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09750"/>
            <a:ext cx="398145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Един час има 60 минути.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2 часа са 120 минути.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120 + 15 = 135.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Допълнителни тестове: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0 0  →  0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0 59  →  59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1 0  →  60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E3C949-5BBF-4EB5-91D8-0FD1F5C2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762601137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FF0A8A-5A27-4095-80E5-C75ED3CB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РЕШЕНИЯ ЗА САМОПРОВЕРКА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2182C5-C05B-462E-AFCB-0D204578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rPr>
              <a:t>05 · Решение и проверка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C2660D-C584-4412-BA83-3C2407D7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47700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#include &lt;iostream&gt;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using namespace std;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int main() {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    int a, b;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    cin &gt;&gt; a &gt;&gt; b;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    cout &lt;&lt; 3 * a + b &lt;&lt; '\n';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    return 0;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36F814-1261-4B80-BE79-818001B5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09750"/>
            <a:ext cx="398145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Точките за a задачи са 3 * a.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За останалите са b.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Правилото е само за тази задача.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Допълнителни тестове: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0 8  →  8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2 0  →  6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1000 1000  →  4000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6B41C5-869F-453D-A6BC-42AF3DE5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806052349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68D098-A164-4A94-A78D-DFE5233E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РЕШЕНИЯ ЗА САМОПРОВЕРКА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69EBA5-8990-4D77-A893-3F646681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rPr>
              <a:t>06 · Решение и проверка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04C614-690C-4E42-9E73-E59D5EFA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47700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#include &lt;iostream&gt;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using namespace std;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int main() {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    int n, p, s;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    cin &gt;&gt; n &gt;&gt; p &gt;&gt; s;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    cout &lt;&lt; s - n * p &lt;&lt; '\n';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    return 0;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0F7F6F-B44F-4E1F-A7BC-68754CC0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09750"/>
            <a:ext cx="398145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Обща цена: n * p.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Ресто: платено − цена.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Всички суми са в стотинки.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Допълнителни тестове: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2 50 100  →  0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1 1 10  →  9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1000 1000 1000000  →  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B09309-C078-4C51-9DE2-93ACB6A3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982224975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641B86-3616-486D-A54B-CCFE8E2D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РЕШЕНИЯ ЗА САМОПРОВЕРКА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F48976-0A02-4EC5-ADB4-57FD5F48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rPr>
              <a:t>Карти в клуба: решение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14BF56-FA32-494D-A73A-78E42543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47700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#include &lt;iostream&gt;</a:t>
            </a:r>
          </a:p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using namespace std;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int main() {</a:t>
            </a:r>
          </a:p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    int a, b, c;</a:t>
            </a:r>
          </a:p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    cin &gt;&gt; a &gt;&gt; b &gt;&gt; c;</a:t>
            </a:r>
          </a:p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    cout &lt;&lt; a * b + c &lt;&lt; '\n';</a:t>
            </a:r>
          </a:p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    return 0;</a:t>
            </a:r>
          </a:p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DFBF60-F03B-427D-A0E4-E8F496DE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09750"/>
            <a:ext cx="398145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Учениците носят общо a * b карти.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Добавяме c от учителя.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Тестове: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5 4 3  →  23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0 4 3  →  3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100 100 100  →  10100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При подаряване на по една карта извън клуба: a * (b - 1) + c, когато b ≥ 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A23C1E-231A-4DC9-8A38-48B51953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1097843863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122C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D515DA-B006-4B52-B57A-8D1CE988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5D5CA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65D5CA"/>
                </a:solidFill>
                <a:latin typeface="DejaVu Sans"/>
                <a:ea typeface="DejaVu Sans"/>
                <a:cs typeface="DejaVu Sans"/>
              </a:rPr>
              <a:t>САМОСТОЯТЕЛНА РАБОТА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5AC361-E61A-446B-822A-34CBD3D9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76375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Продължение: деление и цифри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6FFA5B-2471-444B-8DEE-B4C18EBF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10287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1EDF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E1EDF3"/>
                </a:solidFill>
                <a:latin typeface="DejaVu Sans"/>
                <a:ea typeface="DejaVu Sans"/>
                <a:cs typeface="DejaVu Sans"/>
              </a:rPr>
              <a:t>Материал за следващото занятие и за самостоятелно надграждане.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1EDF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E1EDF3"/>
                </a:solidFill>
                <a:latin typeface="DejaVu Sans"/>
                <a:ea typeface="DejaVu Sans"/>
                <a:cs typeface="DejaVu Sans"/>
              </a:rPr>
              <a:t>Първо завърши уверено задачи 01–06.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1EDF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E1EDF3"/>
                </a:solidFill>
                <a:latin typeface="DejaVu Sans"/>
                <a:ea typeface="DejaVu Sans"/>
                <a:cs typeface="DejaVu Sans"/>
              </a:rPr>
              <a:t>Следват /, %, преобразуване на време и задачи 07–12 от работния лист.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0BEB8D-1F01-4605-90AF-5BA47CC0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4CCD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B4CCD8"/>
                </a:solidFill>
                <a:latin typeface="DejaVu Sans"/>
                <a:ea typeface="DejaVu Sans"/>
                <a:cs typeface="DejaVu Sans"/>
              </a:rPr>
              <a:t>53</a:t>
            </a:r>
          </a:p>
        </p:txBody>
      </p:sp>
    </p:spTree>
    <p:extLst>
      <p:ext uri="{BB962C8B-B14F-4D97-AF65-F5344CB8AC3E}">
        <p14:creationId xmlns:p14="http://schemas.microsoft.com/office/powerpoint/2010/main" val="153415397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F6E061-F484-4CD2-8CFC-760987F7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ПРОДЪЛЖЕНИЕ · НЕ Е ЗАДЪЛЖИТЕЛНО ЗА ПЪРВИТЕ ДВА ЧАСА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D9F8EE-9E7C-410C-A60C-9A9DD888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rPr>
              <a:t>Целочислено деление и остатък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743100-8BEC-4D8D-9222-A03725E0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47700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17 / 5   // 3</a:t>
            </a:r>
          </a:p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17 % 5   //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15 / 5   // 3</a:t>
            </a:r>
          </a:p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15 % 5   //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4 / 5    // 0</a:t>
            </a:r>
          </a:p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4 % 5    //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C9D45B-88EB-486E-BE64-3397FC74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09750"/>
            <a:ext cx="398145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17 топчета, по 5 в кутия: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3 пълни кутии и 2 топчета остават.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Проверка: 17 = 3 * 5 + 2.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За неотрицателно n и положително k: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n / k е броят пълни групи.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n % k е остатъкът от 0 до k − 1.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Деление на нула е недопустимо.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A643A2-1AA5-4363-B66A-C23CAB80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rPr>
              <a:t>54</a:t>
            </a:r>
          </a:p>
        </p:txBody>
      </p:sp>
    </p:spTree>
    <p:extLst>
      <p:ext uri="{BB962C8B-B14F-4D97-AF65-F5344CB8AC3E}">
        <p14:creationId xmlns:p14="http://schemas.microsoft.com/office/powerpoint/2010/main" val="1691603288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7FA76A-887E-47D8-831A-1BDA8D3F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ПРОДЪЛЖЕНИЕ · ПЪЛНИ ГРУПИ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AD043F-A6AA-44E7-A221-F7B9A1E4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rPr>
              <a:t>07 · Пълни кутии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18E1A6-95AC-4BE7-9167-E653D8A3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53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Имаме n топчета. В една кутия се събират k. Напълни възможно най-много кутии.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F1BD3F-1ED6-4DFD-B999-19976A06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Вход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8DDFCA-EC8C-454D-B186-02F6E373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Цели n, k. 0 ≤ n ≤ 1000000, 1 ≤ k ≤ 1000.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EE06BB-D94B-4F80-AF40-0C08C9D2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Изход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59DB39-7639-4593-9150-640A2147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Пълни кутии и останали топчета с интервал.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2AADA4-2F79-46AD-821C-F6CE45A8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5752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Примерен вход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3E7882-B45C-450A-8948-2D9CDE23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7662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3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250" b="0">
                <a:solidFill>
                  <a:srgbClr val="183347"/>
                </a:solidFill>
                <a:latin typeface="DejaVu Sans Mono"/>
                <a:ea typeface="DejaVu Sans Mono"/>
                <a:cs typeface="DejaVu Sans Mono"/>
              </a:rPr>
              <a:t>17 5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C132A4-392D-4B1D-8A25-76F2143C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7197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Примерен изход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58626B-81C3-4546-A16E-B377FDC2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8155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3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250" b="0">
                <a:solidFill>
                  <a:srgbClr val="183347"/>
                </a:solidFill>
                <a:latin typeface="DejaVu Sans Mono"/>
                <a:ea typeface="DejaVu Sans Mono"/>
                <a:cs typeface="DejaVu Sans Mono"/>
              </a:rPr>
              <a:t>3 2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C9CFA0-B6D6-46E6-AB21-251E6DF8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rPr>
              <a:t>55</a:t>
            </a:r>
          </a:p>
        </p:txBody>
      </p:sp>
    </p:spTree>
    <p:extLst>
      <p:ext uri="{BB962C8B-B14F-4D97-AF65-F5344CB8AC3E}">
        <p14:creationId xmlns:p14="http://schemas.microsoft.com/office/powerpoint/2010/main" val="2126904357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5C975C-5965-4967-BCC3-810E5D0A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ПРОДЪЛЖЕНИЕ · РЕШЕНИЕ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44A023-9D0B-46BA-B991-8CC4DADB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rPr>
              <a:t>07 · Решение и проверка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1EE398-E999-4EF1-A1A8-C7CBDF77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47700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#include &lt;iostream&gt;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using namespace std;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int main() {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    int n, k;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    cin &gt;&gt; n &gt;&gt; k;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    cout &lt;&lt; n / k &lt;&lt; ' '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         &lt;&lt; n % k &lt;&lt; '\n';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    return 0;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C41D58-50DB-4B2A-8A61-D8906B24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09750"/>
            <a:ext cx="398145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Частното брои пълните кутии.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Остатъкът брои топчетата извън тях.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Допълнителни тестове: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15 5  →  3 0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4 5  →  0 4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0 5  →  0 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700420-5419-4920-8948-B3B6957D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rPr>
              <a:t>56</a:t>
            </a:r>
          </a:p>
        </p:txBody>
      </p:sp>
    </p:spTree>
    <p:extLst>
      <p:ext uri="{BB962C8B-B14F-4D97-AF65-F5344CB8AC3E}">
        <p14:creationId xmlns:p14="http://schemas.microsoft.com/office/powerpoint/2010/main" val="692834150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5DA652-6C09-498C-A44A-BFB036A3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ПРОДЪЛЖЕНИЕ · ВРЕМЕ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31658C-CF88-4078-B49C-D5102136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rPr>
              <a:t>08 · Часове и минути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1F2BFE-912C-4EB7-9E08-C6ACCC5A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53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Представи продължителност от t минути като цели часове и оставащи минути. Часовете могат да са над 23.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69E679-5315-4DBA-A38E-B7245479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Вход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2EA53D-E592-4485-96DC-07C6BCE7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Цяло t. 0 ≤ t ≤ 1000000.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5C28D3-D783-4F25-9DF9-F9F9811C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Изход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99D645-85C5-4828-85FC-356E399D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Часове и минути на един ред с интервал.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1F9C6D-D0B4-4A5B-9453-BC5C0201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5752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Примерен вход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142EC0-8185-4D1D-A120-53F2559F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7662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3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250" b="0">
                <a:solidFill>
                  <a:srgbClr val="183347"/>
                </a:solidFill>
                <a:latin typeface="DejaVu Sans Mono"/>
                <a:ea typeface="DejaVu Sans Mono"/>
                <a:cs typeface="DejaVu Sans Mono"/>
              </a:rPr>
              <a:t>135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27B3FC-8170-4013-92D2-FF8E55CC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7197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Примерен изход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C01FFB-04A5-4C9B-B29E-C92D0F97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8155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3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250" b="0">
                <a:solidFill>
                  <a:srgbClr val="183347"/>
                </a:solidFill>
                <a:latin typeface="DejaVu Sans Mono"/>
                <a:ea typeface="DejaVu Sans Mono"/>
                <a:cs typeface="DejaVu Sans Mono"/>
              </a:rPr>
              <a:t>2 15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5A02C7-D3F8-451F-BB06-9805F66C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rPr>
              <a:t>57</a:t>
            </a:r>
          </a:p>
        </p:txBody>
      </p:sp>
    </p:spTree>
    <p:extLst>
      <p:ext uri="{BB962C8B-B14F-4D97-AF65-F5344CB8AC3E}">
        <p14:creationId xmlns:p14="http://schemas.microsoft.com/office/powerpoint/2010/main" val="1839216755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6BDD65-99D1-4C8F-88BE-B915B4A39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ПРОДЪЛЖЕНИЕ · РЕШЕНИЕ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52DDD4-0C17-4CC9-99D8-145DC31F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rPr>
              <a:t>08 · Решение и проверка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5FF903-5F99-4F3F-B49E-D81D5AFC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47700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#include &lt;iostream&gt;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using namespace std;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int main() {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    int t;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    cin &gt;&gt; t;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    cout &lt;&lt; t / 60 &lt;&lt; ' '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         &lt;&lt; t % 60 &lt;&lt; '\n';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    return 0;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61BB43-1101-4773-8253-D74FD4AC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09750"/>
            <a:ext cx="398145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На всеки 60 минути имаме цял час.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Това е продължителност, а не час от денонощието.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Допълнителни тестове: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59  →  0 59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60  →  1 0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1500  →  25 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043BEA-55DD-4CFE-BD26-9A59CF5E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rPr>
              <a:t>58</a:t>
            </a:r>
          </a:p>
        </p:txBody>
      </p:sp>
    </p:spTree>
    <p:extLst>
      <p:ext uri="{BB962C8B-B14F-4D97-AF65-F5344CB8AC3E}">
        <p14:creationId xmlns:p14="http://schemas.microsoft.com/office/powerpoint/2010/main" val="191914655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BEE047-5A20-4ABB-8A98-92A432D7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ПРОДЪЛЖЕНИЕ · ЦИФРИ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2389A7-13B9-43F9-B67D-FFCFDDC9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rPr>
              <a:t>Отделяне на цифри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2E248E-3571-4B48-8607-71E497BD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47700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int n = 407;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n / 100       // 4</a:t>
            </a:r>
          </a:p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n / 10        // 40</a:t>
            </a:r>
          </a:p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n / 10 % 10   // 0</a:t>
            </a:r>
          </a:p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n % 10        // 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5500AF-5402-4797-A63F-CCB6094F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09750"/>
            <a:ext cx="398145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Стотиците са 4.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Десетиците са 0.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Единиците са 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n / 10 премахва единиците.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След това % 10 взема последната останала цифра.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Затова десетиците са n / 10 % 10, а не само n / 10.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1C9343-04E2-48F2-8F8E-ADB0508D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rPr>
              <a:t>59</a:t>
            </a:r>
          </a:p>
        </p:txBody>
      </p:sp>
    </p:spTree>
    <p:extLst>
      <p:ext uri="{BB962C8B-B14F-4D97-AF65-F5344CB8AC3E}">
        <p14:creationId xmlns:p14="http://schemas.microsoft.com/office/powerpoint/2010/main" val="853242535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C69401-168D-4AE3-80F7-FE054602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ПРОДЪЛЖЕНИЕ · ЦИФРИ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237253-FADB-4637-A46E-2EF1C1D8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rPr>
              <a:t>09 · Сбор на цифри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415EFB-E7E7-4B68-A363-AD117D46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53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Намери сбора на цифрите на трицифрено число 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E851C4-EDF7-4D2F-A888-51E612FF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Вход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2C6CC9-04F0-40D8-BEC9-8CC3D986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Цяло n. 100 ≤ n ≤ 999.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2E0179-DA2D-4A1E-96E9-132EA3D2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Изход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8C4A03-1466-4DCD-ACE7-285EEDF4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Едно цяло число: сборът.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B2BBC6-266A-45FF-9185-AC590EB1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5752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Примерен вход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B9A3D6-2A2E-4679-953C-D79B8F68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7662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3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250" b="0">
                <a:solidFill>
                  <a:srgbClr val="183347"/>
                </a:solidFill>
                <a:latin typeface="DejaVu Sans Mono"/>
                <a:ea typeface="DejaVu Sans Mono"/>
                <a:cs typeface="DejaVu Sans Mono"/>
              </a:rPr>
              <a:t>407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A6FB3B-8A40-4259-A4DB-7A0C1ADC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7197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Примерен изход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E96EEE-787E-44E7-974C-97A5511A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8155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3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250" b="0">
                <a:solidFill>
                  <a:srgbClr val="183347"/>
                </a:solidFill>
                <a:latin typeface="DejaVu Sans Mono"/>
                <a:ea typeface="DejaVu Sans Mono"/>
                <a:cs typeface="DejaVu Sans Mono"/>
              </a:rPr>
              <a:t>11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C9D07C-2CFF-47F9-BA6B-52B3FF28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rPr>
              <a:t>60</a:t>
            </a:r>
          </a:p>
        </p:txBody>
      </p:sp>
    </p:spTree>
    <p:extLst>
      <p:ext uri="{BB962C8B-B14F-4D97-AF65-F5344CB8AC3E}">
        <p14:creationId xmlns:p14="http://schemas.microsoft.com/office/powerpoint/2010/main" val="1132402165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762522-DE40-4484-A12E-C31B5919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ПРОДЪЛЖЕНИЕ · РЕШЕНИЕ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94F671-AACD-4914-86CD-62E2D580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rPr>
              <a:t>09 · Решение и проверка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4FD5C1-47A4-4D52-9480-376F03E6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47700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#include &lt;iostream&gt;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using namespace std;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int main() {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    int n;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    cin &gt;&gt; n;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    int a = n / 100;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    int b = n / 10 % 10;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    int c = n % 10;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    cout &lt;&lt; a + b + c &lt;&lt; '\n';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    return 0;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4A947A-BC19-43D4-9E09-A142C775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09750"/>
            <a:ext cx="398145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Отделяме всяка цифра.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После събираме трите стойности.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Допълнителни тестове: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100  →  1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999  →  27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120  → 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08988C-5D73-41FD-BCD7-AA3B4F3E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rPr>
              <a:t>61</a:t>
            </a:r>
          </a:p>
        </p:txBody>
      </p:sp>
    </p:spTree>
    <p:extLst>
      <p:ext uri="{BB962C8B-B14F-4D97-AF65-F5344CB8AC3E}">
        <p14:creationId xmlns:p14="http://schemas.microsoft.com/office/powerpoint/2010/main" val="294525120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164881-CC31-4026-A2FF-D743DF89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ПРОДЪЛЖЕНИЕ · ПРЕДИЗВИКАТЕЛСТВО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B8F221-CE98-4C96-9CEB-E63E8396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rPr>
              <a:t>10 · Автобуси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4A96D5-FAB6-46F7-843C-610F444C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53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За n деца трябват автобуси с по k места. Намери най-малкия достатъчен брой. За 0 деца трябват 0 автобуса.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15BBBE-3940-47C9-B86B-45AF7447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Вход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EDE3D2-7654-4C7D-9734-174DA440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Цели n, k. 0 ≤ n ≤ 1000000, 1 ≤ k ≤ 1000.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D4DF37-24E2-45E4-90DC-05B6FEEE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Изход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CA2939-CEB4-4A65-92CA-9E303D21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Едно цяло число: броят автобуси.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36F949-AF3A-41D6-A63D-8CF4101E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5752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Примерен вход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37ECF1-F9EB-4D29-85F8-C46008DF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7662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3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250" b="0">
                <a:solidFill>
                  <a:srgbClr val="183347"/>
                </a:solidFill>
                <a:latin typeface="DejaVu Sans Mono"/>
                <a:ea typeface="DejaVu Sans Mono"/>
                <a:cs typeface="DejaVu Sans Mono"/>
              </a:rPr>
              <a:t>26 12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DF8DF6-D78B-46F0-9FDF-F803E035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7197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Примерен изход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06F930-F8E0-4966-975C-9DF7C167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8155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3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250" b="0">
                <a:solidFill>
                  <a:srgbClr val="183347"/>
                </a:solidFill>
                <a:latin typeface="DejaVu Sans Mono"/>
                <a:ea typeface="DejaVu Sans Mono"/>
                <a:cs typeface="DejaVu Sans Mono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B2B3F3-963B-4306-982D-32F18A2E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rPr>
              <a:t>62</a:t>
            </a:r>
          </a:p>
        </p:txBody>
      </p:sp>
    </p:spTree>
    <p:extLst>
      <p:ext uri="{BB962C8B-B14F-4D97-AF65-F5344CB8AC3E}">
        <p14:creationId xmlns:p14="http://schemas.microsoft.com/office/powerpoint/2010/main" val="2038467413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FB1A7C-3489-4D55-A78A-974DA2FF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ПРОДЪЛЖЕНИЕ · ОБЯСНЕНИЕ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097385-BC3C-4B91-BA66-10A1CF44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rPr>
              <a:t>Защо добавяме k − 1?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0B8A32-332A-49BF-84EE-1D097C07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47700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// n = 26, k = 12</a:t>
            </a:r>
          </a:p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(26 + 12 - 1) / 12</a:t>
            </a:r>
          </a:p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37 / 12   //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// n = 24, k = 12</a:t>
            </a:r>
          </a:p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(24 + 12 - 1) / 12</a:t>
            </a:r>
          </a:p>
          <a:p xmlns:a="http://schemas.openxmlformats.org/drawingml/2006/main">
            <a:pPr>
              <a:def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35 / 12   //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06D57B-2D5A-439E-82F0-84A2BDEE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09750"/>
            <a:ext cx="398145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При непълна група е нужна още една.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Ако n = q * k, добавянето на k − 1 не създава нова пълна група.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Ако остатъкът r е от 1 до k − 1, тогава r + k − 1 е поне k и под 2 * k: получаваме точно още една група.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За n = 0 формулата също дава 0.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A8F4AA-5F2A-414A-B68D-465F5E86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rPr>
              <a:t>63</a:t>
            </a:r>
          </a:p>
        </p:txBody>
      </p:sp>
    </p:spTree>
    <p:extLst>
      <p:ext uri="{BB962C8B-B14F-4D97-AF65-F5344CB8AC3E}">
        <p14:creationId xmlns:p14="http://schemas.microsoft.com/office/powerpoint/2010/main" val="1247698244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A017BD-6E83-4DD7-BA16-9C3D4CE3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ПРОДЪЛЖЕНИЕ · РЕШЕНИЕ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62868A-C6DE-45DA-8815-F442E69B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rPr>
              <a:t>10 · Решение и проверка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8E30AE-CC2A-456F-B33E-31C54771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47700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#include &lt;iostream&gt;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using namespace std;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int main() {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    int n, k;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    cin &gt;&gt; n &gt;&gt; k;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    cout &lt;&lt; (n + k - 1) / k &lt;&lt; '\n';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    return 0;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DEC71C-6B54-4824-B342-E99EB0AA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09750"/>
            <a:ext cx="398145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И непълният автобус е нужен.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При 26 деца два автобуса по 12 места не стигат: 24 &lt; 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Допълнителни тестове: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0 12  →  0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24 12  →  2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25 12  → 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BFC278-51D6-428A-8BF0-3E60E88C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rPr>
              <a:t>64</a:t>
            </a:r>
          </a:p>
        </p:txBody>
      </p:sp>
    </p:spTree>
    <p:extLst>
      <p:ext uri="{BB962C8B-B14F-4D97-AF65-F5344CB8AC3E}">
        <p14:creationId xmlns:p14="http://schemas.microsoft.com/office/powerpoint/2010/main" val="208734847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B19B6B-B17F-48CD-B808-C0AAAB0A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ПРОДЪЛЖЕНИЕ · ПРЕДИЗВИКАТЕЛСТВО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CC2649-8C41-4C38-8F71-604ACDA6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rPr>
              <a:t>11 · След една минута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C1B425-0E29-4C73-9331-EDD8F73B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53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Часовник показва h часа и m минути. Какво ще показва след една минута в 24-часов формат?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BF26DD-6223-4199-B64B-6D1BB278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Вход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E1B53E-D3BD-44C2-A29A-A67CC442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Цели h, m. 0 ≤ h ≤ 23, 0 ≤ m ≤ 59.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CDDFA8-6360-4647-B546-6B614A8F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Изход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1F9A5F-B67F-4074-BB0D-658E5FC3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Час и минута с интервал, без водещи нули.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FE1EC5-4E26-4DB9-979D-ADCEA0DD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5752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Примерен вход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F2D7C7-644A-4CA4-87BC-19AE71F1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7662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3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250" b="0">
                <a:solidFill>
                  <a:srgbClr val="183347"/>
                </a:solidFill>
                <a:latin typeface="DejaVu Sans Mono"/>
                <a:ea typeface="DejaVu Sans Mono"/>
                <a:cs typeface="DejaVu Sans Mono"/>
              </a:rPr>
              <a:t>23 59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C020E1-A4B1-417E-8216-7E1CCB01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7197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Примерен изход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34C934-CB07-455D-8691-6F40B047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8155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3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250" b="0">
                <a:solidFill>
                  <a:srgbClr val="183347"/>
                </a:solidFill>
                <a:latin typeface="DejaVu Sans Mono"/>
                <a:ea typeface="DejaVu Sans Mono"/>
                <a:cs typeface="DejaVu Sans Mono"/>
              </a:rPr>
              <a:t>0 0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BB37D2-8D51-4DA2-B58F-21F0A177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rPr>
              <a:t>65</a:t>
            </a:r>
          </a:p>
        </p:txBody>
      </p:sp>
    </p:spTree>
    <p:extLst>
      <p:ext uri="{BB962C8B-B14F-4D97-AF65-F5344CB8AC3E}">
        <p14:creationId xmlns:p14="http://schemas.microsoft.com/office/powerpoint/2010/main" val="815243757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2CB21D-4927-455A-8CA1-58C4D451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ПРОДЪЛЖЕНИЕ · РЕШЕНИЕ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DA0162-A4B2-40FC-9429-F2CCE75E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rPr>
              <a:t>11 · Решение и проверка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AAB57A-8036-48BD-8780-FF24E968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47700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#include &lt;iostream&gt;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using namespace std;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int main() {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    int h, m;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    cin &gt;&gt; h &gt;&gt; m;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    int t = (h * 60 + m + 1) % 1440;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    cout &lt;&lt; t / 60 &lt;&lt; ' '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         &lt;&lt; t % 60 &lt;&lt; '\n';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    return 0;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228649-FB3D-4F05-9FEB-DF019B97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09750"/>
            <a:ext cx="398145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Денонощието има 1440 минути.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% 1440 връща 1440 към 0.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После отделяме часа и минутата.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Допълнителни тестове: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12 59  →  13 0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0 0  →  0 1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23 58  →  23 59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1E8929-BEDD-4323-ACF4-126D3CD4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rPr>
              <a:t>66</a:t>
            </a:r>
          </a:p>
        </p:txBody>
      </p:sp>
    </p:spTree>
    <p:extLst>
      <p:ext uri="{BB962C8B-B14F-4D97-AF65-F5344CB8AC3E}">
        <p14:creationId xmlns:p14="http://schemas.microsoft.com/office/powerpoint/2010/main" val="1474071253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C9C1F4-43D3-43F8-82A8-A93C29CF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ПРОДЪЛЖЕНИЕ · ПРЕДИЗВИКАТЕЛСТВО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DC3423-1AD3-487A-8371-0AC4BDC7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rPr>
              <a:t>12 · Обърнато число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59BD1C-FEBD-4F14-B8B4-5376931D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53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Обърни цифрите на трицифрено n. Изведи резултата като цяло число, без начални нули.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98153D-FC14-458F-967D-5D033790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Вход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D01204-BB1A-4110-BC71-49C8C390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Цяло n. 100 ≤ n ≤ 999.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ECEF7D-F668-44FF-882D-8E265755F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Изход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2B61B9-9C6F-47DE-9A0D-5AB981EC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Едно цяло число. Например 120 става 21.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683459-7BA1-4CEB-9C4D-F38F2A74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5752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Примерен вход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359FB7-31EE-4502-993D-81942D6C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7662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3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250" b="0">
                <a:solidFill>
                  <a:srgbClr val="183347"/>
                </a:solidFill>
                <a:latin typeface="DejaVu Sans Mono"/>
                <a:ea typeface="DejaVu Sans Mono"/>
                <a:cs typeface="DejaVu Sans Mono"/>
              </a:rPr>
              <a:t>305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9EBE54-A16C-45E7-929F-FE835FF7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7197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Примерен изход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72A099-94F2-4C65-B2D9-70FC877F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8155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34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250" b="0">
                <a:solidFill>
                  <a:srgbClr val="183347"/>
                </a:solidFill>
                <a:latin typeface="DejaVu Sans Mono"/>
                <a:ea typeface="DejaVu Sans Mono"/>
                <a:cs typeface="DejaVu Sans Mono"/>
              </a:rPr>
              <a:t>503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51291F-D6BD-440F-94E4-D7DC033E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rPr>
              <a:t>67</a:t>
            </a:r>
          </a:p>
        </p:txBody>
      </p:sp>
    </p:spTree>
    <p:extLst>
      <p:ext uri="{BB962C8B-B14F-4D97-AF65-F5344CB8AC3E}">
        <p14:creationId xmlns:p14="http://schemas.microsoft.com/office/powerpoint/2010/main" val="482550262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2BF89E-DBE9-4E38-A093-84A5FCF3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ПРОДЪЛЖЕНИЕ · РЕШЕНИЕ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B392CA-9969-4FD2-A181-7C654DD4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rPr>
              <a:t>12 · Решение и проверка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8CA8E3-1E11-4C7F-8BB1-C171761A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47700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#include &lt;iostream&gt;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using namespace std;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int main() {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    int n;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    cin &gt;&gt; n;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    int a = n / 100;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    int b = n / 10 % 10;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    int c = n % 10;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    cout &lt;&lt; 100 * c + 10 * b + a &lt;&lt; '\n';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    return 0;</a:t>
            </a:r>
          </a:p>
          <a:p xmlns:a="http://schemas.openxmlformats.org/drawingml/2006/main">
            <a:pPr>
              <a:def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22C40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DE22BB-4B63-422D-8710-BBC70062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09750"/>
            <a:ext cx="398145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Единиците стават стотици.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Десетиците остават в средата.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Стотиците стават единици.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Допълнителни тестове: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120  →  21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100  →  1</a:t>
            </a:r>
          </a:p>
          <a:p xmlns:a="http://schemas.openxmlformats.org/drawingml/2006/main">
            <a:pPr>
              <a:def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999  →  999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AECFBE-D588-4E06-9A71-6AC3C1A5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rPr>
              <a:t>68</a:t>
            </a:r>
          </a:p>
        </p:txBody>
      </p:sp>
    </p:spTree>
    <p:extLst>
      <p:ext uri="{BB962C8B-B14F-4D97-AF65-F5344CB8AC3E}">
        <p14:creationId xmlns:p14="http://schemas.microsoft.com/office/powerpoint/2010/main" val="292587188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2DD102-F892-4CE7-9FE0-B2E61525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ПЪРВИ СТЪПКИ В C++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9531C2-B274-4565-8575-079ACB0C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rPr>
              <a:t>Готов ли съм за следващата тема?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1180DB-220C-4D79-B3ED-0C14F268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Създавам проект и намирам main.cpp.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202040-070C-486D-A36A-18165A5C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Обяснявам какво чете cin и какво показва cout.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B86551-F32B-407C-88F8-8ABAB8EB2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Решавам сам поне три от задачи 03–06 и обяснявам формулите.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CFE353-5621-40A4-9355-6105D08D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Подбирам малък, граничен и обикновен тест.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7BEF9C-4D71-4453-B9F8-714A3E37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768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Поправям грешката и запазвам работещото решение.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83F6D8-4B4F-449D-BA27-51859484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817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Ако нещо още е трудно, повтори сходна задача с други числа и запиши точния си въпрос.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F0DB65-9526-44DF-A25B-2881DDE6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rPr>
              <a:t>69</a:t>
            </a:r>
          </a:p>
        </p:txBody>
      </p:sp>
    </p:spTree>
    <p:extLst>
      <p:ext uri="{BB962C8B-B14F-4D97-AF65-F5344CB8AC3E}">
        <p14:creationId xmlns:p14="http://schemas.microsoft.com/office/powerpoint/2010/main" val="1360996280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64918B-499C-4C15-8D1D-3D8BB98B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7F83"/>
                </a:solidFill>
                <a:latin typeface="DejaVu Sans"/>
                <a:ea typeface="DejaVu Sans"/>
                <a:cs typeface="DejaVu Sans"/>
              </a:rPr>
              <a:t>ПЪРВИ СТЪПКИ В C++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67C87F-1E80-48B6-9CC4-A32ACE29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2C40"/>
                </a:solidFill>
                <a:latin typeface="DejaVu Sans"/>
                <a:ea typeface="DejaVu Sans"/>
                <a:cs typeface="DejaVu Sans"/>
              </a:rPr>
              <a:t>Източници и полезни връзки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F66A19-BAAE-4233-8D3E-8BE0B53F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Материали по плана: „Първи два часа и разширение“, „Работен лист за ученици, седмица 1“ и програмата за 2026/2027.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AE5E6E-629E-4548-91F3-64D8E0F1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Изтегляне на Code::Blocks:</a:t>
            </a:r>
          </a:p>
          <a:p xmlns:a="http://schemas.openxmlformats.org/drawingml/2006/main">
            <a:pPr>
              <a:defRPr sz="18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https://www.codeblocks.org/downloads/binaries/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5FF9FD-02ED-4DC4-BB4F-1F1AC425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95700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Официално ръководство и изображение на средата:</a:t>
            </a:r>
          </a:p>
          <a:p xmlns:a="http://schemas.openxmlformats.org/drawingml/2006/main">
            <a:pPr>
              <a:defRPr sz="18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https://www.codeblocks.org/docs/main_codeblocks_en3.html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623882-AC46-4624-9A80-553388BA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3347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83347"/>
                </a:solidFill>
                <a:latin typeface="DejaVu Sans"/>
                <a:ea typeface="DejaVu Sans"/>
                <a:cs typeface="DejaVu Sans"/>
              </a:rPr>
              <a:t>Проверка на инсталационната информация: 23.09.2026. Упражненията са учебни авторски задачи.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09EECC-E196-475E-B9DA-51378668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4D6474"/>
                </a:solidFill>
                <a:latin typeface="DejaVu Sans"/>
                <a:ea typeface="DejaVu Sans"/>
                <a:cs typeface="DejaVu Sans"/>
              </a:rPr>
              <a:t>70</a:t>
            </a:r>
          </a:p>
        </p:txBody>
      </p:sp>
    </p:spTree>
    <p:extLst>
      <p:ext uri="{BB962C8B-B14F-4D97-AF65-F5344CB8AC3E}">
        <p14:creationId xmlns:p14="http://schemas.microsoft.com/office/powerpoint/2010/main" val="19100713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2026-09-23T20:06:51.7220000Z</dcterms:created>
  <dcterms:modified xsi:type="dcterms:W3CDTF">2026-09-23T20:06:51.7220000Z</dcterms:modified>
</coreProperties>
</file>