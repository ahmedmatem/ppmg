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1 мин. Свържете темата с предходните уроци за БД, СУБД и типове данни.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Представете целите и двете части на часа.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Подчертайте, че управляваме самата база, а не отделна таблица.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Обяснете жизнения цикъл чрез учебната база SchoolLibraryTheory.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Разграничете командите според резултата 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Изискайте от учениците да предложат правилния ред преди рискова промяна.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Сравнете ефекта и риска на всяка операция. Източници: https://learn.microsoft.com/en-us/sql/t-sql/statements/create-database-transact-sql?view=sql-server-ver17, https://learn.microsoft.com/en-us/sql/t-sql/statements/drop-database-transact-sql?view=sql-server-ver17, https://learn.microsoft.com/en-us/sql/t-sql/statements/backup-transact-sql?view=sql-server-ver17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Проведете кратка устна проверка. Очакван отговор на последния въпрос: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Обяснете, че новата база е празен контейнер за бъдещи обекти. Източник: https://learn.microsoft.com/en-us/sql/t-sql/statements/create-database-transact-sql?view=sql-server-ver17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Представете общата роля на файловете с данни и транзакционния дневник.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Покажете двата начина, без да навлизате в допълнителни настройки.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Демонстрирайте New Database и Refresh в SSMS. Източник: https://learn.microsoft.com/en-us/sql/relational-databases/backup-restore/quickstart-backup-restore-database?view=sql-server-ver17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4 мин. Изпълнете скрипта по пакети и проверете DB_NAME(). Източник: https://learn.microsoft.com/en-us/sql/t-sql/statements/create-database-transact-sql?view=sql-server-ver17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Предупредете, че DROP премахва базата и нейните файлове. Източник: https://learn.microsoft.com/en-us/sql/t-sql/statements/drop-database-transact-sql?view=sql-server-ver17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Учениците прочитат проверките преди DROP. Не изпълнявайте DROP върху реална база.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Разграничете backup, SQL script и активните файлове. Източници: https://learn.microsoft.com/en-us/sql/t-sql/statements/backup-transact-sql?view=sql-server-ver17, https://learn.microsoft.com/en-us/sql/relational-databases/backup-restore/quickstart-backup-restore-database?view=sql-server-ver17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4 мин. Покажете стъпките в SSMS: Tasks → Back Up и Databases → Restore Database. Източник: https://learn.microsoft.com/en-us/sql/relational-databases/backup-restore/quickstart-backup-restore-database?view=sql-server-ver17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Свържете всяко съобщение за грешка с конкретна предварителна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Разчетете командите, без да изпълнявате RESTORE върху използвана база. Източници: https://learn.microsoft.com/en-us/sql/t-sql/statements/backup-transact-sql?view=sql-server-ver17, https://learn.microsoft.com/en-us/sql/t-sql/statements/restore-statements-transact-sql?view=sql-server-ver17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Изходен билет и обобщение на правилната последователност.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FE11DEEA-AB84-422D-9319-DE8FE145E2CB}"/>
              </a:ext>
            </a:extLst>
          </p:cNvPr>
          <p:cNvSpPr>
            <a:spLocks noGrp="1"/>
          </p:cNvSpPr>
          <p:nvPr/>
        </p:nvSpPr>
        <p:spPr>
          <a:xfrm>
            <a:off x="8572500" y="0"/>
            <a:ext cx="3619500" cy="3619500"/>
          </a:xfrm>
          <a:prstGeom prst="ellipse">
            <a:avLst/>
          </a:prstGeom>
          <a:solidFill>
            <a:srgbClr val="174A6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A8B69A8-7D40-4ABB-9DD9-8DAE897516D7}"/>
              </a:ext>
            </a:extLst>
          </p:cNvPr>
          <p:cNvSpPr>
            <a:spLocks noGrp="1"/>
          </p:cNvSpPr>
          <p:nvPr/>
        </p:nvSpPr>
        <p:spPr>
          <a:xfrm>
            <a:off x="9334500" y="4000500"/>
            <a:ext cx="2857500" cy="2857500"/>
          </a:xfrm>
          <a:prstGeom prst="ellipse">
            <a:avLst/>
          </a:prstGeom>
          <a:solidFill>
            <a:srgbClr val="0B6B7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78EFF7-2188-40C9-821A-F23466BF88A1}"/>
              </a:ext>
            </a:extLst>
          </p:cNvPr>
          <p:cNvSpPr>
            <a:spLocks noGrp="1"/>
          </p:cNvSpPr>
          <p:nvPr/>
        </p:nvSpPr>
        <p:spPr>
          <a:xfrm>
            <a:off x="704850" y="5524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5BD0F3-CF89-4C2D-8405-F7C12092E285}"/>
              </a:ext>
            </a:extLst>
          </p:cNvPr>
          <p:cNvSpPr>
            <a:spLocks noGrp="1"/>
          </p:cNvSpPr>
          <p:nvPr/>
        </p:nvSpPr>
        <p:spPr>
          <a:xfrm>
            <a:off x="781050" y="57150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учебен час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1100C-D58E-4653-A7BC-AAE7935B19E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752475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9290" lnSpcReduction="10000"/>
          </a:bodyPr>
          <a:lstStyle/>
          <a:p>
            <a:pPr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Създаване, изтриване и архивиране на база данни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F78BEC-4C40-478A-AFFB-8D1EC3C47EB3}"/>
              </a:ext>
            </a:extLst>
          </p:cNvPr>
          <p:cNvSpPr>
            <a:spLocks noGrp="1"/>
          </p:cNvSpPr>
          <p:nvPr/>
        </p:nvSpPr>
        <p:spPr>
          <a:xfrm>
            <a:off x="723900" y="2628900"/>
            <a:ext cx="7239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75" b="0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FE7F3"/>
                </a:solidFill>
                <a:latin typeface="Arial"/>
                <a:ea typeface="Arial"/>
                <a:cs typeface="Arial"/>
              </a:rPr>
              <a:t>CREATE DATABASE, DROP DATABASE, BACKUP и RESTORE в SQL Server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E3E49A-6C24-41DC-B22A-3E16B4579B4B}"/>
              </a:ext>
            </a:extLst>
          </p:cNvPr>
          <p:cNvSpPr>
            <a:spLocks noGrp="1"/>
          </p:cNvSpPr>
          <p:nvPr/>
        </p:nvSpPr>
        <p:spPr>
          <a:xfrm>
            <a:off x="8858250" y="1571625"/>
            <a:ext cx="2190750" cy="7048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8A8DC4-BC92-4C2C-B6F7-9004C2639A0C}"/>
              </a:ext>
            </a:extLst>
          </p:cNvPr>
          <p:cNvSpPr>
            <a:spLocks noGrp="1"/>
          </p:cNvSpPr>
          <p:nvPr/>
        </p:nvSpPr>
        <p:spPr>
          <a:xfrm>
            <a:off x="8858250" y="1924050"/>
            <a:ext cx="2190750" cy="2047875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445F29B-7B59-45B2-8B51-0F06AA32E5A7}"/>
              </a:ext>
            </a:extLst>
          </p:cNvPr>
          <p:cNvSpPr>
            <a:spLocks noGrp="1"/>
          </p:cNvSpPr>
          <p:nvPr/>
        </p:nvSpPr>
        <p:spPr>
          <a:xfrm>
            <a:off x="8858250" y="3619500"/>
            <a:ext cx="2190750" cy="704850"/>
          </a:xfrm>
          <a:prstGeom prst="ellipse">
            <a:avLst/>
          </a:prstGeom>
          <a:solidFill>
            <a:srgbClr val="087F83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C884AF-2A59-44FB-B3ED-D248E4114C1F}"/>
              </a:ext>
            </a:extLst>
          </p:cNvPr>
          <p:cNvSpPr>
            <a:spLocks noGrp="1"/>
          </p:cNvSpPr>
          <p:nvPr/>
        </p:nvSpPr>
        <p:spPr>
          <a:xfrm>
            <a:off x="8858250" y="2381250"/>
            <a:ext cx="2190750" cy="552450"/>
          </a:xfrm>
          <a:prstGeom prst="ellipse">
            <a:avLst/>
          </a:prstGeom>
          <a:noFill/>
          <a:ln w="9525">
            <a:solidFill>
              <a:srgbClr val="BDF5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0E5217-3A7C-4E41-AC0D-55994264F232}"/>
              </a:ext>
            </a:extLst>
          </p:cNvPr>
          <p:cNvSpPr>
            <a:spLocks noGrp="1"/>
          </p:cNvSpPr>
          <p:nvPr/>
        </p:nvSpPr>
        <p:spPr>
          <a:xfrm>
            <a:off x="8858250" y="3009900"/>
            <a:ext cx="2190750" cy="552450"/>
          </a:xfrm>
          <a:prstGeom prst="ellipse">
            <a:avLst/>
          </a:prstGeom>
          <a:noFill/>
          <a:ln w="9525">
            <a:solidFill>
              <a:srgbClr val="BDF5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F9106C-A42A-48AB-9991-5BC126890677}"/>
              </a:ext>
            </a:extLst>
          </p:cNvPr>
          <p:cNvSpPr>
            <a:spLocks noGrp="1"/>
          </p:cNvSpPr>
          <p:nvPr/>
        </p:nvSpPr>
        <p:spPr>
          <a:xfrm>
            <a:off x="9315450" y="2238375"/>
            <a:ext cx="125730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БД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3DA82F-3A17-44EB-83DD-D9D021D4B037}"/>
              </a:ext>
            </a:extLst>
          </p:cNvPr>
          <p:cNvSpPr>
            <a:spLocks noGrp="1"/>
          </p:cNvSpPr>
          <p:nvPr/>
        </p:nvSpPr>
        <p:spPr>
          <a:xfrm>
            <a:off x="723900" y="581025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FE7F3"/>
                </a:solidFill>
                <a:latin typeface="Arial"/>
                <a:ea typeface="Arial"/>
                <a:cs typeface="Arial"/>
              </a:rPr>
              <a:t>11. клас • „Приложен програмист“</a:t>
            </a:r>
          </a:p>
        </p:txBody>
      </p:sp>
    </p:spTree>
    <p:extLst>
      <p:ext uri="{BB962C8B-B14F-4D97-AF65-F5344CB8AC3E}">
        <p14:creationId xmlns:p14="http://schemas.microsoft.com/office/powerpoint/2010/main" val="1873610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4F58E68-E99A-4361-958F-30ACE820A6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46206C-94DD-4CD2-AEF5-460C0932CB4E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СТАРТ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196C24-054B-40D8-8107-86BBDC7F71A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Цели и маршрут на часа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70F43CD-FFA3-4E46-89A9-EA18896BDBA8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E78B41-ECDF-474F-8EDE-9F430549562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90696-A4A9-4C60-9D5A-A4C86066B902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55FDC4-1ACD-414F-8FC4-9E935BAC0A29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47FF3A-CC48-4661-805B-1E2C50C7ADF4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D15621-A859-45AE-B65E-33BF35FB40B4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Разбирам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AEEE50-83AB-4C7E-A32A-C937A5391408}"/>
              </a:ext>
            </a:extLst>
          </p:cNvPr>
          <p:cNvSpPr>
            <a:spLocks noGrp="1"/>
          </p:cNvSpPr>
          <p:nvPr/>
        </p:nvSpPr>
        <p:spPr>
          <a:xfrm>
            <a:off x="933450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Как SQL Server създава и премахва база данни.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9A169C-4EFF-4767-BCCF-5B813BA941BC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575627-E747-4F74-8F15-3912FD585256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7E9F27-1A9B-4938-893D-9D3DFF073B2F}"/>
              </a:ext>
            </a:extLst>
          </p:cNvPr>
          <p:cNvSpPr>
            <a:spLocks noGrp="1"/>
          </p:cNvSpPr>
          <p:nvPr/>
        </p:nvSpPr>
        <p:spPr>
          <a:xfrm>
            <a:off x="4676775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Разграничавам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3C9D6C-6657-44A1-8754-17F9F785E7BF}"/>
              </a:ext>
            </a:extLst>
          </p:cNvPr>
          <p:cNvSpPr>
            <a:spLocks noGrp="1"/>
          </p:cNvSpPr>
          <p:nvPr/>
        </p:nvSpPr>
        <p:spPr>
          <a:xfrm>
            <a:off x="4676775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Архив, SQL скрипт и файлове на базата.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74C1F5-830F-4D33-BA5C-A05CE2760EED}"/>
              </a:ext>
            </a:extLst>
          </p:cNvPr>
          <p:cNvSpPr>
            <a:spLocks noGrp="1"/>
          </p:cNvSpPr>
          <p:nvPr/>
        </p:nvSpPr>
        <p:spPr>
          <a:xfrm>
            <a:off x="8172450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B3028C-E4A7-4743-A084-A3259D681D5D}"/>
              </a:ext>
            </a:extLst>
          </p:cNvPr>
          <p:cNvSpPr>
            <a:spLocks noGrp="1"/>
          </p:cNvSpPr>
          <p:nvPr/>
        </p:nvSpPr>
        <p:spPr>
          <a:xfrm>
            <a:off x="8172450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DAC09A-2305-4B60-A645-51BC555CFB30}"/>
              </a:ext>
            </a:extLst>
          </p:cNvPr>
          <p:cNvSpPr>
            <a:spLocks noGrp="1"/>
          </p:cNvSpPr>
          <p:nvPr/>
        </p:nvSpPr>
        <p:spPr>
          <a:xfrm>
            <a:off x="842010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Прилагам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2CC3BE-222F-4372-98C8-1F3307EA5EED}"/>
              </a:ext>
            </a:extLst>
          </p:cNvPr>
          <p:cNvSpPr>
            <a:spLocks noGrp="1"/>
          </p:cNvSpPr>
          <p:nvPr/>
        </p:nvSpPr>
        <p:spPr>
          <a:xfrm>
            <a:off x="8420100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Правилна последователност за BACKUP и RESTORE.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5B57A89-B444-4747-850F-276F4E239D08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A0A46E-FC54-480D-81D3-44DF59BB23C3}"/>
              </a:ext>
            </a:extLst>
          </p:cNvPr>
          <p:cNvSpPr>
            <a:spLocks noGrp="1"/>
          </p:cNvSpPr>
          <p:nvPr/>
        </p:nvSpPr>
        <p:spPr>
          <a:xfrm>
            <a:off x="762000" y="401955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Първа част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B7951A-D12F-469D-A44B-C2F5F6F275B9}"/>
              </a:ext>
            </a:extLst>
          </p:cNvPr>
          <p:cNvSpPr>
            <a:spLocks noGrp="1"/>
          </p:cNvSpPr>
          <p:nvPr/>
        </p:nvSpPr>
        <p:spPr>
          <a:xfrm>
            <a:off x="2476500" y="3971925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CREATE DATABASE и DROP DATABASE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612522B-D481-4E48-ACAE-0A08A818D43D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E8FAF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DB4EE0-5A4F-4330-9C04-1F4A5ABB503F}"/>
              </a:ext>
            </a:extLst>
          </p:cNvPr>
          <p:cNvSpPr>
            <a:spLocks noGrp="1"/>
          </p:cNvSpPr>
          <p:nvPr/>
        </p:nvSpPr>
        <p:spPr>
          <a:xfrm>
            <a:off x="762000" y="470535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Втора част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505163-CA9C-4DA2-B8DF-B1F4509F5A8B}"/>
              </a:ext>
            </a:extLst>
          </p:cNvPr>
          <p:cNvSpPr>
            <a:spLocks noGrp="1"/>
          </p:cNvSpPr>
          <p:nvPr/>
        </p:nvSpPr>
        <p:spPr>
          <a:xfrm>
            <a:off x="2476500" y="4657725"/>
            <a:ext cx="723900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Архивиране, възстановяване и безопасност</a:t>
            </a:r>
          </a:p>
        </p:txBody>
      </p:sp>
    </p:spTree>
    <p:extLst>
      <p:ext uri="{BB962C8B-B14F-4D97-AF65-F5344CB8AC3E}">
        <p14:creationId xmlns:p14="http://schemas.microsoft.com/office/powerpoint/2010/main" val="512246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3811A9C-661E-4697-A8C2-FB2E2AEE6B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967EA5-D795-4AA0-8EA6-A25953292E7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ВРЪЗКА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3FBA58-BED8-4D7A-BBC5-28BD66010D04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Базата данни има жизнен цикъл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D592DEB-CB5E-4677-8172-3D46A068AB17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4A5313-1CBD-4C88-96AC-89C8BB66D08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C57D48-EB74-4F90-9F35-1C4168FE49EB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3D010A-5688-41ED-ACB9-825983F5146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851E26-7B67-4F37-89E7-B77727CA85C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CAB12E-42D0-4361-916D-E3347F393CFD}"/>
              </a:ext>
            </a:extLst>
          </p:cNvPr>
          <p:cNvSpPr>
            <a:spLocks noGrp="1"/>
          </p:cNvSpPr>
          <p:nvPr/>
        </p:nvSpPr>
        <p:spPr>
          <a:xfrm>
            <a:off x="933450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Структура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B10E97-C927-452A-8226-6CEA395C03BC}"/>
              </a:ext>
            </a:extLst>
          </p:cNvPr>
          <p:cNvSpPr>
            <a:spLocks noGrp="1"/>
          </p:cNvSpPr>
          <p:nvPr/>
        </p:nvSpPr>
        <p:spPr>
          <a:xfrm>
            <a:off x="933450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Таблиците и типовете данни имат смисъл само в конкретна база.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46C55A-D8C9-4979-9AB6-D30348C9E5AC}"/>
              </a:ext>
            </a:extLst>
          </p:cNvPr>
          <p:cNvSpPr>
            <a:spLocks noGrp="1"/>
          </p:cNvSpPr>
          <p:nvPr/>
        </p:nvSpPr>
        <p:spPr>
          <a:xfrm>
            <a:off x="4524375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FDECE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8B6B0A-0CFA-44EA-8E3E-29149EDBCD79}"/>
              </a:ext>
            </a:extLst>
          </p:cNvPr>
          <p:cNvSpPr>
            <a:spLocks noGrp="1"/>
          </p:cNvSpPr>
          <p:nvPr/>
        </p:nvSpPr>
        <p:spPr>
          <a:xfrm>
            <a:off x="4524375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B3CB7A-900E-4ECC-B292-0F6915A59484}"/>
              </a:ext>
            </a:extLst>
          </p:cNvPr>
          <p:cNvSpPr>
            <a:spLocks noGrp="1"/>
          </p:cNvSpPr>
          <p:nvPr/>
        </p:nvSpPr>
        <p:spPr>
          <a:xfrm>
            <a:off x="4772025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Защита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B408F4-0EA5-498F-89CF-269F5852202C}"/>
              </a:ext>
            </a:extLst>
          </p:cNvPr>
          <p:cNvSpPr>
            <a:spLocks noGrp="1"/>
          </p:cNvSpPr>
          <p:nvPr/>
        </p:nvSpPr>
        <p:spPr>
          <a:xfrm>
            <a:off x="4772025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Архивът пази състояние, към което можем да се върнем.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6B0ED35-4EE4-442C-B7FB-71C4D9E4DD92}"/>
              </a:ext>
            </a:extLst>
          </p:cNvPr>
          <p:cNvSpPr>
            <a:spLocks noGrp="1"/>
          </p:cNvSpPr>
          <p:nvPr/>
        </p:nvSpPr>
        <p:spPr>
          <a:xfrm>
            <a:off x="8362950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F68D584-28D1-4137-B89D-37BE35D50763}"/>
              </a:ext>
            </a:extLst>
          </p:cNvPr>
          <p:cNvSpPr>
            <a:spLocks noGrp="1"/>
          </p:cNvSpPr>
          <p:nvPr/>
        </p:nvSpPr>
        <p:spPr>
          <a:xfrm>
            <a:off x="8362950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1BFE0E-3348-4D69-BEC9-EAC5750740A6}"/>
              </a:ext>
            </a:extLst>
          </p:cNvPr>
          <p:cNvSpPr>
            <a:spLocks noGrp="1"/>
          </p:cNvSpPr>
          <p:nvPr/>
        </p:nvSpPr>
        <p:spPr>
          <a:xfrm>
            <a:off x="8610600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Контрол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8849E2-40D5-49D0-B37F-1640B3BE89A5}"/>
              </a:ext>
            </a:extLst>
          </p:cNvPr>
          <p:cNvSpPr>
            <a:spLocks noGrp="1"/>
          </p:cNvSpPr>
          <p:nvPr/>
        </p:nvSpPr>
        <p:spPr>
          <a:xfrm>
            <a:off x="8610600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Изтриването изисква проверка на името, връзките и архива.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5866CD-CDB0-438A-A53A-781E68676533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Предходни теми: БД и СУБД, типове данни, Query Editor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E06C4D-F58A-41E0-85CF-1923DA28091C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5984"/>
          </a:bodyPr>
          <a:lstStyle/>
          <a:p>
            <a:pPr algn="l">
              <a:buNone/>
              <a:defRPr sz="25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Днешният фокус е управление на самата база данни</a:t>
            </a:r>
          </a:p>
        </p:txBody>
      </p:sp>
    </p:spTree>
    <p:extLst>
      <p:ext uri="{BB962C8B-B14F-4D97-AF65-F5344CB8AC3E}">
        <p14:creationId xmlns:p14="http://schemas.microsoft.com/office/powerpoint/2010/main" val="2089107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8D90245-0955-47D6-A5A0-AC1557B6FE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918A7E-7AA5-4C7A-9FE5-A24748D2AE2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ЖИЗНЕН ЦИКЪЛ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6A46E5-C8E5-471A-AB6A-BE5CC3AE20A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Основни операции с база данни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E00D0E3-033C-4CB5-81AC-65FECCE616C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05B32A-D5EC-4E47-A43B-1EF4AE5346A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4422D8-2995-4E10-BB4D-E8D775733E10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A27324-9218-40DE-B2DC-5D78FD99253A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10820400" cy="1200150"/>
          </a:xfrm>
          <a:prstGeom prst="roundRect">
            <a:avLst>
              <a:gd name="adj" fmla="val 15873"/>
            </a:avLst>
          </a:prstGeom>
          <a:solidFill>
            <a:srgbClr val="EAF3FF"/>
          </a:solidFill>
          <a:ln w="9525">
            <a:solidFill>
              <a:srgbClr val="BFD8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44B20F-2AEC-41B2-9527-1253B1CBADFE}"/>
              </a:ext>
            </a:extLst>
          </p:cNvPr>
          <p:cNvSpPr>
            <a:spLocks noGrp="1"/>
          </p:cNvSpPr>
          <p:nvPr/>
        </p:nvSpPr>
        <p:spPr>
          <a:xfrm>
            <a:off x="990600" y="1924050"/>
            <a:ext cx="10210800" cy="819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Базата преминава през създаване, използване, защита и при нужда възстановяване.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45C23A-8293-495A-9BAA-111F60B20E26}"/>
              </a:ext>
            </a:extLst>
          </p:cNvPr>
          <p:cNvSpPr>
            <a:spLocks noGrp="1"/>
          </p:cNvSpPr>
          <p:nvPr/>
        </p:nvSpPr>
        <p:spPr>
          <a:xfrm>
            <a:off x="1524000" y="3524250"/>
            <a:ext cx="781050" cy="7810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DD973C-7B23-4D13-803D-854397A78991}"/>
              </a:ext>
            </a:extLst>
          </p:cNvPr>
          <p:cNvSpPr>
            <a:spLocks noGrp="1"/>
          </p:cNvSpPr>
          <p:nvPr/>
        </p:nvSpPr>
        <p:spPr>
          <a:xfrm>
            <a:off x="168592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FF4380-1E42-402D-A8AB-3066949EA539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СЪЗДАВАНЕ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7C316F-7513-44D3-83B7-E38CC633DE8C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нова празна база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9BA022-5A01-4A6F-B2A4-01A6CE680BB2}"/>
              </a:ext>
            </a:extLst>
          </p:cNvPr>
          <p:cNvSpPr>
            <a:spLocks noGrp="1"/>
          </p:cNvSpPr>
          <p:nvPr/>
        </p:nvSpPr>
        <p:spPr>
          <a:xfrm>
            <a:off x="4248150" y="3524250"/>
            <a:ext cx="781050" cy="7810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FD6930-DAF2-41F5-8961-1D00DD775133}"/>
              </a:ext>
            </a:extLst>
          </p:cNvPr>
          <p:cNvSpPr>
            <a:spLocks noGrp="1"/>
          </p:cNvSpPr>
          <p:nvPr/>
        </p:nvSpPr>
        <p:spPr>
          <a:xfrm>
            <a:off x="441007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1DF6F5-E22F-4435-B070-98601F875D3A}"/>
              </a:ext>
            </a:extLst>
          </p:cNvPr>
          <p:cNvSpPr>
            <a:spLocks noGrp="1"/>
          </p:cNvSpPr>
          <p:nvPr/>
        </p:nvSpPr>
        <p:spPr>
          <a:xfrm>
            <a:off x="340995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РАБОТА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72396F-CF1A-46E2-A539-05303D0A0A1E}"/>
              </a:ext>
            </a:extLst>
          </p:cNvPr>
          <p:cNvSpPr>
            <a:spLocks noGrp="1"/>
          </p:cNvSpPr>
          <p:nvPr/>
        </p:nvSpPr>
        <p:spPr>
          <a:xfrm>
            <a:off x="340995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таблици и записи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3EC7E72-1764-449C-B530-5F3F324BBDB0}"/>
              </a:ext>
            </a:extLst>
          </p:cNvPr>
          <p:cNvSpPr>
            <a:spLocks noGrp="1"/>
          </p:cNvSpPr>
          <p:nvPr/>
        </p:nvSpPr>
        <p:spPr>
          <a:xfrm>
            <a:off x="6972300" y="3524250"/>
            <a:ext cx="781050" cy="7810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BDB9A4-0285-4BE1-A1E9-00FDA4448D98}"/>
              </a:ext>
            </a:extLst>
          </p:cNvPr>
          <p:cNvSpPr>
            <a:spLocks noGrp="1"/>
          </p:cNvSpPr>
          <p:nvPr/>
        </p:nvSpPr>
        <p:spPr>
          <a:xfrm>
            <a:off x="713422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75A84F-84A1-40D8-B962-CF577D1856E6}"/>
              </a:ext>
            </a:extLst>
          </p:cNvPr>
          <p:cNvSpPr>
            <a:spLocks noGrp="1"/>
          </p:cNvSpPr>
          <p:nvPr/>
        </p:nvSpPr>
        <p:spPr>
          <a:xfrm>
            <a:off x="613410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АРХИВИРАНЕ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25AFDA-D012-4F24-80BF-8983266E4842}"/>
              </a:ext>
            </a:extLst>
          </p:cNvPr>
          <p:cNvSpPr>
            <a:spLocks noGrp="1"/>
          </p:cNvSpPr>
          <p:nvPr/>
        </p:nvSpPr>
        <p:spPr>
          <a:xfrm>
            <a:off x="613410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копие за възстановяване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B4EC101-D996-452B-8C87-57E6A3FF1C9C}"/>
              </a:ext>
            </a:extLst>
          </p:cNvPr>
          <p:cNvSpPr>
            <a:spLocks noGrp="1"/>
          </p:cNvSpPr>
          <p:nvPr/>
        </p:nvSpPr>
        <p:spPr>
          <a:xfrm>
            <a:off x="9696450" y="3524250"/>
            <a:ext cx="781050" cy="781050"/>
          </a:xfrm>
          <a:prstGeom prst="ellipse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B176A9-B409-422D-BF03-4A5B857F835F}"/>
              </a:ext>
            </a:extLst>
          </p:cNvPr>
          <p:cNvSpPr>
            <a:spLocks noGrp="1"/>
          </p:cNvSpPr>
          <p:nvPr/>
        </p:nvSpPr>
        <p:spPr>
          <a:xfrm>
            <a:off x="985837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804438-24B6-4A4D-BA0C-80B56CD64692}"/>
              </a:ext>
            </a:extLst>
          </p:cNvPr>
          <p:cNvSpPr>
            <a:spLocks noGrp="1"/>
          </p:cNvSpPr>
          <p:nvPr/>
        </p:nvSpPr>
        <p:spPr>
          <a:xfrm>
            <a:off x="885825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ВЪЗСТАНОВЯВАНЕ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215041-17B7-4BF2-8E26-625C24F59B91}"/>
              </a:ext>
            </a:extLst>
          </p:cNvPr>
          <p:cNvSpPr>
            <a:spLocks noGrp="1"/>
          </p:cNvSpPr>
          <p:nvPr/>
        </p:nvSpPr>
        <p:spPr>
          <a:xfrm>
            <a:off x="885825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връщане на състояние</a:t>
            </a:r>
          </a:p>
        </p:txBody>
      </p:sp>
    </p:spTree>
    <p:extLst>
      <p:ext uri="{BB962C8B-B14F-4D97-AF65-F5344CB8AC3E}">
        <p14:creationId xmlns:p14="http://schemas.microsoft.com/office/powerpoint/2010/main" val="339570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96AFABA-09FB-4594-A2E1-15C9195CE6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E5029D-AB21-45F2-B89D-A3D28088686D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КОМАНДИ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BA4006-7DEA-489C-8D6C-FBC1F29EF6F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Четири действия и техните команди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075890E-1114-42C8-BBA5-0126A33FC85C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0BF88-AAE4-41B7-B50C-F0408AE86B4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B8888D-518C-402F-9677-FFE1BB9CC003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B67247-549D-4949-83A8-DE5E07FFAA1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E104E1-A43E-453B-9C07-781A77C970F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4BA470-AD97-407C-8BED-67256F4E79D9}"/>
              </a:ext>
            </a:extLst>
          </p:cNvPr>
          <p:cNvSpPr>
            <a:spLocks noGrp="1"/>
          </p:cNvSpPr>
          <p:nvPr/>
        </p:nvSpPr>
        <p:spPr>
          <a:xfrm>
            <a:off x="933450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CREATE DATABASE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D613C4-F4CD-44D3-8678-69FF49358C13}"/>
              </a:ext>
            </a:extLst>
          </p:cNvPr>
          <p:cNvSpPr>
            <a:spLocks noGrp="1"/>
          </p:cNvSpPr>
          <p:nvPr/>
        </p:nvSpPr>
        <p:spPr>
          <a:xfrm>
            <a:off x="933450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Създава нова база и необходимите файлове.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4E8977-C93F-4385-9D4B-380FB2E587A1}"/>
              </a:ext>
            </a:extLst>
          </p:cNvPr>
          <p:cNvSpPr>
            <a:spLocks noGrp="1"/>
          </p:cNvSpPr>
          <p:nvPr/>
        </p:nvSpPr>
        <p:spPr>
          <a:xfrm>
            <a:off x="4524375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9CFBED1-AF6E-4D5E-98B9-48A51BDB4333}"/>
              </a:ext>
            </a:extLst>
          </p:cNvPr>
          <p:cNvSpPr>
            <a:spLocks noGrp="1"/>
          </p:cNvSpPr>
          <p:nvPr/>
        </p:nvSpPr>
        <p:spPr>
          <a:xfrm>
            <a:off x="4524375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F92BC4-A51E-4037-B21D-91AE65A56C9C}"/>
              </a:ext>
            </a:extLst>
          </p:cNvPr>
          <p:cNvSpPr>
            <a:spLocks noGrp="1"/>
          </p:cNvSpPr>
          <p:nvPr/>
        </p:nvSpPr>
        <p:spPr>
          <a:xfrm>
            <a:off x="4772025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BACKUP / RESTORE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037AC1-83BA-4B3F-BB82-76FCDD5D032D}"/>
              </a:ext>
            </a:extLst>
          </p:cNvPr>
          <p:cNvSpPr>
            <a:spLocks noGrp="1"/>
          </p:cNvSpPr>
          <p:nvPr/>
        </p:nvSpPr>
        <p:spPr>
          <a:xfrm>
            <a:off x="4772025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Запазва резервно копие и възстановява база от него.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FA33FA7-4D98-425F-B322-473939953D8C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2F3C26-4EA9-420B-9B3B-2FBAFB36FC88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C77AD9-8AF3-4F61-A366-5E41124D5FA6}"/>
              </a:ext>
            </a:extLst>
          </p:cNvPr>
          <p:cNvSpPr>
            <a:spLocks noGrp="1"/>
          </p:cNvSpPr>
          <p:nvPr/>
        </p:nvSpPr>
        <p:spPr>
          <a:xfrm>
            <a:off x="8610600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DROP DATABASE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8F55A5-24CD-4161-82E3-087417775854}"/>
              </a:ext>
            </a:extLst>
          </p:cNvPr>
          <p:cNvSpPr>
            <a:spLocks noGrp="1"/>
          </p:cNvSpPr>
          <p:nvPr/>
        </p:nvSpPr>
        <p:spPr>
          <a:xfrm>
            <a:off x="8610600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Премахва базата от SQL Server заедно с нейните файлове.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9693A557-C8C6-4AA5-BD25-D4A2AEDFBD87}"/>
              </a:ext>
            </a:extLst>
          </p:cNvPr>
          <p:cNvSpPr>
            <a:spLocks noGrp="1"/>
          </p:cNvSpPr>
          <p:nvPr/>
        </p:nvSpPr>
        <p:spPr>
          <a:xfrm>
            <a:off x="3829050" y="3124200"/>
            <a:ext cx="6667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F3C39AA-D12C-417F-B52B-A574DF77D078}"/>
              </a:ext>
            </a:extLst>
          </p:cNvPr>
          <p:cNvSpPr>
            <a:spLocks noGrp="1"/>
          </p:cNvSpPr>
          <p:nvPr/>
        </p:nvSpPr>
        <p:spPr>
          <a:xfrm rot="5400000">
            <a:off x="4400550" y="30575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897A3A79-60F0-4B3A-984C-FC83BF71E537}"/>
              </a:ext>
            </a:extLst>
          </p:cNvPr>
          <p:cNvSpPr>
            <a:spLocks noGrp="1"/>
          </p:cNvSpPr>
          <p:nvPr/>
        </p:nvSpPr>
        <p:spPr>
          <a:xfrm>
            <a:off x="7667625" y="3124200"/>
            <a:ext cx="6667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507C7688-E64D-4758-B98E-6F45FCBB243A}"/>
              </a:ext>
            </a:extLst>
          </p:cNvPr>
          <p:cNvSpPr>
            <a:spLocks noGrp="1"/>
          </p:cNvSpPr>
          <p:nvPr/>
        </p:nvSpPr>
        <p:spPr>
          <a:xfrm rot="5400000">
            <a:off x="8239125" y="30575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477B21-1D9F-4038-9B1B-97E64A0342FC}"/>
              </a:ext>
            </a:extLst>
          </p:cNvPr>
          <p:cNvSpPr>
            <a:spLocks noGrp="1"/>
          </p:cNvSpPr>
          <p:nvPr/>
        </p:nvSpPr>
        <p:spPr>
          <a:xfrm>
            <a:off x="1800225" y="4905375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структура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067249-EAF5-4C0A-92C6-C47BBA65AA65}"/>
              </a:ext>
            </a:extLst>
          </p:cNvPr>
          <p:cNvSpPr>
            <a:spLocks noGrp="1"/>
          </p:cNvSpPr>
          <p:nvPr/>
        </p:nvSpPr>
        <p:spPr>
          <a:xfrm>
            <a:off x="5572125" y="49053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защита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2F8027-B7E6-421C-A0A1-8BA275FCC629}"/>
              </a:ext>
            </a:extLst>
          </p:cNvPr>
          <p:cNvSpPr>
            <a:spLocks noGrp="1"/>
          </p:cNvSpPr>
          <p:nvPr/>
        </p:nvSpPr>
        <p:spPr>
          <a:xfrm>
            <a:off x="9410700" y="49053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премахване</a:t>
            </a:r>
          </a:p>
        </p:txBody>
      </p:sp>
    </p:spTree>
    <p:extLst>
      <p:ext uri="{BB962C8B-B14F-4D97-AF65-F5344CB8AC3E}">
        <p14:creationId xmlns:p14="http://schemas.microsoft.com/office/powerpoint/2010/main" val="1890811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9E0E543-EEC2-49B6-9187-E5924A4FFC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DEE03-04D1-4CC6-82EF-0C7E60A7B2D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ПОСЛЕДОВАТЕЛНОСТ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24EA61-B51A-4B22-84D7-694D8CB4A89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Безопасен ред на действията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31186E0-346C-4944-B0B4-4399D4BFA3B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AED218-29C1-4608-8917-7306498D6F1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26F0A-D403-40C8-8D06-89E2FEBF3C6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D7108F-3AEF-48DB-B326-D9C97F5A0EB1}"/>
              </a:ext>
            </a:extLst>
          </p:cNvPr>
          <p:cNvSpPr>
            <a:spLocks noGrp="1"/>
          </p:cNvSpPr>
          <p:nvPr/>
        </p:nvSpPr>
        <p:spPr>
          <a:xfrm>
            <a:off x="428625" y="2333625"/>
            <a:ext cx="2381250" cy="1428750"/>
          </a:xfrm>
          <a:prstGeom prst="roundRect">
            <a:avLst>
              <a:gd name="adj" fmla="val 14667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E738E2-0C4F-4C87-B96D-F09DC7095016}"/>
              </a:ext>
            </a:extLst>
          </p:cNvPr>
          <p:cNvSpPr>
            <a:spLocks noGrp="1"/>
          </p:cNvSpPr>
          <p:nvPr/>
        </p:nvSpPr>
        <p:spPr>
          <a:xfrm>
            <a:off x="542925" y="257175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CREATE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389C4C-2AD9-42F9-A2E6-0083D21F4D65}"/>
              </a:ext>
            </a:extLst>
          </p:cNvPr>
          <p:cNvSpPr>
            <a:spLocks noGrp="1"/>
          </p:cNvSpPr>
          <p:nvPr/>
        </p:nvSpPr>
        <p:spPr>
          <a:xfrm>
            <a:off x="542925" y="304800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8954" lnSpcReduction="20000"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създаваме учебна база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E5C9C975-D39C-45AE-83A5-F1CE1CA80901}"/>
              </a:ext>
            </a:extLst>
          </p:cNvPr>
          <p:cNvSpPr>
            <a:spLocks noGrp="1"/>
          </p:cNvSpPr>
          <p:nvPr/>
        </p:nvSpPr>
        <p:spPr>
          <a:xfrm>
            <a:off x="288607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B4FBED07-6F40-4B28-97AB-526C9A72F52A}"/>
              </a:ext>
            </a:extLst>
          </p:cNvPr>
          <p:cNvSpPr>
            <a:spLocks noGrp="1"/>
          </p:cNvSpPr>
          <p:nvPr/>
        </p:nvSpPr>
        <p:spPr>
          <a:xfrm rot="5400000">
            <a:off x="319087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BA2868-195E-4724-827B-9DBBAA2624A2}"/>
              </a:ext>
            </a:extLst>
          </p:cNvPr>
          <p:cNvSpPr>
            <a:spLocks noGrp="1"/>
          </p:cNvSpPr>
          <p:nvPr/>
        </p:nvSpPr>
        <p:spPr>
          <a:xfrm>
            <a:off x="3362325" y="2333625"/>
            <a:ext cx="2095500" cy="1428750"/>
          </a:xfrm>
          <a:prstGeom prst="roundRect">
            <a:avLst>
              <a:gd name="adj" fmla="val 14667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29655C-BBD7-410F-AD84-267A416D68CD}"/>
              </a:ext>
            </a:extLst>
          </p:cNvPr>
          <p:cNvSpPr>
            <a:spLocks noGrp="1"/>
          </p:cNvSpPr>
          <p:nvPr/>
        </p:nvSpPr>
        <p:spPr>
          <a:xfrm>
            <a:off x="3476625" y="257175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USE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D72160-D9A5-49D2-B429-14FD00B11A3C}"/>
              </a:ext>
            </a:extLst>
          </p:cNvPr>
          <p:cNvSpPr>
            <a:spLocks noGrp="1"/>
          </p:cNvSpPr>
          <p:nvPr/>
        </p:nvSpPr>
        <p:spPr>
          <a:xfrm>
            <a:off x="3476625" y="304800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9567" lnSpcReduction="20000"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избираме контекста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0911435D-EFBE-495C-A4C1-6FF7059F4100}"/>
              </a:ext>
            </a:extLst>
          </p:cNvPr>
          <p:cNvSpPr>
            <a:spLocks noGrp="1"/>
          </p:cNvSpPr>
          <p:nvPr/>
        </p:nvSpPr>
        <p:spPr>
          <a:xfrm>
            <a:off x="553402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4DE49E20-B286-43AF-8D08-9F43845AEFAC}"/>
              </a:ext>
            </a:extLst>
          </p:cNvPr>
          <p:cNvSpPr>
            <a:spLocks noGrp="1"/>
          </p:cNvSpPr>
          <p:nvPr/>
        </p:nvSpPr>
        <p:spPr>
          <a:xfrm rot="5400000">
            <a:off x="583882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83F8F2B-3F52-45D9-803B-6F38E62BA0F5}"/>
              </a:ext>
            </a:extLst>
          </p:cNvPr>
          <p:cNvSpPr>
            <a:spLocks noGrp="1"/>
          </p:cNvSpPr>
          <p:nvPr/>
        </p:nvSpPr>
        <p:spPr>
          <a:xfrm>
            <a:off x="6010275" y="2333625"/>
            <a:ext cx="2095500" cy="1428750"/>
          </a:xfrm>
          <a:prstGeom prst="roundRect">
            <a:avLst>
              <a:gd name="adj" fmla="val 14667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CB2A6A-3BB4-4890-BA1E-8EC154A231F7}"/>
              </a:ext>
            </a:extLst>
          </p:cNvPr>
          <p:cNvSpPr>
            <a:spLocks noGrp="1"/>
          </p:cNvSpPr>
          <p:nvPr/>
        </p:nvSpPr>
        <p:spPr>
          <a:xfrm>
            <a:off x="6124575" y="257175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BACKUP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D95FEE-79BE-47E8-9D3F-29E4410435CA}"/>
              </a:ext>
            </a:extLst>
          </p:cNvPr>
          <p:cNvSpPr>
            <a:spLocks noGrp="1"/>
          </p:cNvSpPr>
          <p:nvPr/>
        </p:nvSpPr>
        <p:spPr>
          <a:xfrm>
            <a:off x="6124575" y="304800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1594" lnSpcReduction="10000"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запазваме работещо състояние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C4233C7A-E42F-4952-A52D-BA4DF5F6FCA5}"/>
              </a:ext>
            </a:extLst>
          </p:cNvPr>
          <p:cNvSpPr>
            <a:spLocks noGrp="1"/>
          </p:cNvSpPr>
          <p:nvPr/>
        </p:nvSpPr>
        <p:spPr>
          <a:xfrm>
            <a:off x="818197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639F134-BB8A-463A-AD9F-2E85522454F0}"/>
              </a:ext>
            </a:extLst>
          </p:cNvPr>
          <p:cNvSpPr>
            <a:spLocks noGrp="1"/>
          </p:cNvSpPr>
          <p:nvPr/>
        </p:nvSpPr>
        <p:spPr>
          <a:xfrm rot="5400000">
            <a:off x="848677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E5DED61-9B19-4215-A9D5-198134054338}"/>
              </a:ext>
            </a:extLst>
          </p:cNvPr>
          <p:cNvSpPr>
            <a:spLocks noGrp="1"/>
          </p:cNvSpPr>
          <p:nvPr/>
        </p:nvSpPr>
        <p:spPr>
          <a:xfrm>
            <a:off x="8658225" y="2333625"/>
            <a:ext cx="2381250" cy="1428750"/>
          </a:xfrm>
          <a:prstGeom prst="roundRect">
            <a:avLst>
              <a:gd name="adj" fmla="val 1466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9F4ADB-1200-4EE9-BAF4-F203EA7BBC00}"/>
              </a:ext>
            </a:extLst>
          </p:cNvPr>
          <p:cNvSpPr>
            <a:spLocks noGrp="1"/>
          </p:cNvSpPr>
          <p:nvPr/>
        </p:nvSpPr>
        <p:spPr>
          <a:xfrm>
            <a:off x="8772525" y="257175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 RESTORE / DROP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739B05-F425-46D9-BC3B-BA680A53F1A6}"/>
              </a:ext>
            </a:extLst>
          </p:cNvPr>
          <p:cNvSpPr>
            <a:spLocks noGrp="1"/>
          </p:cNvSpPr>
          <p:nvPr/>
        </p:nvSpPr>
        <p:spPr>
          <a:xfrm>
            <a:off x="8772525" y="304800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1594" lnSpcReduction="10000"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възстановяваме или премахваме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96BF78-30E0-4D47-9005-11A049180E05}"/>
              </a:ext>
            </a:extLst>
          </p:cNvPr>
          <p:cNvSpPr>
            <a:spLocks noGrp="1"/>
          </p:cNvSpPr>
          <p:nvPr/>
        </p:nvSpPr>
        <p:spPr>
          <a:xfrm>
            <a:off x="1143000" y="4572000"/>
            <a:ext cx="9906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Преди необратима операция проверяваме името на базата и наличния архив.</a:t>
            </a:r>
          </a:p>
        </p:txBody>
      </p:sp>
    </p:spTree>
    <p:extLst>
      <p:ext uri="{BB962C8B-B14F-4D97-AF65-F5344CB8AC3E}">
        <p14:creationId xmlns:p14="http://schemas.microsoft.com/office/powerpoint/2010/main" val="289420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6C17A8A9-E0F2-4239-9767-544883F54A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FE5FCE-5E46-4F79-BF96-6638B14BDE8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СРАВНЕНИЕ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098536-E28F-4524-B0A4-30AB0DD8309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Ефект на основните операции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D381E4A-55AD-4695-ABFC-65EF6A2F7DC5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6F5D94-2FC1-4D02-87CA-A0A61E4914E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44956D-4140-456E-885F-9DB698C75D5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524CF3-AFDA-4EF2-A12A-77425F0C6270}"/>
              </a:ext>
            </a:extLst>
          </p:cNvPr>
          <p:cNvSpPr>
            <a:spLocks noGrp="1"/>
          </p:cNvSpPr>
          <p:nvPr/>
        </p:nvSpPr>
        <p:spPr>
          <a:xfrm>
            <a:off x="1143000" y="1905000"/>
            <a:ext cx="114300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8C5859-FBCA-40DE-9BAF-8EEDF2B45028}"/>
              </a:ext>
            </a:extLst>
          </p:cNvPr>
          <p:cNvSpPr>
            <a:spLocks noGrp="1"/>
          </p:cNvSpPr>
          <p:nvPr/>
        </p:nvSpPr>
        <p:spPr>
          <a:xfrm>
            <a:off x="1181100" y="1943100"/>
            <a:ext cx="10668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Операция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33A1C0-41FB-493C-BC74-2E1456F58311}"/>
              </a:ext>
            </a:extLst>
          </p:cNvPr>
          <p:cNvSpPr>
            <a:spLocks noGrp="1"/>
          </p:cNvSpPr>
          <p:nvPr/>
        </p:nvSpPr>
        <p:spPr>
          <a:xfrm>
            <a:off x="2286000" y="1905000"/>
            <a:ext cx="342900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AB225A-6476-41B0-9756-A6910A740F08}"/>
              </a:ext>
            </a:extLst>
          </p:cNvPr>
          <p:cNvSpPr>
            <a:spLocks noGrp="1"/>
          </p:cNvSpPr>
          <p:nvPr/>
        </p:nvSpPr>
        <p:spPr>
          <a:xfrm>
            <a:off x="2324100" y="1943100"/>
            <a:ext cx="33528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Команда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D4E12F-31FA-470A-BD9B-AF9A24D63F5D}"/>
              </a:ext>
            </a:extLst>
          </p:cNvPr>
          <p:cNvSpPr>
            <a:spLocks noGrp="1"/>
          </p:cNvSpPr>
          <p:nvPr/>
        </p:nvSpPr>
        <p:spPr>
          <a:xfrm>
            <a:off x="5715000" y="1905000"/>
            <a:ext cx="238125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0085C4-F433-41B3-B58A-0B5C8A8BB6BA}"/>
              </a:ext>
            </a:extLst>
          </p:cNvPr>
          <p:cNvSpPr>
            <a:spLocks noGrp="1"/>
          </p:cNvSpPr>
          <p:nvPr/>
        </p:nvSpPr>
        <p:spPr>
          <a:xfrm>
            <a:off x="5753100" y="1943100"/>
            <a:ext cx="23050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Резултат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99A8D-7E4C-4814-9E63-B0EA238C7D77}"/>
              </a:ext>
            </a:extLst>
          </p:cNvPr>
          <p:cNvSpPr>
            <a:spLocks noGrp="1"/>
          </p:cNvSpPr>
          <p:nvPr/>
        </p:nvSpPr>
        <p:spPr>
          <a:xfrm>
            <a:off x="8096250" y="1905000"/>
            <a:ext cx="171450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2640A-370B-4194-A7C2-98CC41E46738}"/>
              </a:ext>
            </a:extLst>
          </p:cNvPr>
          <p:cNvSpPr>
            <a:spLocks noGrp="1"/>
          </p:cNvSpPr>
          <p:nvPr/>
        </p:nvSpPr>
        <p:spPr>
          <a:xfrm>
            <a:off x="8134350" y="1943100"/>
            <a:ext cx="16383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Риск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EFE202-38B2-4F61-9EDF-3B361DDBF9FA}"/>
              </a:ext>
            </a:extLst>
          </p:cNvPr>
          <p:cNvSpPr>
            <a:spLocks noGrp="1"/>
          </p:cNvSpPr>
          <p:nvPr/>
        </p:nvSpPr>
        <p:spPr>
          <a:xfrm>
            <a:off x="1143000" y="2438400"/>
            <a:ext cx="1143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008404-523E-4C34-B386-C98A3C38E67C}"/>
              </a:ext>
            </a:extLst>
          </p:cNvPr>
          <p:cNvSpPr>
            <a:spLocks noGrp="1"/>
          </p:cNvSpPr>
          <p:nvPr/>
        </p:nvSpPr>
        <p:spPr>
          <a:xfrm>
            <a:off x="1200150" y="248602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Създаване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C99144-FC53-4DC5-8ED4-1167B411F6D6}"/>
              </a:ext>
            </a:extLst>
          </p:cNvPr>
          <p:cNvSpPr>
            <a:spLocks noGrp="1"/>
          </p:cNvSpPr>
          <p:nvPr/>
        </p:nvSpPr>
        <p:spPr>
          <a:xfrm>
            <a:off x="2286000" y="2438400"/>
            <a:ext cx="342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BE34BF-7A85-4A61-91EC-4B53E7E3151F}"/>
              </a:ext>
            </a:extLst>
          </p:cNvPr>
          <p:cNvSpPr>
            <a:spLocks noGrp="1"/>
          </p:cNvSpPr>
          <p:nvPr/>
        </p:nvSpPr>
        <p:spPr>
          <a:xfrm>
            <a:off x="2343150" y="248602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CREATE DATABASE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16EAA-B11B-4F36-9E45-0E77B6EF206A}"/>
              </a:ext>
            </a:extLst>
          </p:cNvPr>
          <p:cNvSpPr>
            <a:spLocks noGrp="1"/>
          </p:cNvSpPr>
          <p:nvPr/>
        </p:nvSpPr>
        <p:spPr>
          <a:xfrm>
            <a:off x="5715000" y="2438400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B367EF-B430-449D-B410-4C3A559D9F95}"/>
              </a:ext>
            </a:extLst>
          </p:cNvPr>
          <p:cNvSpPr>
            <a:spLocks noGrp="1"/>
          </p:cNvSpPr>
          <p:nvPr/>
        </p:nvSpPr>
        <p:spPr>
          <a:xfrm>
            <a:off x="5772150" y="248602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нова празна база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A7A96E-5AC7-464A-AE86-C5878AA5E282}"/>
              </a:ext>
            </a:extLst>
          </p:cNvPr>
          <p:cNvSpPr>
            <a:spLocks noGrp="1"/>
          </p:cNvSpPr>
          <p:nvPr/>
        </p:nvSpPr>
        <p:spPr>
          <a:xfrm>
            <a:off x="8096250" y="24384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4D38D3-5BCB-4053-AEC5-6C7EB7BC3540}"/>
              </a:ext>
            </a:extLst>
          </p:cNvPr>
          <p:cNvSpPr>
            <a:spLocks noGrp="1"/>
          </p:cNvSpPr>
          <p:nvPr/>
        </p:nvSpPr>
        <p:spPr>
          <a:xfrm>
            <a:off x="8153400" y="2486025"/>
            <a:ext cx="16002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7222"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неправилни настройки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7AF2F7-C546-4EEC-9059-8F07AF8F662B}"/>
              </a:ext>
            </a:extLst>
          </p:cNvPr>
          <p:cNvSpPr>
            <a:spLocks noGrp="1"/>
          </p:cNvSpPr>
          <p:nvPr/>
        </p:nvSpPr>
        <p:spPr>
          <a:xfrm>
            <a:off x="1143000" y="2990850"/>
            <a:ext cx="114300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CDA5D5-54C4-493B-89AC-21A95898D070}"/>
              </a:ext>
            </a:extLst>
          </p:cNvPr>
          <p:cNvSpPr>
            <a:spLocks noGrp="1"/>
          </p:cNvSpPr>
          <p:nvPr/>
        </p:nvSpPr>
        <p:spPr>
          <a:xfrm>
            <a:off x="1200150" y="303847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9131"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Архивиране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6DCFA1-A699-4D21-9265-4C6C0851EE50}"/>
              </a:ext>
            </a:extLst>
          </p:cNvPr>
          <p:cNvSpPr>
            <a:spLocks noGrp="1"/>
          </p:cNvSpPr>
          <p:nvPr/>
        </p:nvSpPr>
        <p:spPr>
          <a:xfrm>
            <a:off x="2286000" y="2990850"/>
            <a:ext cx="342900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63BF4-4BC7-496F-B637-DE1AF010EDF9}"/>
              </a:ext>
            </a:extLst>
          </p:cNvPr>
          <p:cNvSpPr>
            <a:spLocks noGrp="1"/>
          </p:cNvSpPr>
          <p:nvPr/>
        </p:nvSpPr>
        <p:spPr>
          <a:xfrm>
            <a:off x="2343150" y="303847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BACKUP DATABASE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CF9D60-9F87-421A-BADE-504B4B2A1D83}"/>
              </a:ext>
            </a:extLst>
          </p:cNvPr>
          <p:cNvSpPr>
            <a:spLocks noGrp="1"/>
          </p:cNvSpPr>
          <p:nvPr/>
        </p:nvSpPr>
        <p:spPr>
          <a:xfrm>
            <a:off x="5715000" y="2990850"/>
            <a:ext cx="238125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6DC4780-46ED-476C-AE12-D7CC5EE714BF}"/>
              </a:ext>
            </a:extLst>
          </p:cNvPr>
          <p:cNvSpPr>
            <a:spLocks noGrp="1"/>
          </p:cNvSpPr>
          <p:nvPr/>
        </p:nvSpPr>
        <p:spPr>
          <a:xfrm>
            <a:off x="5772150" y="303847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резервно копие .bak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D4D325-3478-44E3-8A00-7390086B5E69}"/>
              </a:ext>
            </a:extLst>
          </p:cNvPr>
          <p:cNvSpPr>
            <a:spLocks noGrp="1"/>
          </p:cNvSpPr>
          <p:nvPr/>
        </p:nvSpPr>
        <p:spPr>
          <a:xfrm>
            <a:off x="8096250" y="2990850"/>
            <a:ext cx="171450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FB7FF2-56AE-4D60-83D5-75AB5940F35F}"/>
              </a:ext>
            </a:extLst>
          </p:cNvPr>
          <p:cNvSpPr>
            <a:spLocks noGrp="1"/>
          </p:cNvSpPr>
          <p:nvPr/>
        </p:nvSpPr>
        <p:spPr>
          <a:xfrm>
            <a:off x="8153400" y="3038475"/>
            <a:ext cx="16002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невалиден път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E5DA04-6678-4A0E-A991-4ECF4A665E16}"/>
              </a:ext>
            </a:extLst>
          </p:cNvPr>
          <p:cNvSpPr>
            <a:spLocks noGrp="1"/>
          </p:cNvSpPr>
          <p:nvPr/>
        </p:nvSpPr>
        <p:spPr>
          <a:xfrm>
            <a:off x="1143000" y="3543300"/>
            <a:ext cx="1143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C1E474-E71B-47AE-A3AA-CF1836947D83}"/>
              </a:ext>
            </a:extLst>
          </p:cNvPr>
          <p:cNvSpPr>
            <a:spLocks noGrp="1"/>
          </p:cNvSpPr>
          <p:nvPr/>
        </p:nvSpPr>
        <p:spPr>
          <a:xfrm>
            <a:off x="1200150" y="359092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Изтриване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B6D821-3038-4AAA-B9B1-B907F7EE031E}"/>
              </a:ext>
            </a:extLst>
          </p:cNvPr>
          <p:cNvSpPr>
            <a:spLocks noGrp="1"/>
          </p:cNvSpPr>
          <p:nvPr/>
        </p:nvSpPr>
        <p:spPr>
          <a:xfrm>
            <a:off x="2286000" y="3543300"/>
            <a:ext cx="342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8E1E2DC-6FD5-407C-A9B0-04EA7D7864F8}"/>
              </a:ext>
            </a:extLst>
          </p:cNvPr>
          <p:cNvSpPr>
            <a:spLocks noGrp="1"/>
          </p:cNvSpPr>
          <p:nvPr/>
        </p:nvSpPr>
        <p:spPr>
          <a:xfrm>
            <a:off x="2343150" y="359092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DROP DATABASE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439EE1-9B2C-4062-BE7B-D81F898CDBE7}"/>
              </a:ext>
            </a:extLst>
          </p:cNvPr>
          <p:cNvSpPr>
            <a:spLocks noGrp="1"/>
          </p:cNvSpPr>
          <p:nvPr/>
        </p:nvSpPr>
        <p:spPr>
          <a:xfrm>
            <a:off x="5715000" y="3543300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A62EF4-28F6-4A1B-B19C-3BB056CB0E73}"/>
              </a:ext>
            </a:extLst>
          </p:cNvPr>
          <p:cNvSpPr>
            <a:spLocks noGrp="1"/>
          </p:cNvSpPr>
          <p:nvPr/>
        </p:nvSpPr>
        <p:spPr>
          <a:xfrm>
            <a:off x="5772150" y="359092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базата се премахва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3D1C0B-C9D4-4310-9C36-20AA89718FE6}"/>
              </a:ext>
            </a:extLst>
          </p:cNvPr>
          <p:cNvSpPr>
            <a:spLocks noGrp="1"/>
          </p:cNvSpPr>
          <p:nvPr/>
        </p:nvSpPr>
        <p:spPr>
          <a:xfrm>
            <a:off x="8096250" y="3543681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pPr algn="ctr"/>
            <a:endParaRPr lang="en-GB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30CAC24-5E7B-4C13-B6CC-195F5407270A}"/>
              </a:ext>
            </a:extLst>
          </p:cNvPr>
          <p:cNvSpPr>
            <a:spLocks noGrp="1"/>
          </p:cNvSpPr>
          <p:nvPr/>
        </p:nvSpPr>
        <p:spPr>
          <a:xfrm>
            <a:off x="8153400" y="3590925"/>
            <a:ext cx="16573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1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125" b="0" dirty="0" err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загуба</a:t>
            </a:r>
            <a:r>
              <a:rPr sz="1125" b="0" dirty="0">
                <a:solidFill>
                  <a:srgbClr val="172B4D"/>
                </a:solidFill>
                <a:latin typeface="Arial"/>
                <a:ea typeface="Arial"/>
                <a:cs typeface="Arial"/>
              </a:rPr>
              <a:t> на данни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2C65D4-28D4-4B31-B539-0A96DD6C2A51}"/>
              </a:ext>
            </a:extLst>
          </p:cNvPr>
          <p:cNvSpPr>
            <a:spLocks noGrp="1"/>
          </p:cNvSpPr>
          <p:nvPr/>
        </p:nvSpPr>
        <p:spPr>
          <a:xfrm>
            <a:off x="8410575" y="1657350"/>
            <a:ext cx="1085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42700B-53CD-4F90-99A8-ADAE11CA2151}"/>
              </a:ext>
            </a:extLst>
          </p:cNvPr>
          <p:cNvSpPr>
            <a:spLocks noGrp="1"/>
          </p:cNvSpPr>
          <p:nvPr/>
        </p:nvSpPr>
        <p:spPr>
          <a:xfrm>
            <a:off x="8982075" y="365760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A642407-3E2F-4A98-B2B6-3C8A27DF1128}"/>
              </a:ext>
            </a:extLst>
          </p:cNvPr>
          <p:cNvSpPr>
            <a:spLocks noGrp="1"/>
          </p:cNvSpPr>
          <p:nvPr/>
        </p:nvSpPr>
        <p:spPr>
          <a:xfrm>
            <a:off x="2000250" y="4953000"/>
            <a:ext cx="8191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RESTORE връща база от валиден архив</a:t>
            </a:r>
          </a:p>
        </p:txBody>
      </p:sp>
    </p:spTree>
    <p:extLst>
      <p:ext uri="{BB962C8B-B14F-4D97-AF65-F5344CB8AC3E}">
        <p14:creationId xmlns:p14="http://schemas.microsoft.com/office/powerpoint/2010/main" val="36960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A383134-BA80-443B-A05F-C5BEFAEBC2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D79D16-880E-4304-8EBE-690858CD353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БЪРЗ ИЗБОР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23D515-28CF-4A81-A57D-C8B2B65A43D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Коя операция е необходима?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D10F3E8-DB1A-4E24-B76A-9DC5BCDCD177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35DA83-EDC2-4457-A7EC-1857C4E9DBA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FB1F6A-2279-46DC-B912-6DDF3875AF0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9040D6-7CC0-4DD2-8039-4C91C89787D3}"/>
              </a:ext>
            </a:extLst>
          </p:cNvPr>
          <p:cNvSpPr>
            <a:spLocks noGrp="1"/>
          </p:cNvSpPr>
          <p:nvPr/>
        </p:nvSpPr>
        <p:spPr>
          <a:xfrm>
            <a:off x="952500" y="1666875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1B48C3-3D00-41C9-9B79-61D66A7C9A06}"/>
              </a:ext>
            </a:extLst>
          </p:cNvPr>
          <p:cNvSpPr>
            <a:spLocks noGrp="1"/>
          </p:cNvSpPr>
          <p:nvPr/>
        </p:nvSpPr>
        <p:spPr>
          <a:xfrm>
            <a:off x="1143000" y="1743075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Нова учебна база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D11C338-4882-4E3C-B0A1-DD31C7C96553}"/>
              </a:ext>
            </a:extLst>
          </p:cNvPr>
          <p:cNvSpPr>
            <a:spLocks noGrp="1"/>
          </p:cNvSpPr>
          <p:nvPr/>
        </p:nvSpPr>
        <p:spPr>
          <a:xfrm>
            <a:off x="5524500" y="1981200"/>
            <a:ext cx="857250" cy="9525"/>
          </a:xfrm>
          <a:prstGeom prst="line">
            <a:avLst/>
          </a:prstGeom>
          <a:noFill/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B787F93E-F9D3-4504-9F7A-3C5E5ADC0B2B}"/>
              </a:ext>
            </a:extLst>
          </p:cNvPr>
          <p:cNvSpPr>
            <a:spLocks noGrp="1"/>
          </p:cNvSpPr>
          <p:nvPr/>
        </p:nvSpPr>
        <p:spPr>
          <a:xfrm rot="5400000">
            <a:off x="6286500" y="1914525"/>
            <a:ext cx="133350" cy="133350"/>
          </a:xfrm>
          <a:prstGeom prst="triangle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509307-62C1-4845-B829-8717C4728D97}"/>
              </a:ext>
            </a:extLst>
          </p:cNvPr>
          <p:cNvSpPr>
            <a:spLocks noGrp="1"/>
          </p:cNvSpPr>
          <p:nvPr/>
        </p:nvSpPr>
        <p:spPr>
          <a:xfrm>
            <a:off x="6667500" y="1666875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17AD33-A386-4694-A893-B66592398F9B}"/>
              </a:ext>
            </a:extLst>
          </p:cNvPr>
          <p:cNvSpPr>
            <a:spLocks noGrp="1"/>
          </p:cNvSpPr>
          <p:nvPr/>
        </p:nvSpPr>
        <p:spPr>
          <a:xfrm>
            <a:off x="6858000" y="1743075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677FF"/>
                </a:solidFill>
                <a:latin typeface="Arial"/>
                <a:ea typeface="Arial"/>
                <a:cs typeface="Arial"/>
              </a:rPr>
              <a:t>CREATE DATABASE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AA40BA-7CE2-4981-9E52-24D52AE36285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0B09F-4165-4EFB-A80D-87E8AD8A198B}"/>
              </a:ext>
            </a:extLst>
          </p:cNvPr>
          <p:cNvSpPr>
            <a:spLocks noGrp="1"/>
          </p:cNvSpPr>
          <p:nvPr/>
        </p:nvSpPr>
        <p:spPr>
          <a:xfrm>
            <a:off x="1143000" y="264795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Запазване преди промяна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FD28AA9-0485-42DF-A78D-AA8FD198D6D2}"/>
              </a:ext>
            </a:extLst>
          </p:cNvPr>
          <p:cNvSpPr>
            <a:spLocks noGrp="1"/>
          </p:cNvSpPr>
          <p:nvPr/>
        </p:nvSpPr>
        <p:spPr>
          <a:xfrm>
            <a:off x="5524500" y="2886075"/>
            <a:ext cx="857250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0525645-FB5F-4C24-8B03-8F9AB1EB1BAE}"/>
              </a:ext>
            </a:extLst>
          </p:cNvPr>
          <p:cNvSpPr>
            <a:spLocks noGrp="1"/>
          </p:cNvSpPr>
          <p:nvPr/>
        </p:nvSpPr>
        <p:spPr>
          <a:xfrm rot="5400000">
            <a:off x="6286500" y="2819400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17A490-DC7A-448E-A7FB-5AAB7E224717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8FAF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B2931A-3745-46F2-9422-DAC16AE91C8E}"/>
              </a:ext>
            </a:extLst>
          </p:cNvPr>
          <p:cNvSpPr>
            <a:spLocks noGrp="1"/>
          </p:cNvSpPr>
          <p:nvPr/>
        </p:nvSpPr>
        <p:spPr>
          <a:xfrm>
            <a:off x="6858000" y="264795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00A6A6"/>
                </a:solidFill>
                <a:latin typeface="Arial"/>
                <a:ea typeface="Arial"/>
                <a:cs typeface="Arial"/>
              </a:rPr>
              <a:t>BACKUP DATABASE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51A78F-B237-4ADF-BB36-EB4DEE14412F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39A27C-C3BF-4955-B786-83D27E289AE2}"/>
              </a:ext>
            </a:extLst>
          </p:cNvPr>
          <p:cNvSpPr>
            <a:spLocks noGrp="1"/>
          </p:cNvSpPr>
          <p:nvPr/>
        </p:nvSpPr>
        <p:spPr>
          <a:xfrm>
            <a:off x="1143000" y="3552825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Връщане след повреда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2536E37-AF81-4DB6-8F16-5CA9B60E3CAB}"/>
              </a:ext>
            </a:extLst>
          </p:cNvPr>
          <p:cNvSpPr>
            <a:spLocks noGrp="1"/>
          </p:cNvSpPr>
          <p:nvPr/>
        </p:nvSpPr>
        <p:spPr>
          <a:xfrm>
            <a:off x="5524500" y="3790950"/>
            <a:ext cx="857250" cy="9525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07749DE-B774-447E-B9F5-AB66CFB74793}"/>
              </a:ext>
            </a:extLst>
          </p:cNvPr>
          <p:cNvSpPr>
            <a:spLocks noGrp="1"/>
          </p:cNvSpPr>
          <p:nvPr/>
        </p:nvSpPr>
        <p:spPr>
          <a:xfrm rot="5400000">
            <a:off x="6286500" y="3724275"/>
            <a:ext cx="133350" cy="133350"/>
          </a:xfrm>
          <a:prstGeom prst="triangl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B4B26C-D431-451A-8C5A-53AABEDC3058}"/>
              </a:ext>
            </a:extLst>
          </p:cNvPr>
          <p:cNvSpPr>
            <a:spLocks noGrp="1"/>
          </p:cNvSpPr>
          <p:nvPr/>
        </p:nvSpPr>
        <p:spPr>
          <a:xfrm>
            <a:off x="6667500" y="3476625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FFF5D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90379C-4A56-415C-A767-42F2972FC92A}"/>
              </a:ext>
            </a:extLst>
          </p:cNvPr>
          <p:cNvSpPr>
            <a:spLocks noGrp="1"/>
          </p:cNvSpPr>
          <p:nvPr/>
        </p:nvSpPr>
        <p:spPr>
          <a:xfrm>
            <a:off x="6858000" y="3552825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F59E0B"/>
                </a:solidFill>
                <a:latin typeface="Arial"/>
                <a:ea typeface="Arial"/>
                <a:cs typeface="Arial"/>
              </a:rPr>
              <a:t>RESTORE DATABASE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6B99DD-D9D3-41E3-8F11-21958947C947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75B2CB-DAC5-439D-8EEB-3862E2E5D056}"/>
              </a:ext>
            </a:extLst>
          </p:cNvPr>
          <p:cNvSpPr>
            <a:spLocks noGrp="1"/>
          </p:cNvSpPr>
          <p:nvPr/>
        </p:nvSpPr>
        <p:spPr>
          <a:xfrm>
            <a:off x="1143000" y="445770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Премахване на тестова база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770311C0-908A-41CB-B951-727D5768B125}"/>
              </a:ext>
            </a:extLst>
          </p:cNvPr>
          <p:cNvSpPr>
            <a:spLocks noGrp="1"/>
          </p:cNvSpPr>
          <p:nvPr/>
        </p:nvSpPr>
        <p:spPr>
          <a:xfrm>
            <a:off x="5524500" y="4695825"/>
            <a:ext cx="857250" cy="9525"/>
          </a:xfrm>
          <a:prstGeom prst="line">
            <a:avLst/>
          </a:prstGeom>
          <a:noFill/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B104B8E-25DB-4B2B-AFBF-0543B4917990}"/>
              </a:ext>
            </a:extLst>
          </p:cNvPr>
          <p:cNvSpPr>
            <a:spLocks noGrp="1"/>
          </p:cNvSpPr>
          <p:nvPr/>
        </p:nvSpPr>
        <p:spPr>
          <a:xfrm rot="5400000">
            <a:off x="6286500" y="4629150"/>
            <a:ext cx="133350" cy="133350"/>
          </a:xfrm>
          <a:prstGeom prst="triangle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B864751-05E2-4EC4-9A20-D9ED62A4BBD8}"/>
              </a:ext>
            </a:extLst>
          </p:cNvPr>
          <p:cNvSpPr>
            <a:spLocks noGrp="1"/>
          </p:cNvSpPr>
          <p:nvPr/>
        </p:nvSpPr>
        <p:spPr>
          <a:xfrm>
            <a:off x="6667500" y="4381500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AF8E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9B95E0-3067-4643-901C-F2223285A358}"/>
              </a:ext>
            </a:extLst>
          </p:cNvPr>
          <p:cNvSpPr>
            <a:spLocks noGrp="1"/>
          </p:cNvSpPr>
          <p:nvPr/>
        </p:nvSpPr>
        <p:spPr>
          <a:xfrm>
            <a:off x="6858000" y="445770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6A34A"/>
                </a:solidFill>
                <a:latin typeface="Arial"/>
                <a:ea typeface="Arial"/>
                <a:cs typeface="Arial"/>
              </a:rPr>
              <a:t>DROP DATABASE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C8A8AD-F97B-47CC-B199-E5310A7F971F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Въпрос</a:t>
            </a:r>
            <a:r>
              <a:rPr sz="1875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: </a:t>
            </a:r>
            <a:r>
              <a:rPr sz="1875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коя</a:t>
            </a:r>
            <a:r>
              <a:rPr sz="1875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операция</a:t>
            </a:r>
            <a:r>
              <a:rPr sz="1875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трябва да </a:t>
            </a:r>
            <a:r>
              <a:rPr sz="1875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предхожда</a:t>
            </a:r>
            <a:r>
              <a:rPr sz="1875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рискова</a:t>
            </a:r>
            <a:r>
              <a:rPr sz="1875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промяна</a:t>
            </a:r>
            <a:r>
              <a:rPr sz="1875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3071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7" grpId="0" animBg="1"/>
      <p:bldP spid="18" grpId="0"/>
      <p:bldP spid="23" grpId="0" animBg="1"/>
      <p:bldP spid="24" grpId="0"/>
      <p:bldP spid="29" grpId="0" animBg="1"/>
      <p:bldP spid="30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253826E-E4E5-4CFD-8F80-B59C07D553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71DE5-61E4-459E-B2FE-AE2CA518FC1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CREATE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FC516E-CB29-43DE-B768-700B9726F01C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Резултат от CREATE DATABASE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2A236D0-6BFE-482C-A9CE-2CA6F1E6523B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C641E1-8E45-43E5-9FE2-CC0A151D60A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6905E0-3382-4928-87F4-B7100EA85F20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FB4752-D19F-4DF6-B215-E74688DA8AA5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B17CEE-0902-45F7-9C6F-C43188A428BA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582E79-1A66-4386-AADE-18C526A1B248}"/>
              </a:ext>
            </a:extLst>
          </p:cNvPr>
          <p:cNvSpPr>
            <a:spLocks noGrp="1"/>
          </p:cNvSpPr>
          <p:nvPr/>
        </p:nvSpPr>
        <p:spPr>
          <a:xfrm>
            <a:off x="110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5452" lnSpcReduction="20000"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Запис в системния каталог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5C686-F7D0-4397-920B-32CE36EF63E4}"/>
              </a:ext>
            </a:extLst>
          </p:cNvPr>
          <p:cNvSpPr>
            <a:spLocks noGrp="1"/>
          </p:cNvSpPr>
          <p:nvPr/>
        </p:nvSpPr>
        <p:spPr>
          <a:xfrm>
            <a:off x="110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SQL Server регистрира името и свойствата на базата.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69449A-49F8-4476-BCCE-456A48B46CB2}"/>
              </a:ext>
            </a:extLst>
          </p:cNvPr>
          <p:cNvSpPr>
            <a:spLocks noGrp="1"/>
          </p:cNvSpPr>
          <p:nvPr/>
        </p:nvSpPr>
        <p:spPr>
          <a:xfrm>
            <a:off x="466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E750B2-2EB4-4417-A2E5-C6CD094C2334}"/>
              </a:ext>
            </a:extLst>
          </p:cNvPr>
          <p:cNvSpPr>
            <a:spLocks noGrp="1"/>
          </p:cNvSpPr>
          <p:nvPr/>
        </p:nvSpPr>
        <p:spPr>
          <a:xfrm>
            <a:off x="466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595343-210F-4D88-8705-3EB171522754}"/>
              </a:ext>
            </a:extLst>
          </p:cNvPr>
          <p:cNvSpPr>
            <a:spLocks noGrp="1"/>
          </p:cNvSpPr>
          <p:nvPr/>
        </p:nvSpPr>
        <p:spPr>
          <a:xfrm>
            <a:off x="491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Файлове на базата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AFB23-BE73-4FC5-93C9-76EDF1EB6B92}"/>
              </a:ext>
            </a:extLst>
          </p:cNvPr>
          <p:cNvSpPr>
            <a:spLocks noGrp="1"/>
          </p:cNvSpPr>
          <p:nvPr/>
        </p:nvSpPr>
        <p:spPr>
          <a:xfrm>
            <a:off x="491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Създават се файл с данни и файл на транзакционния дневник.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8CFDF4-B6CE-40EB-99FC-50704C6EE2C5}"/>
              </a:ext>
            </a:extLst>
          </p:cNvPr>
          <p:cNvSpPr>
            <a:spLocks noGrp="1"/>
          </p:cNvSpPr>
          <p:nvPr/>
        </p:nvSpPr>
        <p:spPr>
          <a:xfrm>
            <a:off x="847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279593-241F-4AFA-AF03-E0B01A1019BA}"/>
              </a:ext>
            </a:extLst>
          </p:cNvPr>
          <p:cNvSpPr>
            <a:spLocks noGrp="1"/>
          </p:cNvSpPr>
          <p:nvPr/>
        </p:nvSpPr>
        <p:spPr>
          <a:xfrm>
            <a:off x="847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1165E8-F324-4B01-A1BF-EFE1AC07541B}"/>
              </a:ext>
            </a:extLst>
          </p:cNvPr>
          <p:cNvSpPr>
            <a:spLocks noGrp="1"/>
          </p:cNvSpPr>
          <p:nvPr/>
        </p:nvSpPr>
        <p:spPr>
          <a:xfrm>
            <a:off x="872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Празна структура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104607-6165-44DB-A7D8-EF0D9B8B47A2}"/>
              </a:ext>
            </a:extLst>
          </p:cNvPr>
          <p:cNvSpPr>
            <a:spLocks noGrp="1"/>
          </p:cNvSpPr>
          <p:nvPr/>
        </p:nvSpPr>
        <p:spPr>
          <a:xfrm>
            <a:off x="872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Новата база още няма наши таблици и записи.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25C451CD-6042-4888-BA8E-ED2A8937F6C7}"/>
              </a:ext>
            </a:extLst>
          </p:cNvPr>
          <p:cNvSpPr>
            <a:spLocks noGrp="1"/>
          </p:cNvSpPr>
          <p:nvPr/>
        </p:nvSpPr>
        <p:spPr>
          <a:xfrm>
            <a:off x="3714750" y="3000375"/>
            <a:ext cx="91440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24F72A1-346F-4228-9704-C6FDE20075D3}"/>
              </a:ext>
            </a:extLst>
          </p:cNvPr>
          <p:cNvSpPr>
            <a:spLocks noGrp="1"/>
          </p:cNvSpPr>
          <p:nvPr/>
        </p:nvSpPr>
        <p:spPr>
          <a:xfrm rot="5400000">
            <a:off x="4533900" y="2933700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F00662A2-6447-4FFB-9C77-55899076E8BE}"/>
              </a:ext>
            </a:extLst>
          </p:cNvPr>
          <p:cNvSpPr>
            <a:spLocks noGrp="1"/>
          </p:cNvSpPr>
          <p:nvPr/>
        </p:nvSpPr>
        <p:spPr>
          <a:xfrm>
            <a:off x="7524750" y="3000375"/>
            <a:ext cx="91440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AC5C493-94F5-42FF-8A3B-B89574F89D66}"/>
              </a:ext>
            </a:extLst>
          </p:cNvPr>
          <p:cNvSpPr>
            <a:spLocks noGrp="1"/>
          </p:cNvSpPr>
          <p:nvPr/>
        </p:nvSpPr>
        <p:spPr>
          <a:xfrm rot="5400000">
            <a:off x="8343900" y="2933700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B510B3-4B83-437B-9565-AFE62FC1A1E9}"/>
              </a:ext>
            </a:extLst>
          </p:cNvPr>
          <p:cNvSpPr>
            <a:spLocks noGrp="1"/>
          </p:cNvSpPr>
          <p:nvPr/>
        </p:nvSpPr>
        <p:spPr>
          <a:xfrm>
            <a:off x="1381125" y="4762500"/>
            <a:ext cx="94297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CREATE DATABASE създава контейнера за бъдещите обекти.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05716AA-2C73-4FF9-9E5B-049FE793B3A4}"/>
              </a:ext>
            </a:extLst>
          </p:cNvPr>
          <p:cNvSpPr>
            <a:spLocks noGrp="1"/>
          </p:cNvSpPr>
          <p:nvPr/>
        </p:nvSpPr>
        <p:spPr>
          <a:xfrm>
            <a:off x="4629150" y="5638800"/>
            <a:ext cx="2933700" cy="323850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472002-4086-4A38-9A3A-2968AB412A7B}"/>
              </a:ext>
            </a:extLst>
          </p:cNvPr>
          <p:cNvSpPr>
            <a:spLocks noGrp="1"/>
          </p:cNvSpPr>
          <p:nvPr/>
        </p:nvSpPr>
        <p:spPr>
          <a:xfrm>
            <a:off x="4705350" y="5657850"/>
            <a:ext cx="27813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4881" lnSpcReduction="10000"/>
          </a:bodyPr>
          <a:lstStyle/>
          <a:p>
            <a:pPr algn="ctr">
              <a:buNone/>
              <a:defRPr sz="105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Таблиците се създават след избиране на правилния контекст</a:t>
            </a:r>
          </a:p>
        </p:txBody>
      </p:sp>
    </p:spTree>
    <p:extLst>
      <p:ext uri="{BB962C8B-B14F-4D97-AF65-F5344CB8AC3E}">
        <p14:creationId xmlns:p14="http://schemas.microsoft.com/office/powerpoint/2010/main" val="1859858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63D4190-7E19-4DC0-BC1E-3E07DCC933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42FA4B-0706-41F3-82A0-BC1C70B2442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ФАЙЛОВЕ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C6A3B8-1153-46C1-A42A-2EC25F25008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Данни и транзакционен дневник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A80B851-CC21-4125-8969-F7D111DDC09F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C6A86B-0DAA-483F-8F08-9C1E178BD3B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92CA3-79B2-4C64-B406-BCF37218794F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729286-3A55-423E-A4CE-977B9A469912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4095750" cy="2571750"/>
          </a:xfrm>
          <a:prstGeom prst="roundRect">
            <a:avLst>
              <a:gd name="adj" fmla="val 8148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F10C14-5A53-4B17-B203-57BB666AAA0B}"/>
              </a:ext>
            </a:extLst>
          </p:cNvPr>
          <p:cNvSpPr>
            <a:spLocks noGrp="1"/>
          </p:cNvSpPr>
          <p:nvPr/>
        </p:nvSpPr>
        <p:spPr>
          <a:xfrm>
            <a:off x="1238250" y="21907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MDF / NDF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CBE008-5137-41BB-A0BF-A2A646CEFFC6}"/>
              </a:ext>
            </a:extLst>
          </p:cNvPr>
          <p:cNvSpPr>
            <a:spLocks noGrp="1"/>
          </p:cNvSpPr>
          <p:nvPr/>
        </p:nvSpPr>
        <p:spPr>
          <a:xfrm>
            <a:off x="1238250" y="2743200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BFD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D8FF"/>
                </a:solidFill>
                <a:latin typeface="Arial"/>
                <a:ea typeface="Arial"/>
                <a:cs typeface="Arial"/>
              </a:rPr>
              <a:t>файлове с данни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EA830-EC57-4879-A9DA-70AE49EA7D47}"/>
              </a:ext>
            </a:extLst>
          </p:cNvPr>
          <p:cNvSpPr>
            <a:spLocks noGrp="1"/>
          </p:cNvSpPr>
          <p:nvPr/>
        </p:nvSpPr>
        <p:spPr>
          <a:xfrm>
            <a:off x="1428750" y="3286125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Съхраняват таблици, индекси и други обекти.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D02EF9-F1F6-46E3-AB60-D6CF41996E20}"/>
              </a:ext>
            </a:extLst>
          </p:cNvPr>
          <p:cNvSpPr>
            <a:spLocks noGrp="1"/>
          </p:cNvSpPr>
          <p:nvPr/>
        </p:nvSpPr>
        <p:spPr>
          <a:xfrm>
            <a:off x="7143750" y="1905000"/>
            <a:ext cx="4095750" cy="257175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53A131-B83D-485F-82E4-49172A204023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LDF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C4DA6A-FF4D-4DBB-BBE3-3081E34CE993}"/>
              </a:ext>
            </a:extLst>
          </p:cNvPr>
          <p:cNvSpPr>
            <a:spLocks noGrp="1"/>
          </p:cNvSpPr>
          <p:nvPr/>
        </p:nvSpPr>
        <p:spPr>
          <a:xfrm>
            <a:off x="7429500" y="2743200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транзакционен дневник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4BA2AD-2435-461D-9130-5D22FF220701}"/>
              </a:ext>
            </a:extLst>
          </p:cNvPr>
          <p:cNvSpPr>
            <a:spLocks noGrp="1"/>
          </p:cNvSpPr>
          <p:nvPr/>
        </p:nvSpPr>
        <p:spPr>
          <a:xfrm>
            <a:off x="7620000" y="3286125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Записва промените и подпомага възстановяването.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F22447B-5BDF-447E-8829-B9CD3E13A9A6}"/>
              </a:ext>
            </a:extLst>
          </p:cNvPr>
          <p:cNvSpPr>
            <a:spLocks noGrp="1"/>
          </p:cNvSpPr>
          <p:nvPr/>
        </p:nvSpPr>
        <p:spPr>
          <a:xfrm>
            <a:off x="5286375" y="3143250"/>
            <a:ext cx="1571625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115AA22-DBE4-4336-AB64-203C211CB7DE}"/>
              </a:ext>
            </a:extLst>
          </p:cNvPr>
          <p:cNvSpPr>
            <a:spLocks noGrp="1"/>
          </p:cNvSpPr>
          <p:nvPr/>
        </p:nvSpPr>
        <p:spPr>
          <a:xfrm rot="5400000">
            <a:off x="6762750" y="3076575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28DA65-1D06-4700-B9F6-5C13C7B8A48C}"/>
              </a:ext>
            </a:extLst>
          </p:cNvPr>
          <p:cNvSpPr>
            <a:spLocks noGrp="1"/>
          </p:cNvSpPr>
          <p:nvPr/>
        </p:nvSpPr>
        <p:spPr>
          <a:xfrm>
            <a:off x="5619750" y="2714625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6323" lnSpcReduction="10000"/>
          </a:bodyPr>
          <a:lstStyle/>
          <a:p>
            <a:pPr algn="ctr">
              <a:buNone/>
              <a:defRPr sz="12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две различни роли</a:t>
            </a:r>
          </a:p>
        </p:txBody>
      </p:sp>
    </p:spTree>
    <p:extLst>
      <p:ext uri="{BB962C8B-B14F-4D97-AF65-F5344CB8AC3E}">
        <p14:creationId xmlns:p14="http://schemas.microsoft.com/office/powerpoint/2010/main" val="1998006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3A3264C-BA5F-4505-B523-E332D926B9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DC486D-479C-466A-9040-7F7651E2890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СРЕДА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1420CF-F2AA-438B-A0F9-C663EF8D52BE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SSMS и Query Editor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C8B4A26-BBF1-4968-8868-AF9B72FC0660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E1CC4A-AB84-4095-9346-01485E774FA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DF8B44-EF17-48A6-8194-92CE8E40B8BA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B46C51-4A86-4F6B-B278-9AF6EA70969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857500" cy="3714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9C608D-2CDF-455E-BDCE-B9BEF98689DC}"/>
              </a:ext>
            </a:extLst>
          </p:cNvPr>
          <p:cNvSpPr>
            <a:spLocks noGrp="1"/>
          </p:cNvSpPr>
          <p:nvPr/>
        </p:nvSpPr>
        <p:spPr>
          <a:xfrm>
            <a:off x="876300" y="1933575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F2DBB-5756-45B0-B300-908CD9046A82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SSMS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A473A3-BFB0-45CF-907F-20734402ABD7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2438400" cy="2857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Object Explorer → Databases → New Database…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48297E-DED2-4544-A0F0-EA4B0CF67336}"/>
              </a:ext>
            </a:extLst>
          </p:cNvPr>
          <p:cNvSpPr>
            <a:spLocks noGrp="1"/>
          </p:cNvSpPr>
          <p:nvPr/>
        </p:nvSpPr>
        <p:spPr>
          <a:xfrm>
            <a:off x="3810000" y="1762125"/>
            <a:ext cx="76962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172FBA-F6C0-4B1E-82CC-FD31B68EE016}"/>
              </a:ext>
            </a:extLst>
          </p:cNvPr>
          <p:cNvSpPr>
            <a:spLocks noGrp="1"/>
          </p:cNvSpPr>
          <p:nvPr/>
        </p:nvSpPr>
        <p:spPr>
          <a:xfrm>
            <a:off x="4000500" y="1933575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DC450D-9EB2-4626-9891-79E8408CC442}"/>
              </a:ext>
            </a:extLst>
          </p:cNvPr>
          <p:cNvSpPr>
            <a:spLocks noGrp="1"/>
          </p:cNvSpPr>
          <p:nvPr/>
        </p:nvSpPr>
        <p:spPr>
          <a:xfrm>
            <a:off x="4076700" y="1952625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Query Editor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CCC937-8F5E-443D-9032-DC32D7980E1B}"/>
              </a:ext>
            </a:extLst>
          </p:cNvPr>
          <p:cNvSpPr>
            <a:spLocks noGrp="1"/>
          </p:cNvSpPr>
          <p:nvPr/>
        </p:nvSpPr>
        <p:spPr>
          <a:xfrm>
            <a:off x="4057650" y="2305050"/>
            <a:ext cx="7048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CREATE DATABASE SchoolLibraryTheory;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3C1CF7A-F6C3-470C-AA25-FE1EB1DA1D4A}"/>
              </a:ext>
            </a:extLst>
          </p:cNvPr>
          <p:cNvSpPr>
            <a:spLocks noGrp="1"/>
          </p:cNvSpPr>
          <p:nvPr/>
        </p:nvSpPr>
        <p:spPr>
          <a:xfrm>
            <a:off x="3810000" y="2838450"/>
            <a:ext cx="7696200" cy="2638425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DCC94AE-C88F-4F35-A64A-EBC7140D9E81}"/>
              </a:ext>
            </a:extLst>
          </p:cNvPr>
          <p:cNvSpPr>
            <a:spLocks noGrp="1"/>
          </p:cNvSpPr>
          <p:nvPr/>
        </p:nvSpPr>
        <p:spPr>
          <a:xfrm>
            <a:off x="4000500" y="3009900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9FC8A8-E296-4E47-B5FE-73A06B4F4965}"/>
              </a:ext>
            </a:extLst>
          </p:cNvPr>
          <p:cNvSpPr>
            <a:spLocks noGrp="1"/>
          </p:cNvSpPr>
          <p:nvPr/>
        </p:nvSpPr>
        <p:spPr>
          <a:xfrm>
            <a:off x="4076700" y="3028950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Проверка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2F5B92-F362-4173-9CAE-CCA79B5963B0}"/>
              </a:ext>
            </a:extLst>
          </p:cNvPr>
          <p:cNvSpPr>
            <a:spLocks noGrp="1"/>
          </p:cNvSpPr>
          <p:nvPr/>
        </p:nvSpPr>
        <p:spPr>
          <a:xfrm>
            <a:off x="4019550" y="3524250"/>
            <a:ext cx="7277100" cy="17811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Refresh на Databases или SELECT name FROM sys.databases;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6DE809-F484-47B4-8C80-0BF8BA792FB2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 двата начина изпращат операцията към SQL Server.</a:t>
            </a:r>
          </a:p>
        </p:txBody>
      </p:sp>
    </p:spTree>
    <p:extLst>
      <p:ext uri="{BB962C8B-B14F-4D97-AF65-F5344CB8AC3E}">
        <p14:creationId xmlns:p14="http://schemas.microsoft.com/office/powerpoint/2010/main" val="1163956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AB6CDF2-0517-47FF-850F-16B6D511FC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548FDA-3CC4-4633-8DC0-8055EF4200A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SSMS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87EC88-8B26-4A84-AEC5-492C7C752FC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Създаване през графичния интерфейс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5D85FBE-EA44-40F4-B4F2-F6EBDFEF0D8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71333-F19F-4F4B-A32A-7842F371670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FE30AA-336C-4B1D-A79D-87F00C497AF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1CEF8F-D863-43D9-A436-FEF5300DD228}"/>
              </a:ext>
            </a:extLst>
          </p:cNvPr>
          <p:cNvSpPr>
            <a:spLocks noGrp="1"/>
          </p:cNvSpPr>
          <p:nvPr/>
        </p:nvSpPr>
        <p:spPr>
          <a:xfrm>
            <a:off x="476250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D1F343-CF90-4D87-A2B7-52DB85A2B68A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0ED12C-2698-47EE-87B8-AA9910E70C32}"/>
              </a:ext>
            </a:extLst>
          </p:cNvPr>
          <p:cNvSpPr>
            <a:spLocks noGrp="1"/>
          </p:cNvSpPr>
          <p:nvPr/>
        </p:nvSpPr>
        <p:spPr>
          <a:xfrm>
            <a:off x="476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Databases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1867098-C02B-4717-82B8-6B513A193AA5}"/>
              </a:ext>
            </a:extLst>
          </p:cNvPr>
          <p:cNvSpPr>
            <a:spLocks noGrp="1"/>
          </p:cNvSpPr>
          <p:nvPr/>
        </p:nvSpPr>
        <p:spPr>
          <a:xfrm>
            <a:off x="131445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500E91C-4859-4323-850C-566A42ECB4D8}"/>
              </a:ext>
            </a:extLst>
          </p:cNvPr>
          <p:cNvSpPr>
            <a:spLocks noGrp="1"/>
          </p:cNvSpPr>
          <p:nvPr/>
        </p:nvSpPr>
        <p:spPr>
          <a:xfrm rot="5400000">
            <a:off x="245745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821616-4FCB-4C9B-B1FC-79331209B9F1}"/>
              </a:ext>
            </a:extLst>
          </p:cNvPr>
          <p:cNvSpPr>
            <a:spLocks noGrp="1"/>
          </p:cNvSpPr>
          <p:nvPr/>
        </p:nvSpPr>
        <p:spPr>
          <a:xfrm>
            <a:off x="2809875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B13F9-0C8E-449B-87A3-81DB1C29DCA8}"/>
              </a:ext>
            </a:extLst>
          </p:cNvPr>
          <p:cNvSpPr>
            <a:spLocks noGrp="1"/>
          </p:cNvSpPr>
          <p:nvPr/>
        </p:nvSpPr>
        <p:spPr>
          <a:xfrm>
            <a:off x="294322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850A9A-8311-4C15-8290-A8D0E96E5D8E}"/>
              </a:ext>
            </a:extLst>
          </p:cNvPr>
          <p:cNvSpPr>
            <a:spLocks noGrp="1"/>
          </p:cNvSpPr>
          <p:nvPr/>
        </p:nvSpPr>
        <p:spPr>
          <a:xfrm>
            <a:off x="238125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New Database…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4E66BCD-D500-40E7-8D55-67BEA3081B83}"/>
              </a:ext>
            </a:extLst>
          </p:cNvPr>
          <p:cNvSpPr>
            <a:spLocks noGrp="1"/>
          </p:cNvSpPr>
          <p:nvPr/>
        </p:nvSpPr>
        <p:spPr>
          <a:xfrm>
            <a:off x="364807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2483837-F099-4D08-9BB0-288CC6822BD2}"/>
              </a:ext>
            </a:extLst>
          </p:cNvPr>
          <p:cNvSpPr>
            <a:spLocks noGrp="1"/>
          </p:cNvSpPr>
          <p:nvPr/>
        </p:nvSpPr>
        <p:spPr>
          <a:xfrm rot="5400000">
            <a:off x="479107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8E9EB1-7087-4B58-97EC-BC15DC66B982}"/>
              </a:ext>
            </a:extLst>
          </p:cNvPr>
          <p:cNvSpPr>
            <a:spLocks noGrp="1"/>
          </p:cNvSpPr>
          <p:nvPr/>
        </p:nvSpPr>
        <p:spPr>
          <a:xfrm>
            <a:off x="5143500" y="2286000"/>
            <a:ext cx="742950" cy="7429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9270EC-982A-4A34-B137-823C85F849EF}"/>
              </a:ext>
            </a:extLst>
          </p:cNvPr>
          <p:cNvSpPr>
            <a:spLocks noGrp="1"/>
          </p:cNvSpPr>
          <p:nvPr/>
        </p:nvSpPr>
        <p:spPr>
          <a:xfrm>
            <a:off x="527685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8BD372-76CA-4640-8E3F-4D6AEBCD63ED}"/>
              </a:ext>
            </a:extLst>
          </p:cNvPr>
          <p:cNvSpPr>
            <a:spLocks noGrp="1"/>
          </p:cNvSpPr>
          <p:nvPr/>
        </p:nvSpPr>
        <p:spPr>
          <a:xfrm>
            <a:off x="471487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Име на базата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D7C5CBE-CBBB-464A-BD79-1E0EBC7210F4}"/>
              </a:ext>
            </a:extLst>
          </p:cNvPr>
          <p:cNvSpPr>
            <a:spLocks noGrp="1"/>
          </p:cNvSpPr>
          <p:nvPr/>
        </p:nvSpPr>
        <p:spPr>
          <a:xfrm>
            <a:off x="598170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9F7196B3-F2EF-4A8E-877B-A49484036915}"/>
              </a:ext>
            </a:extLst>
          </p:cNvPr>
          <p:cNvSpPr>
            <a:spLocks noGrp="1"/>
          </p:cNvSpPr>
          <p:nvPr/>
        </p:nvSpPr>
        <p:spPr>
          <a:xfrm rot="5400000">
            <a:off x="712470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481580-2C06-44C8-B3AB-35408C1AE474}"/>
              </a:ext>
            </a:extLst>
          </p:cNvPr>
          <p:cNvSpPr>
            <a:spLocks noGrp="1"/>
          </p:cNvSpPr>
          <p:nvPr/>
        </p:nvSpPr>
        <p:spPr>
          <a:xfrm>
            <a:off x="7477125" y="2286000"/>
            <a:ext cx="742950" cy="7429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002801-B5B7-46AF-A774-05D3D6C7CAFB}"/>
              </a:ext>
            </a:extLst>
          </p:cNvPr>
          <p:cNvSpPr>
            <a:spLocks noGrp="1"/>
          </p:cNvSpPr>
          <p:nvPr/>
        </p:nvSpPr>
        <p:spPr>
          <a:xfrm>
            <a:off x="761047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F35D10-EA51-4FF8-84C7-AFF8A4EF470E}"/>
              </a:ext>
            </a:extLst>
          </p:cNvPr>
          <p:cNvSpPr>
            <a:spLocks noGrp="1"/>
          </p:cNvSpPr>
          <p:nvPr/>
        </p:nvSpPr>
        <p:spPr>
          <a:xfrm>
            <a:off x="704850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Проверка на файловете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BA20F30E-747B-4E33-9E71-1B381443F056}"/>
              </a:ext>
            </a:extLst>
          </p:cNvPr>
          <p:cNvSpPr>
            <a:spLocks noGrp="1"/>
          </p:cNvSpPr>
          <p:nvPr/>
        </p:nvSpPr>
        <p:spPr>
          <a:xfrm>
            <a:off x="831532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6DAC5AE0-F0D5-4466-B6D5-5B14F45E4FCC}"/>
              </a:ext>
            </a:extLst>
          </p:cNvPr>
          <p:cNvSpPr>
            <a:spLocks noGrp="1"/>
          </p:cNvSpPr>
          <p:nvPr/>
        </p:nvSpPr>
        <p:spPr>
          <a:xfrm rot="5400000">
            <a:off x="945832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460F72-0D92-4F11-A399-9E9891FABCEF}"/>
              </a:ext>
            </a:extLst>
          </p:cNvPr>
          <p:cNvSpPr>
            <a:spLocks noGrp="1"/>
          </p:cNvSpPr>
          <p:nvPr/>
        </p:nvSpPr>
        <p:spPr>
          <a:xfrm>
            <a:off x="9810750" y="2286000"/>
            <a:ext cx="742950" cy="742950"/>
          </a:xfrm>
          <a:prstGeom prst="ellipse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40F48E-04EE-4587-B21C-C798F563DD08}"/>
              </a:ext>
            </a:extLst>
          </p:cNvPr>
          <p:cNvSpPr>
            <a:spLocks noGrp="1"/>
          </p:cNvSpPr>
          <p:nvPr/>
        </p:nvSpPr>
        <p:spPr>
          <a:xfrm>
            <a:off x="99441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562B0F-08F7-4E39-BAB5-EBFD54C3E6FE}"/>
              </a:ext>
            </a:extLst>
          </p:cNvPr>
          <p:cNvSpPr>
            <a:spLocks noGrp="1"/>
          </p:cNvSpPr>
          <p:nvPr/>
        </p:nvSpPr>
        <p:spPr>
          <a:xfrm>
            <a:off x="93821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OK и Refresh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E438FE3-3D78-4993-97BD-1046F21258AC}"/>
              </a:ext>
            </a:extLst>
          </p:cNvPr>
          <p:cNvSpPr>
            <a:spLocks noGrp="1"/>
          </p:cNvSpPr>
          <p:nvPr/>
        </p:nvSpPr>
        <p:spPr>
          <a:xfrm>
            <a:off x="1714500" y="4429125"/>
            <a:ext cx="8763000" cy="838200"/>
          </a:xfrm>
          <a:prstGeom prst="roundRect">
            <a:avLst>
              <a:gd name="adj" fmla="val 18182"/>
            </a:avLst>
          </a:prstGeom>
          <a:solidFill>
            <a:srgbClr val="FFF5DC"/>
          </a:solidFill>
          <a:ln w="9525">
            <a:solidFill>
              <a:srgbClr val="F6D5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31CB97-FF95-4FFA-8B45-221E408788AD}"/>
              </a:ext>
            </a:extLst>
          </p:cNvPr>
          <p:cNvSpPr>
            <a:spLocks noGrp="1"/>
          </p:cNvSpPr>
          <p:nvPr/>
        </p:nvSpPr>
        <p:spPr>
          <a:xfrm>
            <a:off x="2000250" y="4562475"/>
            <a:ext cx="8191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 учебен пример използвайте име SchoolLibraryTheory.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3E1746-CD0F-4381-9453-7558C4954408}"/>
              </a:ext>
            </a:extLst>
          </p:cNvPr>
          <p:cNvSpPr>
            <a:spLocks noGrp="1"/>
          </p:cNvSpPr>
          <p:nvPr/>
        </p:nvSpPr>
        <p:spPr>
          <a:xfrm>
            <a:off x="3048000" y="5476875"/>
            <a:ext cx="60960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1594" lnSpcReduction="10000"/>
          </a:bodyPr>
          <a:lstStyle/>
          <a:p>
            <a:pPr algn="ctr">
              <a:buNone/>
              <a:defRPr sz="1725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По подразбиране SQL Server определя местоположението и началния размер на файловете.</a:t>
            </a:r>
          </a:p>
        </p:txBody>
      </p:sp>
    </p:spTree>
    <p:extLst>
      <p:ext uri="{BB962C8B-B14F-4D97-AF65-F5344CB8AC3E}">
        <p14:creationId xmlns:p14="http://schemas.microsoft.com/office/powerpoint/2010/main" val="1572979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E0C810-3486-41C2-8EE3-8C71C18AE2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8847ED-CC8E-468F-85ED-A5EF2289084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T-SQL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567C7B-8BDE-4506-997B-C8370962DCB0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CREATE DATABASE и текущ контекст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3FD43C8-B9EC-4D9C-96D7-F3F305E330E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86963C-56AE-43C5-AFE5-F45B5A828BC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A4F880-7EEA-4BD7-8B4A-4C7C78CA4167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2C6050-EF06-46B3-998D-2A826C66CC24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6477000" cy="2000250"/>
          </a:xfrm>
          <a:prstGeom prst="roundRect">
            <a:avLst>
              <a:gd name="adj" fmla="val 7619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4CCC5F-C8E2-474D-8120-5D941A65D5AD}"/>
              </a:ext>
            </a:extLst>
          </p:cNvPr>
          <p:cNvSpPr>
            <a:spLocks noGrp="1"/>
          </p:cNvSpPr>
          <p:nvPr/>
        </p:nvSpPr>
        <p:spPr>
          <a:xfrm>
            <a:off x="933450" y="1990725"/>
            <a:ext cx="68580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ED258-9962-4C98-842D-9423C3237E13}"/>
              </a:ext>
            </a:extLst>
          </p:cNvPr>
          <p:cNvSpPr>
            <a:spLocks noGrp="1"/>
          </p:cNvSpPr>
          <p:nvPr/>
        </p:nvSpPr>
        <p:spPr>
          <a:xfrm>
            <a:off x="1009650" y="20097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T-SQL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06D830-B067-427F-872A-749285E4DCB0}"/>
              </a:ext>
            </a:extLst>
          </p:cNvPr>
          <p:cNvSpPr>
            <a:spLocks noGrp="1"/>
          </p:cNvSpPr>
          <p:nvPr/>
        </p:nvSpPr>
        <p:spPr>
          <a:xfrm>
            <a:off x="971550" y="2428875"/>
            <a:ext cx="6057900" cy="1276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7381" lnSpcReduction="10000"/>
          </a:bodyPr>
          <a:lstStyle/>
          <a:p>
            <a:pPr algn="l">
              <a:buNone/>
              <a:defRPr sz="15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E8F1F8"/>
                </a:solidFill>
                <a:latin typeface="Arial"/>
                <a:ea typeface="Arial"/>
                <a:cs typeface="Arial"/>
              </a:rPr>
              <a:t>USE master;</a:t>
            </a:r>
          </a:p>
          <a:p>
            <a:pPr algn="l">
              <a:buNone/>
              <a:defRPr sz="15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E8F1F8"/>
                </a:solidFill>
                <a:latin typeface="Arial"/>
                <a:ea typeface="Arial"/>
                <a:cs typeface="Arial"/>
              </a:rPr>
              <a:t>GO</a:t>
            </a:r>
          </a:p>
          <a:p>
            <a:pPr algn="l">
              <a:buNone/>
              <a:defRPr sz="15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E8F1F8"/>
                </a:solidFill>
                <a:latin typeface="Arial"/>
                <a:ea typeface="Arial"/>
                <a:cs typeface="Arial"/>
              </a:rPr>
              <a:t>CREATE DATABASE </a:t>
            </a:r>
            <a:r>
              <a:rPr sz="1500" b="0" dirty="0" err="1">
                <a:solidFill>
                  <a:srgbClr val="E8F1F8"/>
                </a:solidFill>
                <a:latin typeface="Arial"/>
                <a:ea typeface="Arial"/>
                <a:cs typeface="Arial"/>
              </a:rPr>
              <a:t>SchoolLibraryTheory</a:t>
            </a:r>
            <a:r>
              <a:rPr sz="1500" b="0" dirty="0">
                <a:solidFill>
                  <a:srgbClr val="E8F1F8"/>
                </a:solidFill>
                <a:latin typeface="Arial"/>
                <a:ea typeface="Arial"/>
                <a:cs typeface="Arial"/>
              </a:rPr>
              <a:t>;</a:t>
            </a:r>
          </a:p>
          <a:p>
            <a:pPr algn="l">
              <a:buNone/>
              <a:defRPr sz="15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E8F1F8"/>
                </a:solidFill>
                <a:latin typeface="Arial"/>
                <a:ea typeface="Arial"/>
                <a:cs typeface="Arial"/>
              </a:rPr>
              <a:t>GO</a:t>
            </a:r>
          </a:p>
          <a:p>
            <a:pPr algn="l">
              <a:buNone/>
              <a:defRPr sz="15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E8F1F8"/>
                </a:solidFill>
                <a:latin typeface="Arial"/>
                <a:ea typeface="Arial"/>
                <a:cs typeface="Arial"/>
              </a:rPr>
              <a:t>USE </a:t>
            </a:r>
            <a:r>
              <a:rPr sz="1500" b="0" dirty="0" err="1">
                <a:solidFill>
                  <a:srgbClr val="E8F1F8"/>
                </a:solidFill>
                <a:latin typeface="Arial"/>
                <a:ea typeface="Arial"/>
                <a:cs typeface="Arial"/>
              </a:rPr>
              <a:t>SchoolLibraryTheory</a:t>
            </a:r>
            <a:r>
              <a:rPr sz="1500" b="0" dirty="0">
                <a:solidFill>
                  <a:srgbClr val="E8F1F8"/>
                </a:solidFill>
                <a:latin typeface="Arial"/>
                <a:ea typeface="Arial"/>
                <a:cs typeface="Arial"/>
              </a:rPr>
              <a:t>;</a:t>
            </a:r>
          </a:p>
          <a:p>
            <a:pPr algn="l">
              <a:buNone/>
              <a:defRPr sz="15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E8F1F8"/>
                </a:solidFill>
                <a:latin typeface="Arial"/>
                <a:ea typeface="Arial"/>
                <a:cs typeface="Arial"/>
              </a:rPr>
              <a:t>GO</a:t>
            </a:r>
          </a:p>
          <a:p>
            <a:pPr algn="l">
              <a:buNone/>
              <a:defRPr sz="15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E8F1F8"/>
                </a:solidFill>
                <a:latin typeface="Arial"/>
                <a:ea typeface="Arial"/>
                <a:cs typeface="Arial"/>
              </a:rPr>
              <a:t>SELECT DB_NAME() AS </a:t>
            </a:r>
            <a:r>
              <a:rPr sz="1500" b="0" dirty="0" err="1">
                <a:solidFill>
                  <a:srgbClr val="E8F1F8"/>
                </a:solidFill>
                <a:latin typeface="Arial"/>
                <a:ea typeface="Arial"/>
                <a:cs typeface="Arial"/>
              </a:rPr>
              <a:t>CurrentDatabase</a:t>
            </a:r>
            <a:r>
              <a:rPr sz="1500" b="0" dirty="0">
                <a:solidFill>
                  <a:srgbClr val="E8F1F8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559A73-042C-419B-8C5B-58B957678B36}"/>
              </a:ext>
            </a:extLst>
          </p:cNvPr>
          <p:cNvSpPr>
            <a:spLocks noGrp="1"/>
          </p:cNvSpPr>
          <p:nvPr/>
        </p:nvSpPr>
        <p:spPr>
          <a:xfrm>
            <a:off x="7762875" y="1857375"/>
            <a:ext cx="3714750" cy="2000250"/>
          </a:xfrm>
          <a:prstGeom prst="roundRect">
            <a:avLst>
              <a:gd name="adj" fmla="val 8571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52E3AE-0D4F-4EFD-8248-EC5C27B90292}"/>
              </a:ext>
            </a:extLst>
          </p:cNvPr>
          <p:cNvSpPr>
            <a:spLocks noGrp="1"/>
          </p:cNvSpPr>
          <p:nvPr/>
        </p:nvSpPr>
        <p:spPr>
          <a:xfrm>
            <a:off x="7762875" y="1857375"/>
            <a:ext cx="76200" cy="20002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B87B24-AF5A-44EF-9964-7EFE205F36D0}"/>
              </a:ext>
            </a:extLst>
          </p:cNvPr>
          <p:cNvSpPr>
            <a:spLocks noGrp="1"/>
          </p:cNvSpPr>
          <p:nvPr/>
        </p:nvSpPr>
        <p:spPr>
          <a:xfrm>
            <a:off x="8010525" y="2028825"/>
            <a:ext cx="3276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Какво проверяваме?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8E3E4-F08C-45E0-AB8F-46B444E1657A}"/>
              </a:ext>
            </a:extLst>
          </p:cNvPr>
          <p:cNvSpPr>
            <a:spLocks noGrp="1"/>
          </p:cNvSpPr>
          <p:nvPr/>
        </p:nvSpPr>
        <p:spPr>
          <a:xfrm>
            <a:off x="8010525" y="2428875"/>
            <a:ext cx="3276600" cy="1276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Командата CREATE се изпълнява в master. След това USE сменя контекста, а DB_NAME() показва текущата база.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EC6D53-A1B8-448C-A888-97F3CFFD2217}"/>
              </a:ext>
            </a:extLst>
          </p:cNvPr>
          <p:cNvSpPr>
            <a:spLocks noGrp="1"/>
          </p:cNvSpPr>
          <p:nvPr/>
        </p:nvSpPr>
        <p:spPr>
          <a:xfrm>
            <a:off x="762000" y="4333875"/>
            <a:ext cx="10715625" cy="1000125"/>
          </a:xfrm>
          <a:prstGeom prst="roundRect">
            <a:avLst>
              <a:gd name="adj" fmla="val 15238"/>
            </a:avLst>
          </a:prstGeom>
          <a:solidFill>
            <a:srgbClr val="EAF3FF"/>
          </a:solidFill>
          <a:ln w="9525">
            <a:solidFill>
              <a:srgbClr val="BFD8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4DF211-9E53-4CD0-B15C-28D98A8FAF46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10144125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Очакван резултат: SchoolLibraryTheory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FD285E-A6BB-4E96-B449-CAA09B6F0D1E}"/>
              </a:ext>
            </a:extLst>
          </p:cNvPr>
          <p:cNvSpPr>
            <a:spLocks noGrp="1"/>
          </p:cNvSpPr>
          <p:nvPr/>
        </p:nvSpPr>
        <p:spPr>
          <a:xfrm>
            <a:off x="1047750" y="4905375"/>
            <a:ext cx="10144125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GO разделя скрипта на отделни пакети</a:t>
            </a:r>
          </a:p>
        </p:txBody>
      </p:sp>
    </p:spTree>
    <p:extLst>
      <p:ext uri="{BB962C8B-B14F-4D97-AF65-F5344CB8AC3E}">
        <p14:creationId xmlns:p14="http://schemas.microsoft.com/office/powerpoint/2010/main" val="754177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F7E747D-F1F2-4142-91F6-8B73D94C39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FF3D2D-4083-424E-B1DD-7558ABAA592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DROP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AD8BFF-6400-4BD8-AD20-2CA5F577F01F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Изтриването премахва база и данни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54F72FF-A3CD-43FA-BE2C-E2E907BC2FED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98876-510B-4D52-9B9E-F885EA3A0AF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3E1AB6-7117-4B4A-814B-2D344F2F681D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55329F-CCAC-4E92-8495-C0DD90986A6D}"/>
              </a:ext>
            </a:extLst>
          </p:cNvPr>
          <p:cNvSpPr>
            <a:spLocks noGrp="1"/>
          </p:cNvSpPr>
          <p:nvPr/>
        </p:nvSpPr>
        <p:spPr>
          <a:xfrm>
            <a:off x="1143000" y="2190750"/>
            <a:ext cx="2381250" cy="6667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8F3482-CE57-48EF-8CDF-CE98C69F76CF}"/>
              </a:ext>
            </a:extLst>
          </p:cNvPr>
          <p:cNvSpPr>
            <a:spLocks noGrp="1"/>
          </p:cNvSpPr>
          <p:nvPr/>
        </p:nvSpPr>
        <p:spPr>
          <a:xfrm>
            <a:off x="1143000" y="2524125"/>
            <a:ext cx="2381250" cy="1714500"/>
          </a:xfrm>
          <a:prstGeom prst="rect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EF6FBE-66FD-4A2F-A2AA-1E58008FC98E}"/>
              </a:ext>
            </a:extLst>
          </p:cNvPr>
          <p:cNvSpPr>
            <a:spLocks noGrp="1"/>
          </p:cNvSpPr>
          <p:nvPr/>
        </p:nvSpPr>
        <p:spPr>
          <a:xfrm>
            <a:off x="1143000" y="3905250"/>
            <a:ext cx="2381250" cy="666750"/>
          </a:xfrm>
          <a:prstGeom prst="ellipse">
            <a:avLst/>
          </a:prstGeom>
          <a:solidFill>
            <a:srgbClr val="0D5FC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E73012-755D-4520-82A0-CF32CFF2A5B1}"/>
              </a:ext>
            </a:extLst>
          </p:cNvPr>
          <p:cNvSpPr>
            <a:spLocks noGrp="1"/>
          </p:cNvSpPr>
          <p:nvPr/>
        </p:nvSpPr>
        <p:spPr>
          <a:xfrm>
            <a:off x="1428750" y="2971800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DROP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C60902-9D0A-4FEA-9971-F75BAF978910}"/>
              </a:ext>
            </a:extLst>
          </p:cNvPr>
          <p:cNvSpPr>
            <a:spLocks noGrp="1"/>
          </p:cNvSpPr>
          <p:nvPr/>
        </p:nvSpPr>
        <p:spPr>
          <a:xfrm>
            <a:off x="4762500" y="1905000"/>
            <a:ext cx="2857500" cy="1285875"/>
          </a:xfrm>
          <a:prstGeom prst="roundRect">
            <a:avLst>
              <a:gd name="adj" fmla="val 13333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91DBE0-4E1B-4B12-9A9B-CD484BC4B624}"/>
              </a:ext>
            </a:extLst>
          </p:cNvPr>
          <p:cNvSpPr>
            <a:spLocks noGrp="1"/>
          </p:cNvSpPr>
          <p:nvPr/>
        </p:nvSpPr>
        <p:spPr>
          <a:xfrm>
            <a:off x="4762500" y="1905000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FEBB61-AECA-4F74-ADBC-812915F328C8}"/>
              </a:ext>
            </a:extLst>
          </p:cNvPr>
          <p:cNvSpPr>
            <a:spLocks noGrp="1"/>
          </p:cNvSpPr>
          <p:nvPr/>
        </p:nvSpPr>
        <p:spPr>
          <a:xfrm>
            <a:off x="501015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Какво се премахва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AB590B-F782-4F94-958E-9C61EBECAE79}"/>
              </a:ext>
            </a:extLst>
          </p:cNvPr>
          <p:cNvSpPr>
            <a:spLocks noGrp="1"/>
          </p:cNvSpPr>
          <p:nvPr/>
        </p:nvSpPr>
        <p:spPr>
          <a:xfrm>
            <a:off x="5010150" y="2476500"/>
            <a:ext cx="2419350" cy="561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7414" lnSpcReduction="10000"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Регистрацията на базата, файловете и всички обекти в тях.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157606-C471-496C-BB93-3BEE774F68C6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2857500" cy="1285875"/>
          </a:xfrm>
          <a:prstGeom prst="roundRect">
            <a:avLst>
              <a:gd name="adj" fmla="val 13333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C6822E-5514-45E9-9022-300EF2C75E26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862509-05FE-431E-B603-EB193C8A9192}"/>
              </a:ext>
            </a:extLst>
          </p:cNvPr>
          <p:cNvSpPr>
            <a:spLocks noGrp="1"/>
          </p:cNvSpPr>
          <p:nvPr/>
        </p:nvSpPr>
        <p:spPr>
          <a:xfrm>
            <a:off x="5010150" y="37909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Какво може да остане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A453E5-9674-41D2-A4E4-533EABC9AC31}"/>
              </a:ext>
            </a:extLst>
          </p:cNvPr>
          <p:cNvSpPr>
            <a:spLocks noGrp="1"/>
          </p:cNvSpPr>
          <p:nvPr/>
        </p:nvSpPr>
        <p:spPr>
          <a:xfrm>
            <a:off x="5010150" y="4191000"/>
            <a:ext cx="2419350" cy="561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6792"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Предварително създаден архивен файл на друго място.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CC1F5AA-44ED-4226-90C8-CCFD84D890CE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857250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B5DC6930-6EE0-4FD2-9C24-0E3CF6A0A3EA}"/>
              </a:ext>
            </a:extLst>
          </p:cNvPr>
          <p:cNvSpPr>
            <a:spLocks noGrp="1"/>
          </p:cNvSpPr>
          <p:nvPr/>
        </p:nvSpPr>
        <p:spPr>
          <a:xfrm rot="5400000">
            <a:off x="4476750" y="2790825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39C76C5F-3D82-4CAD-8854-17361C3D1405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857250" cy="9525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9A5246D-C0EB-4A91-BB94-1FD197C51893}"/>
              </a:ext>
            </a:extLst>
          </p:cNvPr>
          <p:cNvSpPr>
            <a:spLocks noGrp="1"/>
          </p:cNvSpPr>
          <p:nvPr/>
        </p:nvSpPr>
        <p:spPr>
          <a:xfrm rot="5400000">
            <a:off x="4476750" y="4171950"/>
            <a:ext cx="133350" cy="133350"/>
          </a:xfrm>
          <a:prstGeom prst="triangl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8113A-944F-4C4E-AA12-E3B80699F192}"/>
              </a:ext>
            </a:extLst>
          </p:cNvPr>
          <p:cNvSpPr>
            <a:spLocks noGrp="1"/>
          </p:cNvSpPr>
          <p:nvPr/>
        </p:nvSpPr>
        <p:spPr>
          <a:xfrm>
            <a:off x="8096250" y="27146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DROP DATABASE е необратима операция без валиден архив.</a:t>
            </a:r>
          </a:p>
        </p:txBody>
      </p:sp>
    </p:spTree>
    <p:extLst>
      <p:ext uri="{BB962C8B-B14F-4D97-AF65-F5344CB8AC3E}">
        <p14:creationId xmlns:p14="http://schemas.microsoft.com/office/powerpoint/2010/main" val="701985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739B79A-027C-4581-9742-B9155260BB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348CF1-AC00-481F-A1CA-CBF6BCD8193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ПРЕДИ DROP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9DD4F9-3594-47E8-B3D8-27CFC88CC24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Шест проверки преди изтриване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A3A10EA-D693-4E86-82F9-58F5962AE82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171F19-384C-46F3-949D-70F5B605B5C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32DCE2-6A5C-4E21-BC64-50D6634675F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E575A5-83DF-4631-AD05-6E9751DB7D60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8C0B52-498A-48C5-A4FC-99980E9B5E67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E42B15-5133-4663-B783-399FACCA64FB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ИМЕ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809746-FA38-4901-BCF6-5B2E53835F12}"/>
              </a:ext>
            </a:extLst>
          </p:cNvPr>
          <p:cNvSpPr>
            <a:spLocks noGrp="1"/>
          </p:cNvSpPr>
          <p:nvPr/>
        </p:nvSpPr>
        <p:spPr>
          <a:xfrm>
            <a:off x="93345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точната учебна база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174A9B-3BD5-4C40-8786-6A3222185FD3}"/>
              </a:ext>
            </a:extLst>
          </p:cNvPr>
          <p:cNvSpPr>
            <a:spLocks noGrp="1"/>
          </p:cNvSpPr>
          <p:nvPr/>
        </p:nvSpPr>
        <p:spPr>
          <a:xfrm>
            <a:off x="436245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1D979C7-651C-4E18-ABBE-092FD2B88074}"/>
              </a:ext>
            </a:extLst>
          </p:cNvPr>
          <p:cNvSpPr>
            <a:spLocks noGrp="1"/>
          </p:cNvSpPr>
          <p:nvPr/>
        </p:nvSpPr>
        <p:spPr>
          <a:xfrm>
            <a:off x="436245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90C8D4-9804-4549-8044-779D2D19E066}"/>
              </a:ext>
            </a:extLst>
          </p:cNvPr>
          <p:cNvSpPr>
            <a:spLocks noGrp="1"/>
          </p:cNvSpPr>
          <p:nvPr/>
        </p:nvSpPr>
        <p:spPr>
          <a:xfrm>
            <a:off x="461010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КОНТЕКСТ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CCD4E0-49E6-475E-A973-CDF7C78AA303}"/>
              </a:ext>
            </a:extLst>
          </p:cNvPr>
          <p:cNvSpPr>
            <a:spLocks noGrp="1"/>
          </p:cNvSpPr>
          <p:nvPr/>
        </p:nvSpPr>
        <p:spPr>
          <a:xfrm>
            <a:off x="461010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USE master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28DA79A-8CD5-48D7-B2E5-438D1FFB9CFA}"/>
              </a:ext>
            </a:extLst>
          </p:cNvPr>
          <p:cNvSpPr>
            <a:spLocks noGrp="1"/>
          </p:cNvSpPr>
          <p:nvPr/>
        </p:nvSpPr>
        <p:spPr>
          <a:xfrm>
            <a:off x="803910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ECA59D7-BC25-4FD2-BDD6-6D08F71B5219}"/>
              </a:ext>
            </a:extLst>
          </p:cNvPr>
          <p:cNvSpPr>
            <a:spLocks noGrp="1"/>
          </p:cNvSpPr>
          <p:nvPr/>
        </p:nvSpPr>
        <p:spPr>
          <a:xfrm>
            <a:off x="803910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7C6AB2-8259-438F-BEBD-891E584B9FCA}"/>
              </a:ext>
            </a:extLst>
          </p:cNvPr>
          <p:cNvSpPr>
            <a:spLocks noGrp="1"/>
          </p:cNvSpPr>
          <p:nvPr/>
        </p:nvSpPr>
        <p:spPr>
          <a:xfrm>
            <a:off x="82867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ВРЪЗКИ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417AE8-AF48-4A36-99DF-6B2F1096DB8E}"/>
              </a:ext>
            </a:extLst>
          </p:cNvPr>
          <p:cNvSpPr>
            <a:spLocks noGrp="1"/>
          </p:cNvSpPr>
          <p:nvPr/>
        </p:nvSpPr>
        <p:spPr>
          <a:xfrm>
            <a:off x="828675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няма активни потребители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0B0999-FBEB-4214-8508-DBCF12BC625C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0E007F0-0231-457A-A536-90814EDCF79A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94C0AF-BE33-4140-A801-C332235E9880}"/>
              </a:ext>
            </a:extLst>
          </p:cNvPr>
          <p:cNvSpPr>
            <a:spLocks noGrp="1"/>
          </p:cNvSpPr>
          <p:nvPr/>
        </p:nvSpPr>
        <p:spPr>
          <a:xfrm>
            <a:off x="93345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АРХИВ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CB1682-627A-4B6A-9B3C-92C5305402BE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има валиден backup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20DE268-DABD-4C6E-B5F4-276AA8970CE9}"/>
              </a:ext>
            </a:extLst>
          </p:cNvPr>
          <p:cNvSpPr>
            <a:spLocks noGrp="1"/>
          </p:cNvSpPr>
          <p:nvPr/>
        </p:nvSpPr>
        <p:spPr>
          <a:xfrm>
            <a:off x="436245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FDECE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86A3C51-F97B-4BD7-B582-5269548C92D8}"/>
              </a:ext>
            </a:extLst>
          </p:cNvPr>
          <p:cNvSpPr>
            <a:spLocks noGrp="1"/>
          </p:cNvSpPr>
          <p:nvPr/>
        </p:nvSpPr>
        <p:spPr>
          <a:xfrm>
            <a:off x="436245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C7017C-DF99-4335-AE9B-C375FC960F30}"/>
              </a:ext>
            </a:extLst>
          </p:cNvPr>
          <p:cNvSpPr>
            <a:spLocks noGrp="1"/>
          </p:cNvSpPr>
          <p:nvPr/>
        </p:nvSpPr>
        <p:spPr>
          <a:xfrm>
            <a:off x="461010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СИСТЕМНА БАЗА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C1BC6E-5C29-4B59-8C69-3863DCF2B007}"/>
              </a:ext>
            </a:extLst>
          </p:cNvPr>
          <p:cNvSpPr>
            <a:spLocks noGrp="1"/>
          </p:cNvSpPr>
          <p:nvPr/>
        </p:nvSpPr>
        <p:spPr>
          <a:xfrm>
            <a:off x="461010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не изтриваме master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53E6B40-7AC5-478B-BBFE-597B08F1D543}"/>
              </a:ext>
            </a:extLst>
          </p:cNvPr>
          <p:cNvSpPr>
            <a:spLocks noGrp="1"/>
          </p:cNvSpPr>
          <p:nvPr/>
        </p:nvSpPr>
        <p:spPr>
          <a:xfrm>
            <a:off x="803910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8EEF4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7E45420-EE25-4D41-ACAF-FF2A9B7D02DC}"/>
              </a:ext>
            </a:extLst>
          </p:cNvPr>
          <p:cNvSpPr>
            <a:spLocks noGrp="1"/>
          </p:cNvSpPr>
          <p:nvPr/>
        </p:nvSpPr>
        <p:spPr>
          <a:xfrm>
            <a:off x="803910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83B56"/>
          </a:solidFill>
          <a:ln w="9525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EB598F-10C7-4839-90E2-AB1A25553E2D}"/>
              </a:ext>
            </a:extLst>
          </p:cNvPr>
          <p:cNvSpPr>
            <a:spLocks noGrp="1"/>
          </p:cNvSpPr>
          <p:nvPr/>
        </p:nvSpPr>
        <p:spPr>
          <a:xfrm>
            <a:off x="828675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ПОТВЪРЖДЕНИЕ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293929-D1B9-4271-8BC4-789ADCB82480}"/>
              </a:ext>
            </a:extLst>
          </p:cNvPr>
          <p:cNvSpPr>
            <a:spLocks noGrp="1"/>
          </p:cNvSpPr>
          <p:nvPr/>
        </p:nvSpPr>
        <p:spPr>
          <a:xfrm>
            <a:off x="828675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проверяваме още веднъж</a:t>
            </a:r>
          </a:p>
        </p:txBody>
      </p:sp>
    </p:spTree>
    <p:extLst>
      <p:ext uri="{BB962C8B-B14F-4D97-AF65-F5344CB8AC3E}">
        <p14:creationId xmlns:p14="http://schemas.microsoft.com/office/powerpoint/2010/main" val="1227198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BB6FB310-E086-482D-BBC7-D21F87D90C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541D49-7B6B-40A9-863A-054634E4B3D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АРТЕФАКТИ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0C4D9-2744-477A-82C2-920DB37EDD84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Архив, скрипт и файлове на базата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618CACB-9887-4F98-B1A5-D864BEBA971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96A443-4D46-48E6-9A7C-EEA6BBB8D4C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29F3E5-2949-4B15-9298-0D2E6E5CDAF4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AD3C7-9861-4089-B2B7-39AD3C9CE82D}"/>
              </a:ext>
            </a:extLst>
          </p:cNvPr>
          <p:cNvSpPr>
            <a:spLocks noGrp="1"/>
          </p:cNvSpPr>
          <p:nvPr/>
        </p:nvSpPr>
        <p:spPr>
          <a:xfrm>
            <a:off x="809625" y="1714500"/>
            <a:ext cx="342900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E9A038-474B-460B-BED2-CC73E7C9FDDA}"/>
              </a:ext>
            </a:extLst>
          </p:cNvPr>
          <p:cNvSpPr>
            <a:spLocks noGrp="1"/>
          </p:cNvSpPr>
          <p:nvPr/>
        </p:nvSpPr>
        <p:spPr>
          <a:xfrm>
            <a:off x="847725" y="1752600"/>
            <a:ext cx="335280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Артефакт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6B7C9A-0929-4165-A394-D854C7B97182}"/>
              </a:ext>
            </a:extLst>
          </p:cNvPr>
          <p:cNvSpPr>
            <a:spLocks noGrp="1"/>
          </p:cNvSpPr>
          <p:nvPr/>
        </p:nvSpPr>
        <p:spPr>
          <a:xfrm>
            <a:off x="4333875" y="1714500"/>
            <a:ext cx="314325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BFA4F7-D226-4306-ABC9-4AE44AFBBF41}"/>
              </a:ext>
            </a:extLst>
          </p:cNvPr>
          <p:cNvSpPr>
            <a:spLocks noGrp="1"/>
          </p:cNvSpPr>
          <p:nvPr/>
        </p:nvSpPr>
        <p:spPr>
          <a:xfrm>
            <a:off x="4371975" y="1752600"/>
            <a:ext cx="306705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Какво съдържа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808DEF-515A-47D1-8316-0EF17737AE68}"/>
              </a:ext>
            </a:extLst>
          </p:cNvPr>
          <p:cNvSpPr>
            <a:spLocks noGrp="1"/>
          </p:cNvSpPr>
          <p:nvPr/>
        </p:nvSpPr>
        <p:spPr>
          <a:xfrm>
            <a:off x="7572375" y="1714500"/>
            <a:ext cx="381000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A54C8A-A812-4086-BA3D-BD189B80EDD0}"/>
              </a:ext>
            </a:extLst>
          </p:cNvPr>
          <p:cNvSpPr>
            <a:spLocks noGrp="1"/>
          </p:cNvSpPr>
          <p:nvPr/>
        </p:nvSpPr>
        <p:spPr>
          <a:xfrm>
            <a:off x="7610475" y="1752600"/>
            <a:ext cx="373380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Основна употреба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AC687A-A463-4640-8DDB-841E649343D9}"/>
              </a:ext>
            </a:extLst>
          </p:cNvPr>
          <p:cNvSpPr>
            <a:spLocks noGrp="1"/>
          </p:cNvSpPr>
          <p:nvPr/>
        </p:nvSpPr>
        <p:spPr>
          <a:xfrm>
            <a:off x="809625" y="22383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2E08DC-ECE1-4EAD-96F3-B17FA1DDB3B4}"/>
              </a:ext>
            </a:extLst>
          </p:cNvPr>
          <p:cNvSpPr>
            <a:spLocks noGrp="1"/>
          </p:cNvSpPr>
          <p:nvPr/>
        </p:nvSpPr>
        <p:spPr>
          <a:xfrm>
            <a:off x="923925" y="23050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Full backup (.bak)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9D00D5-5639-42D3-905D-A5CF51B3B38B}"/>
              </a:ext>
            </a:extLst>
          </p:cNvPr>
          <p:cNvSpPr>
            <a:spLocks noGrp="1"/>
          </p:cNvSpPr>
          <p:nvPr/>
        </p:nvSpPr>
        <p:spPr>
          <a:xfrm>
            <a:off x="4333875" y="22383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10DD20-8EF3-4D97-BDC8-C5037005E8EC}"/>
              </a:ext>
            </a:extLst>
          </p:cNvPr>
          <p:cNvSpPr>
            <a:spLocks noGrp="1"/>
          </p:cNvSpPr>
          <p:nvPr/>
        </p:nvSpPr>
        <p:spPr>
          <a:xfrm>
            <a:off x="4448175" y="23050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структура и данни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64FDA7-50A9-4AE5-A06C-5E0E23995EE6}"/>
              </a:ext>
            </a:extLst>
          </p:cNvPr>
          <p:cNvSpPr>
            <a:spLocks noGrp="1"/>
          </p:cNvSpPr>
          <p:nvPr/>
        </p:nvSpPr>
        <p:spPr>
          <a:xfrm>
            <a:off x="7572375" y="22383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3DC7B-2751-420A-A25E-98AD468FEB2C}"/>
              </a:ext>
            </a:extLst>
          </p:cNvPr>
          <p:cNvSpPr>
            <a:spLocks noGrp="1"/>
          </p:cNvSpPr>
          <p:nvPr/>
        </p:nvSpPr>
        <p:spPr>
          <a:xfrm>
            <a:off x="7686675" y="23050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възстановяване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FDD860-7D22-40E7-B67D-86F3F0453E28}"/>
              </a:ext>
            </a:extLst>
          </p:cNvPr>
          <p:cNvSpPr>
            <a:spLocks noGrp="1"/>
          </p:cNvSpPr>
          <p:nvPr/>
        </p:nvSpPr>
        <p:spPr>
          <a:xfrm>
            <a:off x="809625" y="2847975"/>
            <a:ext cx="3429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223CDF-6E7C-496A-88C5-3278887C5991}"/>
              </a:ext>
            </a:extLst>
          </p:cNvPr>
          <p:cNvSpPr>
            <a:spLocks noGrp="1"/>
          </p:cNvSpPr>
          <p:nvPr/>
        </p:nvSpPr>
        <p:spPr>
          <a:xfrm>
            <a:off x="923925" y="29146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SQL script (.sql)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CDF706-931D-4519-9D6D-869B7FC6CE7A}"/>
              </a:ext>
            </a:extLst>
          </p:cNvPr>
          <p:cNvSpPr>
            <a:spLocks noGrp="1"/>
          </p:cNvSpPr>
          <p:nvPr/>
        </p:nvSpPr>
        <p:spPr>
          <a:xfrm>
            <a:off x="4333875" y="2847975"/>
            <a:ext cx="3143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EE63A3-94FF-40D3-BAFE-AE7C4A716DDA}"/>
              </a:ext>
            </a:extLst>
          </p:cNvPr>
          <p:cNvSpPr>
            <a:spLocks noGrp="1"/>
          </p:cNvSpPr>
          <p:nvPr/>
        </p:nvSpPr>
        <p:spPr>
          <a:xfrm>
            <a:off x="4448175" y="29146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четими SQL команди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A47FEC-0172-4B6B-BEA8-4A32BDE0E230}"/>
              </a:ext>
            </a:extLst>
          </p:cNvPr>
          <p:cNvSpPr>
            <a:spLocks noGrp="1"/>
          </p:cNvSpPr>
          <p:nvPr/>
        </p:nvSpPr>
        <p:spPr>
          <a:xfrm>
            <a:off x="7572375" y="2847975"/>
            <a:ext cx="3810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177D33-3BF3-48F6-9811-DDAF1EEEEA43}"/>
              </a:ext>
            </a:extLst>
          </p:cNvPr>
          <p:cNvSpPr>
            <a:spLocks noGrp="1"/>
          </p:cNvSpPr>
          <p:nvPr/>
        </p:nvSpPr>
        <p:spPr>
          <a:xfrm>
            <a:off x="7686675" y="29146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повторно създаване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ABF9D1-781D-4706-BCFB-459E25E91B9E}"/>
              </a:ext>
            </a:extLst>
          </p:cNvPr>
          <p:cNvSpPr>
            <a:spLocks noGrp="1"/>
          </p:cNvSpPr>
          <p:nvPr/>
        </p:nvSpPr>
        <p:spPr>
          <a:xfrm>
            <a:off x="809625" y="34575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44A580-DE49-481F-AC9E-3A554561FB5B}"/>
              </a:ext>
            </a:extLst>
          </p:cNvPr>
          <p:cNvSpPr>
            <a:spLocks noGrp="1"/>
          </p:cNvSpPr>
          <p:nvPr/>
        </p:nvSpPr>
        <p:spPr>
          <a:xfrm>
            <a:off x="923925" y="35242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Data file (.mdf)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AEDCE4-E675-4ED6-89C4-EE89DE6C6417}"/>
              </a:ext>
            </a:extLst>
          </p:cNvPr>
          <p:cNvSpPr>
            <a:spLocks noGrp="1"/>
          </p:cNvSpPr>
          <p:nvPr/>
        </p:nvSpPr>
        <p:spPr>
          <a:xfrm>
            <a:off x="4333875" y="34575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7D877A-1E1E-4A72-9A73-795B18C8C701}"/>
              </a:ext>
            </a:extLst>
          </p:cNvPr>
          <p:cNvSpPr>
            <a:spLocks noGrp="1"/>
          </p:cNvSpPr>
          <p:nvPr/>
        </p:nvSpPr>
        <p:spPr>
          <a:xfrm>
            <a:off x="4448175" y="35242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страници с данни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BF6AD0-5622-4E20-B47E-AF68C053014A}"/>
              </a:ext>
            </a:extLst>
          </p:cNvPr>
          <p:cNvSpPr>
            <a:spLocks noGrp="1"/>
          </p:cNvSpPr>
          <p:nvPr/>
        </p:nvSpPr>
        <p:spPr>
          <a:xfrm>
            <a:off x="7572375" y="34575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99FD91-DA68-470D-88F7-5C10D6356555}"/>
              </a:ext>
            </a:extLst>
          </p:cNvPr>
          <p:cNvSpPr>
            <a:spLocks noGrp="1"/>
          </p:cNvSpPr>
          <p:nvPr/>
        </p:nvSpPr>
        <p:spPr>
          <a:xfrm>
            <a:off x="7686675" y="35242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вътрешно съхранение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51CD29-7D87-4D40-B805-65CB89BA8F87}"/>
              </a:ext>
            </a:extLst>
          </p:cNvPr>
          <p:cNvSpPr>
            <a:spLocks noGrp="1"/>
          </p:cNvSpPr>
          <p:nvPr/>
        </p:nvSpPr>
        <p:spPr>
          <a:xfrm>
            <a:off x="809625" y="4067175"/>
            <a:ext cx="3429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51F56F-2C81-48A1-83E5-3C04EC3E1160}"/>
              </a:ext>
            </a:extLst>
          </p:cNvPr>
          <p:cNvSpPr>
            <a:spLocks noGrp="1"/>
          </p:cNvSpPr>
          <p:nvPr/>
        </p:nvSpPr>
        <p:spPr>
          <a:xfrm>
            <a:off x="923925" y="41338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Log file (.ldf)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BF3A42-8ABB-4D53-B317-53C6B0C046AD}"/>
              </a:ext>
            </a:extLst>
          </p:cNvPr>
          <p:cNvSpPr>
            <a:spLocks noGrp="1"/>
          </p:cNvSpPr>
          <p:nvPr/>
        </p:nvSpPr>
        <p:spPr>
          <a:xfrm>
            <a:off x="4333875" y="4067175"/>
            <a:ext cx="3143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001BE5-4980-4BC3-8848-86807AC23125}"/>
              </a:ext>
            </a:extLst>
          </p:cNvPr>
          <p:cNvSpPr>
            <a:spLocks noGrp="1"/>
          </p:cNvSpPr>
          <p:nvPr/>
        </p:nvSpPr>
        <p:spPr>
          <a:xfrm>
            <a:off x="4448175" y="41338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транзакционен дневник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276453-BA8E-4399-B7A6-CA3E81EF21C2}"/>
              </a:ext>
            </a:extLst>
          </p:cNvPr>
          <p:cNvSpPr>
            <a:spLocks noGrp="1"/>
          </p:cNvSpPr>
          <p:nvPr/>
        </p:nvSpPr>
        <p:spPr>
          <a:xfrm>
            <a:off x="7572375" y="4067175"/>
            <a:ext cx="3810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4C907B7-AD0B-4F27-A463-D984CE51F811}"/>
              </a:ext>
            </a:extLst>
          </p:cNvPr>
          <p:cNvSpPr>
            <a:spLocks noGrp="1"/>
          </p:cNvSpPr>
          <p:nvPr/>
        </p:nvSpPr>
        <p:spPr>
          <a:xfrm>
            <a:off x="7686675" y="41338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възстановяване на промени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F14221-6FD1-4773-88F9-BFD529AA0142}"/>
              </a:ext>
            </a:extLst>
          </p:cNvPr>
          <p:cNvSpPr>
            <a:spLocks noGrp="1"/>
          </p:cNvSpPr>
          <p:nvPr/>
        </p:nvSpPr>
        <p:spPr>
          <a:xfrm>
            <a:off x="809625" y="46767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8B2082-712A-45E3-A1E4-5EF71B261E06}"/>
              </a:ext>
            </a:extLst>
          </p:cNvPr>
          <p:cNvSpPr>
            <a:spLocks noGrp="1"/>
          </p:cNvSpPr>
          <p:nvPr/>
        </p:nvSpPr>
        <p:spPr>
          <a:xfrm>
            <a:off x="923925" y="47434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Export (.csv)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1D5BFED-9F3F-43E7-A030-9D2DED976832}"/>
              </a:ext>
            </a:extLst>
          </p:cNvPr>
          <p:cNvSpPr>
            <a:spLocks noGrp="1"/>
          </p:cNvSpPr>
          <p:nvPr/>
        </p:nvSpPr>
        <p:spPr>
          <a:xfrm>
            <a:off x="4333875" y="46767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42DC9A-019B-44BB-AF7A-8A3BBD49C94B}"/>
              </a:ext>
            </a:extLst>
          </p:cNvPr>
          <p:cNvSpPr>
            <a:spLocks noGrp="1"/>
          </p:cNvSpPr>
          <p:nvPr/>
        </p:nvSpPr>
        <p:spPr>
          <a:xfrm>
            <a:off x="4448175" y="47434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данни от избрана таблица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4007C5-2A98-4935-92DE-9A69613D6738}"/>
              </a:ext>
            </a:extLst>
          </p:cNvPr>
          <p:cNvSpPr>
            <a:spLocks noGrp="1"/>
          </p:cNvSpPr>
          <p:nvPr/>
        </p:nvSpPr>
        <p:spPr>
          <a:xfrm>
            <a:off x="7572375" y="46767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9D806A0-E173-4A0C-8841-479FED0E46DF}"/>
              </a:ext>
            </a:extLst>
          </p:cNvPr>
          <p:cNvSpPr>
            <a:spLocks noGrp="1"/>
          </p:cNvSpPr>
          <p:nvPr/>
        </p:nvSpPr>
        <p:spPr>
          <a:xfrm>
            <a:off x="7686675" y="47434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обмен на данни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7B9030-0D6B-4446-A481-FA7F50161A82}"/>
              </a:ext>
            </a:extLst>
          </p:cNvPr>
          <p:cNvSpPr>
            <a:spLocks noGrp="1"/>
          </p:cNvSpPr>
          <p:nvPr/>
        </p:nvSpPr>
        <p:spPr>
          <a:xfrm>
            <a:off x="952500" y="55721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Backup не е обикновено копиране на .mdf и .ldf файлове.</a:t>
            </a:r>
          </a:p>
        </p:txBody>
      </p:sp>
    </p:spTree>
    <p:extLst>
      <p:ext uri="{BB962C8B-B14F-4D97-AF65-F5344CB8AC3E}">
        <p14:creationId xmlns:p14="http://schemas.microsoft.com/office/powerpoint/2010/main" val="1117672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5E7753-B6B9-4AF0-8BE8-1150AF35BB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854E4B-7B36-4558-B690-5978CA889186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BACKUP И RESTORE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7F3494-4E42-4D03-AA05-618F3FC975A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Пълен архив и възстановяване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2472259-3BD5-4265-8D2E-4434D2E1E971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56C6E4-2C4F-46A7-B488-FBDC02B1732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AC14ED-8937-40EA-B873-5A16F51D740A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F22A1B-7DED-4D6B-AF15-64AB709C5D84}"/>
              </a:ext>
            </a:extLst>
          </p:cNvPr>
          <p:cNvSpPr>
            <a:spLocks noGrp="1"/>
          </p:cNvSpPr>
          <p:nvPr/>
        </p:nvSpPr>
        <p:spPr>
          <a:xfrm>
            <a:off x="9620250" y="695325"/>
            <a:ext cx="1381125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4DB604-D5A3-49EA-9C99-9E932A3EA77E}"/>
              </a:ext>
            </a:extLst>
          </p:cNvPr>
          <p:cNvSpPr>
            <a:spLocks noGrp="1"/>
          </p:cNvSpPr>
          <p:nvPr/>
        </p:nvSpPr>
        <p:spPr>
          <a:xfrm>
            <a:off x="9696450" y="714375"/>
            <a:ext cx="1228725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минути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707733-A7C5-4353-9BA5-5EB1ADC58419}"/>
              </a:ext>
            </a:extLst>
          </p:cNvPr>
          <p:cNvSpPr>
            <a:spLocks noGrp="1"/>
          </p:cNvSpPr>
          <p:nvPr/>
        </p:nvSpPr>
        <p:spPr>
          <a:xfrm>
            <a:off x="809625" y="157162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65946E-B0CE-40E2-9B0F-1BB88208451B}"/>
              </a:ext>
            </a:extLst>
          </p:cNvPr>
          <p:cNvSpPr>
            <a:spLocks noGrp="1"/>
          </p:cNvSpPr>
          <p:nvPr/>
        </p:nvSpPr>
        <p:spPr>
          <a:xfrm>
            <a:off x="914400" y="16383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016F93-A230-48FA-AACE-9F37BFAA3254}"/>
              </a:ext>
            </a:extLst>
          </p:cNvPr>
          <p:cNvSpPr>
            <a:spLocks noGrp="1"/>
          </p:cNvSpPr>
          <p:nvPr/>
        </p:nvSpPr>
        <p:spPr>
          <a:xfrm>
            <a:off x="1476375" y="15525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Избираме базата и създаваме Full backup.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D0DAC0F-85A8-45F6-9102-0A732F0726C1}"/>
              </a:ext>
            </a:extLst>
          </p:cNvPr>
          <p:cNvSpPr>
            <a:spLocks noGrp="1"/>
          </p:cNvSpPr>
          <p:nvPr/>
        </p:nvSpPr>
        <p:spPr>
          <a:xfrm>
            <a:off x="809625" y="231457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F6B5BE-D5B4-4132-A7AF-3D7787A4263B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D6871-78DD-4B88-89ED-71E8C5D5BF0F}"/>
              </a:ext>
            </a:extLst>
          </p:cNvPr>
          <p:cNvSpPr>
            <a:spLocks noGrp="1"/>
          </p:cNvSpPr>
          <p:nvPr/>
        </p:nvSpPr>
        <p:spPr>
          <a:xfrm>
            <a:off x="1476375" y="229552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Проверяваме пътя и успешното съобщение.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C4724D-3A48-48BB-91A8-D22630AD9BE1}"/>
              </a:ext>
            </a:extLst>
          </p:cNvPr>
          <p:cNvSpPr>
            <a:spLocks noGrp="1"/>
          </p:cNvSpPr>
          <p:nvPr/>
        </p:nvSpPr>
        <p:spPr>
          <a:xfrm>
            <a:off x="809625" y="305752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6646CA-E0B3-4CD7-B586-B88F641CAC61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65DFD0-E2A5-408A-85B3-994B7ACEF5EB}"/>
              </a:ext>
            </a:extLst>
          </p:cNvPr>
          <p:cNvSpPr>
            <a:spLocks noGrp="1"/>
          </p:cNvSpPr>
          <p:nvPr/>
        </p:nvSpPr>
        <p:spPr>
          <a:xfrm>
            <a:off x="1476375" y="30384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Съхраняваме .bak файла отделно от активните файлове.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48DF82-3D93-45EB-81D4-59B2EDA30872}"/>
              </a:ext>
            </a:extLst>
          </p:cNvPr>
          <p:cNvSpPr>
            <a:spLocks noGrp="1"/>
          </p:cNvSpPr>
          <p:nvPr/>
        </p:nvSpPr>
        <p:spPr>
          <a:xfrm>
            <a:off x="809625" y="380047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F080E6-AFE9-4DE2-9EA9-FA3FD91401C4}"/>
              </a:ext>
            </a:extLst>
          </p:cNvPr>
          <p:cNvSpPr>
            <a:spLocks noGrp="1"/>
          </p:cNvSpPr>
          <p:nvPr/>
        </p:nvSpPr>
        <p:spPr>
          <a:xfrm>
            <a:off x="914400" y="38671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9FC623-08F1-4E28-8754-E954BC1C1D5D}"/>
              </a:ext>
            </a:extLst>
          </p:cNvPr>
          <p:cNvSpPr>
            <a:spLocks noGrp="1"/>
          </p:cNvSpPr>
          <p:nvPr/>
        </p:nvSpPr>
        <p:spPr>
          <a:xfrm>
            <a:off x="1476375" y="378142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При нужда избираме Restore Database…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E5C3A93-09D6-41AF-A506-08044C6CE75C}"/>
              </a:ext>
            </a:extLst>
          </p:cNvPr>
          <p:cNvSpPr>
            <a:spLocks noGrp="1"/>
          </p:cNvSpPr>
          <p:nvPr/>
        </p:nvSpPr>
        <p:spPr>
          <a:xfrm>
            <a:off x="809625" y="4543425"/>
            <a:ext cx="476250" cy="4762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4550FF-3668-49C3-9B1F-8F351D819952}"/>
              </a:ext>
            </a:extLst>
          </p:cNvPr>
          <p:cNvSpPr>
            <a:spLocks noGrp="1"/>
          </p:cNvSpPr>
          <p:nvPr/>
        </p:nvSpPr>
        <p:spPr>
          <a:xfrm>
            <a:off x="914400" y="46101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0C86BA-9C44-4C40-AF00-A01EB3B164AD}"/>
              </a:ext>
            </a:extLst>
          </p:cNvPr>
          <p:cNvSpPr>
            <a:spLocks noGrp="1"/>
          </p:cNvSpPr>
          <p:nvPr/>
        </p:nvSpPr>
        <p:spPr>
          <a:xfrm>
            <a:off x="1476375" y="45243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След RESTORE проверяваме таблиците и данните.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5538A46-0921-4B8A-A544-DE76CF3416FB}"/>
              </a:ext>
            </a:extLst>
          </p:cNvPr>
          <p:cNvSpPr>
            <a:spLocks noGrp="1"/>
          </p:cNvSpPr>
          <p:nvPr/>
        </p:nvSpPr>
        <p:spPr>
          <a:xfrm>
            <a:off x="1476375" y="5381625"/>
            <a:ext cx="9334500" cy="628650"/>
          </a:xfrm>
          <a:prstGeom prst="roundRect">
            <a:avLst>
              <a:gd name="adj" fmla="val 21212"/>
            </a:avLst>
          </a:prstGeom>
          <a:solidFill>
            <a:srgbClr val="E8FAF8"/>
          </a:solidFill>
          <a:ln w="9525">
            <a:solidFill>
              <a:srgbClr val="B7E9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FE0B80-FC31-4518-A90E-4E25834286D8}"/>
              </a:ext>
            </a:extLst>
          </p:cNvPr>
          <p:cNvSpPr>
            <a:spLocks noGrp="1"/>
          </p:cNvSpPr>
          <p:nvPr/>
        </p:nvSpPr>
        <p:spPr>
          <a:xfrm>
            <a:off x="1666875" y="5476875"/>
            <a:ext cx="89535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Архивът има стойност само ако може да бъде намерен и възстановен.</a:t>
            </a:r>
          </a:p>
        </p:txBody>
      </p:sp>
    </p:spTree>
    <p:extLst>
      <p:ext uri="{BB962C8B-B14F-4D97-AF65-F5344CB8AC3E}">
        <p14:creationId xmlns:p14="http://schemas.microsoft.com/office/powerpoint/2010/main" val="594765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601D8DE-F754-460A-9166-694AE09DF2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52EF9D-F8C1-405D-9B25-A91A3F8E38DF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ДИАГНОСТИКА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0D6C3C-804E-4D8F-A9EA-2403174F5851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Чести проблеми при BACKUP и RESTORE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DB8AD37-1CB4-49A1-B3BD-2F5FE809B76E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6C30CB-E8B4-49AF-8C4A-A5619755F74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B5504-7C42-4E0F-8D70-A4680CB10D1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888A39-3ED3-48FE-9DB6-5E13614EE9E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0571D9-A7D6-46E2-8553-A2392C5E5209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29A8F7-ADB7-43FA-B56D-FDE280C97389}"/>
              </a:ext>
            </a:extLst>
          </p:cNvPr>
          <p:cNvSpPr>
            <a:spLocks noGrp="1"/>
          </p:cNvSpPr>
          <p:nvPr/>
        </p:nvSpPr>
        <p:spPr>
          <a:xfrm>
            <a:off x="1019175" y="200025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3401F7-8AD8-4B2C-999A-EBA4F9923F55}"/>
              </a:ext>
            </a:extLst>
          </p:cNvPr>
          <p:cNvSpPr>
            <a:spLocks noGrp="1"/>
          </p:cNvSpPr>
          <p:nvPr/>
        </p:nvSpPr>
        <p:spPr>
          <a:xfrm>
            <a:off x="1562100" y="1905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Невалиден път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4FD1A2-C1E0-4023-A173-71E8EA144E92}"/>
              </a:ext>
            </a:extLst>
          </p:cNvPr>
          <p:cNvSpPr>
            <a:spLocks noGrp="1"/>
          </p:cNvSpPr>
          <p:nvPr/>
        </p:nvSpPr>
        <p:spPr>
          <a:xfrm>
            <a:off x="1562100" y="232410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SQL Server не намира папката или няма право за запис.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C0426B-0EB6-4F62-9035-F7D06205791C}"/>
              </a:ext>
            </a:extLst>
          </p:cNvPr>
          <p:cNvSpPr>
            <a:spLocks noGrp="1"/>
          </p:cNvSpPr>
          <p:nvPr/>
        </p:nvSpPr>
        <p:spPr>
          <a:xfrm>
            <a:off x="6238875" y="171450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2ABFC7-0BD6-41EA-8225-2038F3EB3C5F}"/>
              </a:ext>
            </a:extLst>
          </p:cNvPr>
          <p:cNvSpPr>
            <a:spLocks noGrp="1"/>
          </p:cNvSpPr>
          <p:nvPr/>
        </p:nvSpPr>
        <p:spPr>
          <a:xfrm>
            <a:off x="6448425" y="194310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A3EFF8-D006-4B74-AE68-8ECC64F27DAF}"/>
              </a:ext>
            </a:extLst>
          </p:cNvPr>
          <p:cNvSpPr>
            <a:spLocks noGrp="1"/>
          </p:cNvSpPr>
          <p:nvPr/>
        </p:nvSpPr>
        <p:spPr>
          <a:xfrm>
            <a:off x="6572250" y="200025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403DFA-330A-4C6C-93BB-1803BB0896C0}"/>
              </a:ext>
            </a:extLst>
          </p:cNvPr>
          <p:cNvSpPr>
            <a:spLocks noGrp="1"/>
          </p:cNvSpPr>
          <p:nvPr/>
        </p:nvSpPr>
        <p:spPr>
          <a:xfrm>
            <a:off x="7115175" y="1905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Активни връзки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F0EA16-1261-4C53-A2E9-00B3511C259D}"/>
              </a:ext>
            </a:extLst>
          </p:cNvPr>
          <p:cNvSpPr>
            <a:spLocks noGrp="1"/>
          </p:cNvSpPr>
          <p:nvPr/>
        </p:nvSpPr>
        <p:spPr>
          <a:xfrm>
            <a:off x="7115175" y="232410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Потребители използват базата по време на DROP или RESTORE.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8BEC34A-56C9-4CC1-BCCC-DD5564BC4556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253C593-DF48-440F-B77A-CE09C3B1F3CB}"/>
              </a:ext>
            </a:extLst>
          </p:cNvPr>
          <p:cNvSpPr>
            <a:spLocks noGrp="1"/>
          </p:cNvSpPr>
          <p:nvPr/>
        </p:nvSpPr>
        <p:spPr>
          <a:xfrm>
            <a:off x="895350" y="394335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5E25FC-10D6-43FA-8669-1643A63FB534}"/>
              </a:ext>
            </a:extLst>
          </p:cNvPr>
          <p:cNvSpPr>
            <a:spLocks noGrp="1"/>
          </p:cNvSpPr>
          <p:nvPr/>
        </p:nvSpPr>
        <p:spPr>
          <a:xfrm>
            <a:off x="1019175" y="400050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ADD2FD-CE02-42BC-9551-B1BF9F268DED}"/>
              </a:ext>
            </a:extLst>
          </p:cNvPr>
          <p:cNvSpPr>
            <a:spLocks noGrp="1"/>
          </p:cNvSpPr>
          <p:nvPr/>
        </p:nvSpPr>
        <p:spPr>
          <a:xfrm>
            <a:off x="1562100" y="39052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Грешен архив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7D0233-C27C-4324-BC0D-1378398BD695}"/>
              </a:ext>
            </a:extLst>
          </p:cNvPr>
          <p:cNvSpPr>
            <a:spLocks noGrp="1"/>
          </p:cNvSpPr>
          <p:nvPr/>
        </p:nvSpPr>
        <p:spPr>
          <a:xfrm>
            <a:off x="1562100" y="432435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Избраният .bak файл е за друга база или е повреден.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F0CE7CC-5328-4696-810E-5891CDEB89BC}"/>
              </a:ext>
            </a:extLst>
          </p:cNvPr>
          <p:cNvSpPr>
            <a:spLocks noGrp="1"/>
          </p:cNvSpPr>
          <p:nvPr/>
        </p:nvSpPr>
        <p:spPr>
          <a:xfrm>
            <a:off x="6238875" y="371475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AF60D7-3797-49EB-896B-4CA5D357D1C7}"/>
              </a:ext>
            </a:extLst>
          </p:cNvPr>
          <p:cNvSpPr>
            <a:spLocks noGrp="1"/>
          </p:cNvSpPr>
          <p:nvPr/>
        </p:nvSpPr>
        <p:spPr>
          <a:xfrm>
            <a:off x="6448425" y="394335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2FE4AA-C5D3-406A-A417-973516CE3D8A}"/>
              </a:ext>
            </a:extLst>
          </p:cNvPr>
          <p:cNvSpPr>
            <a:spLocks noGrp="1"/>
          </p:cNvSpPr>
          <p:nvPr/>
        </p:nvSpPr>
        <p:spPr>
          <a:xfrm>
            <a:off x="6572250" y="400050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917800-97EE-4ED7-A2D6-6B13A7AAEB05}"/>
              </a:ext>
            </a:extLst>
          </p:cNvPr>
          <p:cNvSpPr>
            <a:spLocks noGrp="1"/>
          </p:cNvSpPr>
          <p:nvPr/>
        </p:nvSpPr>
        <p:spPr>
          <a:xfrm>
            <a:off x="7115175" y="39052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Съществуваща база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13CD1C-DA3E-485F-A9D4-0AB3BB651ED6}"/>
              </a:ext>
            </a:extLst>
          </p:cNvPr>
          <p:cNvSpPr>
            <a:spLocks noGrp="1"/>
          </p:cNvSpPr>
          <p:nvPr/>
        </p:nvSpPr>
        <p:spPr>
          <a:xfrm>
            <a:off x="7115175" y="432435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RESTORE към същото име изисква внимателно решение за замяна.</a:t>
            </a:r>
          </a:p>
        </p:txBody>
      </p:sp>
    </p:spTree>
    <p:extLst>
      <p:ext uri="{BB962C8B-B14F-4D97-AF65-F5344CB8AC3E}">
        <p14:creationId xmlns:p14="http://schemas.microsoft.com/office/powerpoint/2010/main" val="1843998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6236507-7070-40FF-9353-EE62C95ADE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05751E-79D7-4D91-A933-06D58AF8E94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T-SQL ПРИМЕР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1335C0-E2A0-41A0-8F30-9FBB784BDEF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Пълен backup и последващо restore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5A93123-DF67-43AA-BECE-B0F01F524370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AA274-FB5A-482E-AD2B-582DA84994D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00FF10-C867-456C-8197-497D348F709F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7F417C-0724-45DE-9337-D0050136A07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905500" cy="3143250"/>
          </a:xfrm>
          <a:prstGeom prst="roundRect">
            <a:avLst>
              <a:gd name="adj" fmla="val 4848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E20B3F-8223-4C16-BB82-1E08F959171C}"/>
              </a:ext>
            </a:extLst>
          </p:cNvPr>
          <p:cNvSpPr>
            <a:spLocks noGrp="1"/>
          </p:cNvSpPr>
          <p:nvPr/>
        </p:nvSpPr>
        <p:spPr>
          <a:xfrm>
            <a:off x="857250" y="1895475"/>
            <a:ext cx="68580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49E80A-2EBF-4DD4-A0C9-AABAECF0B33A}"/>
              </a:ext>
            </a:extLst>
          </p:cNvPr>
          <p:cNvSpPr>
            <a:spLocks noGrp="1"/>
          </p:cNvSpPr>
          <p:nvPr/>
        </p:nvSpPr>
        <p:spPr>
          <a:xfrm>
            <a:off x="933450" y="191452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T-SQL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C878EC-CCBB-4452-869F-50B3ED0C375A}"/>
              </a:ext>
            </a:extLst>
          </p:cNvPr>
          <p:cNvSpPr>
            <a:spLocks noGrp="1"/>
          </p:cNvSpPr>
          <p:nvPr/>
        </p:nvSpPr>
        <p:spPr>
          <a:xfrm>
            <a:off x="895350" y="2333625"/>
            <a:ext cx="5486400" cy="2419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BACKUP DATABASE SchoolLibraryTheory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TO DISK = N'C:\SQLBackups\SchoolLibraryTheory_full.bak'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WITH INIT, STATS = 10;</a:t>
            </a:r>
          </a:p>
          <a:p>
            <a:pPr algn="l">
              <a:buNone/>
              <a:defRPr sz="16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endParaRPr sz="1200" b="0">
              <a:solidFill>
                <a:srgbClr val="E8F1F8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RESTORE DATABASE SchoolLibraryTheory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FROM DISK = N'C:\SQLBackups\SchoolLibraryTheory_full.bak'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WITH RECOVERY, STATS = 10;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608DD7-75EF-478E-BBE7-66833E226DA5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4362450" cy="1428750"/>
          </a:xfrm>
          <a:prstGeom prst="roundRect">
            <a:avLst>
              <a:gd name="adj" fmla="val 120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908D84-D052-478F-90AF-5E9EF17CCA54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411EF2-2CF9-4488-B577-88D274ABC006}"/>
              </a:ext>
            </a:extLst>
          </p:cNvPr>
          <p:cNvSpPr>
            <a:spLocks noGrp="1"/>
          </p:cNvSpPr>
          <p:nvPr/>
        </p:nvSpPr>
        <p:spPr>
          <a:xfrm>
            <a:off x="7391400" y="1933575"/>
            <a:ext cx="39243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Преди изпълнение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FF018B-1DB0-4102-985B-2CC0BBF3F93F}"/>
              </a:ext>
            </a:extLst>
          </p:cNvPr>
          <p:cNvSpPr>
            <a:spLocks noGrp="1"/>
          </p:cNvSpPr>
          <p:nvPr/>
        </p:nvSpPr>
        <p:spPr>
          <a:xfrm>
            <a:off x="7391400" y="2333625"/>
            <a:ext cx="39243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Папката трябва да съществува и услугата SQL Server да има права. RESTORE се изпълнява, когато целевата база не се използва.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60C827B-CB19-43DE-B4A3-B2368DC733CE}"/>
              </a:ext>
            </a:extLst>
          </p:cNvPr>
          <p:cNvSpPr>
            <a:spLocks noGrp="1"/>
          </p:cNvSpPr>
          <p:nvPr/>
        </p:nvSpPr>
        <p:spPr>
          <a:xfrm>
            <a:off x="7143750" y="3476625"/>
            <a:ext cx="4362450" cy="1428750"/>
          </a:xfrm>
          <a:prstGeom prst="roundRect">
            <a:avLst>
              <a:gd name="adj" fmla="val 12000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F2D4E3-67BC-4304-AA35-3274C4CFD6C3}"/>
              </a:ext>
            </a:extLst>
          </p:cNvPr>
          <p:cNvSpPr>
            <a:spLocks noGrp="1"/>
          </p:cNvSpPr>
          <p:nvPr/>
        </p:nvSpPr>
        <p:spPr>
          <a:xfrm>
            <a:off x="7143750" y="34766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B2D0B9-0B4E-4B98-A805-7F1E96BD7FDC}"/>
              </a:ext>
            </a:extLst>
          </p:cNvPr>
          <p:cNvSpPr>
            <a:spLocks noGrp="1"/>
          </p:cNvSpPr>
          <p:nvPr/>
        </p:nvSpPr>
        <p:spPr>
          <a:xfrm>
            <a:off x="7391400" y="3648075"/>
            <a:ext cx="39243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След изпълнение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C25E4B-B227-4100-9C99-75D7535949D5}"/>
              </a:ext>
            </a:extLst>
          </p:cNvPr>
          <p:cNvSpPr>
            <a:spLocks noGrp="1"/>
          </p:cNvSpPr>
          <p:nvPr/>
        </p:nvSpPr>
        <p:spPr>
          <a:xfrm>
            <a:off x="7391400" y="4048125"/>
            <a:ext cx="39243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Преглеждаме Messages, обновяваме Databases и проверяваме таблиците.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A461A3B-FB1F-4B29-92D2-115AF24422B1}"/>
              </a:ext>
            </a:extLst>
          </p:cNvPr>
          <p:cNvSpPr>
            <a:spLocks noGrp="1"/>
          </p:cNvSpPr>
          <p:nvPr/>
        </p:nvSpPr>
        <p:spPr>
          <a:xfrm>
            <a:off x="7143750" y="5191125"/>
            <a:ext cx="4362450" cy="619125"/>
          </a:xfrm>
          <a:prstGeom prst="roundRect">
            <a:avLst>
              <a:gd name="adj" fmla="val 21538"/>
            </a:avLst>
          </a:prstGeom>
          <a:solidFill>
            <a:srgbClr val="FDECEC"/>
          </a:solidFill>
          <a:ln w="9525">
            <a:solidFill>
              <a:srgbClr val="F5BAB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4EBD59-F790-41F0-BCB7-4B6DFCDA0F02}"/>
              </a:ext>
            </a:extLst>
          </p:cNvPr>
          <p:cNvSpPr>
            <a:spLocks noGrp="1"/>
          </p:cNvSpPr>
          <p:nvPr/>
        </p:nvSpPr>
        <p:spPr>
          <a:xfrm>
            <a:off x="7334250" y="5276850"/>
            <a:ext cx="398145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3807" lnSpcReduction="10000"/>
          </a:bodyPr>
          <a:lstStyle/>
          <a:p>
            <a:pPr algn="ctr">
              <a:buNone/>
              <a:defRPr sz="165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Пътят е примерен и зависи от инсталацията</a:t>
            </a:r>
          </a:p>
        </p:txBody>
      </p:sp>
    </p:spTree>
    <p:extLst>
      <p:ext uri="{BB962C8B-B14F-4D97-AF65-F5344CB8AC3E}">
        <p14:creationId xmlns:p14="http://schemas.microsoft.com/office/powerpoint/2010/main" val="1464625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CF53F4F-F78F-439C-8894-0AF8113B37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E70DE3-755F-4B62-AEB6-5C318E353EE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ФИНАЛ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DB0404-FA06-47FF-B61E-25FBC188E69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Изходен билет: 5 въпроса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1A26309-73F5-4BE6-8DD8-331C4F808334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4B8B6A-2677-4421-90AD-125C20CB5B9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3FFAB7-AE60-4454-897E-0A11B563E3A1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309BC1-E12A-4B5F-944B-932D97E69F69}"/>
              </a:ext>
            </a:extLst>
          </p:cNvPr>
          <p:cNvSpPr>
            <a:spLocks noGrp="1"/>
          </p:cNvSpPr>
          <p:nvPr/>
        </p:nvSpPr>
        <p:spPr>
          <a:xfrm>
            <a:off x="952500" y="15240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4C2836-08A6-40EF-8072-8BE6EE617AB0}"/>
              </a:ext>
            </a:extLst>
          </p:cNvPr>
          <p:cNvSpPr>
            <a:spLocks noGrp="1"/>
          </p:cNvSpPr>
          <p:nvPr/>
        </p:nvSpPr>
        <p:spPr>
          <a:xfrm>
            <a:off x="1162050" y="15716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1. Какво създава CREATE DATABASE?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7A5AB-B61A-4137-8CD7-690394AC4498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C910CC-A9C7-48B9-9CD7-053A74316E48}"/>
              </a:ext>
            </a:extLst>
          </p:cNvPr>
          <p:cNvSpPr>
            <a:spLocks noGrp="1"/>
          </p:cNvSpPr>
          <p:nvPr/>
        </p:nvSpPr>
        <p:spPr>
          <a:xfrm>
            <a:off x="1162050" y="22574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2. Защо преди DROP е нужен архив?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7E7EEF-1ED9-47BB-BFE4-4C574E72CAD2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D3ED94-801C-49B2-B9E2-C2D04BA86AE0}"/>
              </a:ext>
            </a:extLst>
          </p:cNvPr>
          <p:cNvSpPr>
            <a:spLocks noGrp="1"/>
          </p:cNvSpPr>
          <p:nvPr/>
        </p:nvSpPr>
        <p:spPr>
          <a:xfrm>
            <a:off x="1162050" y="29432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3. Каква е ролята на .mdf и .ldf файловете?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B3CE26-6981-449C-947D-684BCE4C9DB8}"/>
              </a:ext>
            </a:extLst>
          </p:cNvPr>
          <p:cNvSpPr>
            <a:spLocks noGrp="1"/>
          </p:cNvSpPr>
          <p:nvPr/>
        </p:nvSpPr>
        <p:spPr>
          <a:xfrm>
            <a:off x="952500" y="35814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1FAC68-323F-44D0-8DAD-48ACB47D645F}"/>
              </a:ext>
            </a:extLst>
          </p:cNvPr>
          <p:cNvSpPr>
            <a:spLocks noGrp="1"/>
          </p:cNvSpPr>
          <p:nvPr/>
        </p:nvSpPr>
        <p:spPr>
          <a:xfrm>
            <a:off x="1162050" y="36290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4. Каква е разликата между backup и SQL script?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BD8BFB-31FB-4843-958A-3E5B8EF5C5F3}"/>
              </a:ext>
            </a:extLst>
          </p:cNvPr>
          <p:cNvSpPr>
            <a:spLocks noGrp="1"/>
          </p:cNvSpPr>
          <p:nvPr/>
        </p:nvSpPr>
        <p:spPr>
          <a:xfrm>
            <a:off x="952500" y="42672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E97A9D-BC9F-4D6A-B491-85A10C19D8E7}"/>
              </a:ext>
            </a:extLst>
          </p:cNvPr>
          <p:cNvSpPr>
            <a:spLocks noGrp="1"/>
          </p:cNvSpPr>
          <p:nvPr/>
        </p:nvSpPr>
        <p:spPr>
          <a:xfrm>
            <a:off x="1162050" y="43148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5. Какво проверяваме след RESTORE?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E15260C-3285-4BC2-B6C3-5BE9DA8B9671}"/>
              </a:ext>
            </a:extLst>
          </p:cNvPr>
          <p:cNvSpPr>
            <a:spLocks noGrp="1"/>
          </p:cNvSpPr>
          <p:nvPr/>
        </p:nvSpPr>
        <p:spPr>
          <a:xfrm>
            <a:off x="952500" y="5191125"/>
            <a:ext cx="10287000" cy="781050"/>
          </a:xfrm>
          <a:prstGeom prst="roundRect">
            <a:avLst>
              <a:gd name="adj" fmla="val 19512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817B21-3807-42EC-BF66-C9E854A42EB7}"/>
              </a:ext>
            </a:extLst>
          </p:cNvPr>
          <p:cNvSpPr>
            <a:spLocks noGrp="1"/>
          </p:cNvSpPr>
          <p:nvPr/>
        </p:nvSpPr>
        <p:spPr>
          <a:xfrm>
            <a:off x="1238250" y="5334000"/>
            <a:ext cx="97155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Следваща тема: релационен модел и основни SQL команди</a:t>
            </a:r>
          </a:p>
        </p:txBody>
      </p:sp>
    </p:spTree>
    <p:extLst>
      <p:ext uri="{BB962C8B-B14F-4D97-AF65-F5344CB8AC3E}">
        <p14:creationId xmlns:p14="http://schemas.microsoft.com/office/powerpoint/2010/main" val="2048963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1764</Words>
  <Application>Microsoft Office PowerPoint</Application>
  <DocSecurity>0</DocSecurity>
  <PresentationFormat>Widescreen</PresentationFormat>
  <Paragraphs>302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Ahmed Ahmed</cp:lastModifiedBy>
  <cp:revision>6</cp:revision>
  <dcterms:created xsi:type="dcterms:W3CDTF">2026-09-28T18:56:30Z</dcterms:created>
  <dcterms:modified xsi:type="dcterms:W3CDTF">2026-09-29T06:06:15Z</dcterms:modified>
</cp:coreProperties>
</file>