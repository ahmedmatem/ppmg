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Свържете темата с предишния урок. Днес фокусът е върху избора на тип, а не върху създаването на таблици.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Представете целите. В края на часа учениците трябва да аргументират избора на тип.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Използвайте примера с дата, записана като текст. Попитайте дали '31.02.2026' трябва да бъде допустима стойност.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Обяснете четирите характеристики. Типът задава домейн, размер, точност и допустими 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Направете обща класификация. Подробностите за всяка група следват в следващите слайдове.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Покажете, че диапазонът расте от TINYINT към BIGINT, но расте и използваната памет.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Разчетете таблицата. Уточнете, че INT е най-често използваният целочислен тип за идентификатори.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Нека учениците предложат тип, преди да покажете отговора. Обсъдете защо BIGINT навсякъде не е добър автоматичен избор.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Разграничете точните от приблизителните типове. За финансови стойности и оценки използвайте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Запишете DECIMAL(5,2) на дъската. p е общият брой цифри, s е броят цифри след десетичния знак.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Дайте по един реален пример за DATE, TIME и DATETIME2. Уточнете, че DATETIME2 е препоръчителен за нови таблици с дата и 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Обяснете фиксирана и променлива дължина. Акцентирайте върху NVARCHAR за български 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Обяснете параметъра n. Не е нужно учениците още да пишат CREATE TABLE, а само да разчитат декларациите.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NULL означава липса на известна стойност. Сравнете NULL, 0 и празен текст с конкретни примери.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Използвайте слайда като кратко обобщение на най-често срещаните типове.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Преминете през всеки ред. Поискайте аргумент, свързан със смисъла, диапазона или точността.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Учениците работят по двойки. След това сравнете предложенията с очакваните отговори.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Покажете, че неправилният тип може да позволи невалидни данни или да затрудни изчисленията.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Учениците разчитат фрагмента, без да го изпълняват. Обсъдете кога StudentId би изисквал BIGINT.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Изходен билет. Изискайте кратки отговори. Следващата практика прилага типовете при създаване на таблици.</a:t>
            </a:r>
          </a:p>
          <a:p>
            <a:r>
              <a:t>Източник на тематичната връзка: Учебна програма по „База данни“ – ИУЧ, XI клас, 2026/2027.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174A6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0B6B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учебен час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524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1088" lnSpcReduction="20000"/>
          </a:bodyPr>
          <a:lstStyle/>
          <a:p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Типове данни и характеристики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Числови, текстови, логически и времеви типове в SQL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190750" cy="7048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190750" cy="2047875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190750" cy="704850"/>
          </a:xfrm>
          <a:prstGeom prst="ellipse">
            <a:avLst/>
          </a:prstGeom>
          <a:solidFill>
            <a:srgbClr val="087F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noGrp="1"/>
          </p:cNvSpPr>
          <p:nvPr/>
        </p:nvSpPr>
        <p:spPr>
          <a:xfrm>
            <a:off x="9315450" y="2238375"/>
            <a:ext cx="12573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ТИП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Цели и маршрут на часа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Разбирам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Какво определя типът данни в една колона.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noGrp="1"/>
          </p:cNvSpPr>
          <p:nvPr/>
        </p:nvSpPr>
        <p:spPr>
          <a:xfrm>
            <a:off x="4676775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Разграничавам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noGrp="1"/>
          </p:cNvSpPr>
          <p:nvPr/>
        </p:nvSpPr>
        <p:spPr>
          <a:xfrm>
            <a:off x="4676775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Числови, текстови, времеви и логически типове.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noGrp="1"/>
          </p:cNvSpPr>
          <p:nvPr/>
        </p:nvSpPr>
        <p:spPr>
          <a:xfrm>
            <a:off x="842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Избирам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Подходящ тип според стойността и предназначението.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Първа част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noGrp="1"/>
          </p:cNvSpPr>
          <p:nvPr/>
        </p:nvSpPr>
        <p:spPr>
          <a:xfrm>
            <a:off x="2476500" y="397192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Понятие и характеристики на типовете данни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Втора част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Групи типове, примери и кратка проверка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811A9C-661E-4697-A8C2-FB2E2AEE6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967EA5-D795-4AA0-8EA6-A25953292E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МОТИВАЦИЯ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FBA58-BED8-4D7A-BBC5-28BD66010D0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Защо типът данни има значение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592DEB-CB5E-4677-8172-3D46A068AB1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A5313-1CBD-4C88-96AC-89C8BB66D08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57D48-EB74-4F90-9F35-1C4168FE49EB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3D010A-5688-41ED-ACB9-825983F5146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851E26-7B67-4F37-89E7-B77727CA85C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AB12E-42D0-4361-916D-E3347F393CFD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Коректност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B10E97-C927-452A-8226-6CEA395C03BC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Колоната приема само стойности от подходящ вид.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46C55A-D8C9-4979-9AB6-D30348C9E5AC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8B6B0A-0CFA-44EA-8E3E-29149EDBCD79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3CB7A-900E-4ECC-B292-0F6915A59484}"/>
              </a:ext>
            </a:extLst>
          </p:cNvPr>
          <p:cNvSpPr>
            <a:spLocks noGrp="1"/>
          </p:cNvSpPr>
          <p:nvPr/>
        </p:nvSpPr>
        <p:spPr>
          <a:xfrm>
            <a:off x="4772025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Съхранение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408F4-0EA5-498F-89CF-269F5852202C}"/>
              </a:ext>
            </a:extLst>
          </p:cNvPr>
          <p:cNvSpPr>
            <a:spLocks noGrp="1"/>
          </p:cNvSpPr>
          <p:nvPr/>
        </p:nvSpPr>
        <p:spPr>
          <a:xfrm>
            <a:off x="4772025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Размерът на типа влияе върху използваното пространство.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B0ED35-4EE4-442C-B7FB-71C4D9E4DD92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68D584-28D1-4137-B89D-37BE35D50763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1BFE0E-3348-4D69-BEC9-EAC5750740A6}"/>
              </a:ext>
            </a:extLst>
          </p:cNvPr>
          <p:cNvSpPr>
            <a:spLocks noGrp="1"/>
          </p:cNvSpPr>
          <p:nvPr/>
        </p:nvSpPr>
        <p:spPr>
          <a:xfrm>
            <a:off x="861060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Операции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8849E2-40D5-49D0-B37F-1640B3BE89A5}"/>
              </a:ext>
            </a:extLst>
          </p:cNvPr>
          <p:cNvSpPr>
            <a:spLocks noGrp="1"/>
          </p:cNvSpPr>
          <p:nvPr/>
        </p:nvSpPr>
        <p:spPr>
          <a:xfrm>
            <a:off x="861060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Типът определя допустимите сравнения и изчисления.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5866CD-CDB0-438A-A53A-781E6867653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2265" lnSpcReduction="20000"/>
          </a:bodyPr>
          <a:lstStyle/>
          <a:p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Подходящият тип пази смисъла на данните и улеснява обработката.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E06C4D-F58A-41E0-85CF-1923DA28091C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6534"/>
          </a:bodyPr>
          <a:lstStyle/>
          <a:p>
            <a:pPr algn="l">
              <a:buNone/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Пример: дата като DATE, а не като произволен текст</a:t>
            </a:r>
          </a:p>
        </p:txBody>
      </p:sp>
    </p:spTree>
    <p:extLst>
      <p:ext uri="{BB962C8B-B14F-4D97-AF65-F5344CB8AC3E}">
        <p14:creationId xmlns:p14="http://schemas.microsoft.com/office/powerpoint/2010/main" val="208910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8D90245-0955-47D6-A5A0-AC1557B6FE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18A7E-7AA5-4C7A-9FE5-A24748D2AE2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ПОНЯТИЕ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A46E5-C8E5-471A-AB6A-BE5CC3AE20A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определя типът данни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00D0E3-033C-4CB5-81AC-65FECCE616C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5B32A-D5EC-4E47-A43B-1EF4AE5346A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422D8-2995-4E10-BB4D-E8D775733E1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A27324-9218-40DE-B2DC-5D78FD99253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0820400" cy="1200150"/>
          </a:xfrm>
          <a:prstGeom prst="roundRect">
            <a:avLst>
              <a:gd name="adj" fmla="val 15873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4B20F-2AEC-41B2-9527-1253B1CBADFE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02108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Типът данни задава множеството от допустими стойности, начина на съхранение и операциите, които SQL Server може да изпълнява с тях.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45C23A-8293-495A-9BAA-111F60B20E26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781050" cy="7810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D973C-7B23-4D13-803D-854397A78991}"/>
              </a:ext>
            </a:extLst>
          </p:cNvPr>
          <p:cNvSpPr>
            <a:spLocks noGrp="1"/>
          </p:cNvSpPr>
          <p:nvPr/>
        </p:nvSpPr>
        <p:spPr>
          <a:xfrm>
            <a:off x="16859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FF4380-1E42-402D-A8AB-3066949EA539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ДОПУСТИМИ СТОЙНОСТИ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7C316F-7513-44D3-83B7-E38CC633DE8C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число, текст, дата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9BA022-5A01-4A6F-B2A4-01A6CE680BB2}"/>
              </a:ext>
            </a:extLst>
          </p:cNvPr>
          <p:cNvSpPr>
            <a:spLocks noGrp="1"/>
          </p:cNvSpPr>
          <p:nvPr/>
        </p:nvSpPr>
        <p:spPr>
          <a:xfrm>
            <a:off x="4248150" y="3524250"/>
            <a:ext cx="781050" cy="7810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D6930-DAF2-41F5-8961-1D00DD775133}"/>
              </a:ext>
            </a:extLst>
          </p:cNvPr>
          <p:cNvSpPr>
            <a:spLocks noGrp="1"/>
          </p:cNvSpPr>
          <p:nvPr/>
        </p:nvSpPr>
        <p:spPr>
          <a:xfrm>
            <a:off x="44100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DF6F5-E22F-4435-B070-98601F875D3A}"/>
              </a:ext>
            </a:extLst>
          </p:cNvPr>
          <p:cNvSpPr>
            <a:spLocks noGrp="1"/>
          </p:cNvSpPr>
          <p:nvPr/>
        </p:nvSpPr>
        <p:spPr>
          <a:xfrm>
            <a:off x="34099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РАЗМЕР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2396F-CF1A-46E2-A539-05303D0A0A1E}"/>
              </a:ext>
            </a:extLst>
          </p:cNvPr>
          <p:cNvSpPr>
            <a:spLocks noGrp="1"/>
          </p:cNvSpPr>
          <p:nvPr/>
        </p:nvSpPr>
        <p:spPr>
          <a:xfrm>
            <a:off x="34099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брой байтове или знаци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EC7E72-1764-449C-B530-5F3F324BBDB0}"/>
              </a:ext>
            </a:extLst>
          </p:cNvPr>
          <p:cNvSpPr>
            <a:spLocks noGrp="1"/>
          </p:cNvSpPr>
          <p:nvPr/>
        </p:nvSpPr>
        <p:spPr>
          <a:xfrm>
            <a:off x="6972300" y="3524250"/>
            <a:ext cx="781050" cy="7810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BDB9A4-0285-4BE1-A1E9-00FDA4448D98}"/>
              </a:ext>
            </a:extLst>
          </p:cNvPr>
          <p:cNvSpPr>
            <a:spLocks noGrp="1"/>
          </p:cNvSpPr>
          <p:nvPr/>
        </p:nvSpPr>
        <p:spPr>
          <a:xfrm>
            <a:off x="71342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5A84F-84A1-40D8-B962-CF577D1856E6}"/>
              </a:ext>
            </a:extLst>
          </p:cNvPr>
          <p:cNvSpPr>
            <a:spLocks noGrp="1"/>
          </p:cNvSpPr>
          <p:nvPr/>
        </p:nvSpPr>
        <p:spPr>
          <a:xfrm>
            <a:off x="61341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ТОЧНОСТ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25AFDA-D012-4F24-80BF-8983266E4842}"/>
              </a:ext>
            </a:extLst>
          </p:cNvPr>
          <p:cNvSpPr>
            <a:spLocks noGrp="1"/>
          </p:cNvSpPr>
          <p:nvPr/>
        </p:nvSpPr>
        <p:spPr>
          <a:xfrm>
            <a:off x="61341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диапазон и дробна част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4EC101-D996-452B-8C87-57E6A3FF1C9C}"/>
              </a:ext>
            </a:extLst>
          </p:cNvPr>
          <p:cNvSpPr>
            <a:spLocks noGrp="1"/>
          </p:cNvSpPr>
          <p:nvPr/>
        </p:nvSpPr>
        <p:spPr>
          <a:xfrm>
            <a:off x="9696450" y="3524250"/>
            <a:ext cx="781050" cy="7810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B176A9-B409-422D-BF03-4A5B857F835F}"/>
              </a:ext>
            </a:extLst>
          </p:cNvPr>
          <p:cNvSpPr>
            <a:spLocks noGrp="1"/>
          </p:cNvSpPr>
          <p:nvPr/>
        </p:nvSpPr>
        <p:spPr>
          <a:xfrm>
            <a:off x="98583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04438-24B6-4A4D-BA0C-80B56CD64692}"/>
              </a:ext>
            </a:extLst>
          </p:cNvPr>
          <p:cNvSpPr>
            <a:spLocks noGrp="1"/>
          </p:cNvSpPr>
          <p:nvPr/>
        </p:nvSpPr>
        <p:spPr>
          <a:xfrm>
            <a:off x="88582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ОПЕРАЦИИ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215041-17B7-4BF2-8E26-625C24F59B91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сравнение и изчисления</a:t>
            </a:r>
          </a:p>
        </p:txBody>
      </p:sp>
    </p:spTree>
    <p:extLst>
      <p:ext uri="{BB962C8B-B14F-4D97-AF65-F5344CB8AC3E}">
        <p14:creationId xmlns:p14="http://schemas.microsoft.com/office/powerpoint/2010/main" val="33957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КЛАСИФИКАЦИЯ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Основни групи типове данни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Числови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Цели и дробни числа: INT, BIGINT, DECIMAL, FLOAT.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noGrp="1"/>
          </p:cNvSpPr>
          <p:nvPr/>
        </p:nvSpPr>
        <p:spPr>
          <a:xfrm>
            <a:off x="4772025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Текстови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Символи и текст: CHAR, VARCHAR, NCHAR, NVARCHAR.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noGrp="1"/>
          </p:cNvSpPr>
          <p:nvPr/>
        </p:nvSpPr>
        <p:spPr>
          <a:xfrm>
            <a:off x="861060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Други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noGrp="1"/>
          </p:cNvSpPr>
          <p:nvPr/>
        </p:nvSpPr>
        <p:spPr>
          <a:xfrm>
            <a:off x="861060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Дата и час, логически и двоични стойности.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noGrp="1"/>
          </p:cNvSpPr>
          <p:nvPr/>
        </p:nvSpPr>
        <p:spPr>
          <a:xfrm>
            <a:off x="3829050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noGrp="1"/>
          </p:cNvSpPr>
          <p:nvPr/>
        </p:nvSpPr>
        <p:spPr>
          <a:xfrm rot="5400000">
            <a:off x="4400550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noGrp="1"/>
          </p:cNvSpPr>
          <p:nvPr/>
        </p:nvSpPr>
        <p:spPr>
          <a:xfrm rot="5400000">
            <a:off x="8239125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noGrp="1"/>
          </p:cNvSpPr>
          <p:nvPr/>
        </p:nvSpPr>
        <p:spPr>
          <a:xfrm>
            <a:off x="1800225" y="490537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4041"/>
          </a:bodyPr>
          <a:lstStyle/>
          <a:p>
            <a:pPr algn="ctr">
              <a:buNone/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изчисления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noGrp="1"/>
          </p:cNvSpPr>
          <p:nvPr/>
        </p:nvSpPr>
        <p:spPr>
          <a:xfrm>
            <a:off x="5572125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символи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noGrp="1"/>
          </p:cNvSpPr>
          <p:nvPr/>
        </p:nvSpPr>
        <p:spPr>
          <a:xfrm>
            <a:off x="9410700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5208" lnSpcReduction="10000"/>
          </a:bodyPr>
          <a:lstStyle/>
          <a:p>
            <a:pPr algn="ctr"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време и състояние</a:t>
            </a:r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E0E543-EEC2-49B6-9187-E5924A4FF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DEE03-04D1-4CC6-82EF-0C7E60A7B2D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ЦЕЛИ ЧИСЛА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4EA61-B51A-4B22-84D7-694D8CB4A8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Целочислените типове имат различен диапазон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31186E0-346C-4944-B0B4-4399D4BFA3B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ED218-29C1-4608-8917-7306498D6F1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26F0A-D403-40C8-8D06-89E2FEBF3C6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D7108F-3AEF-48DB-B326-D9C97F5A0EB1}"/>
              </a:ext>
            </a:extLst>
          </p:cNvPr>
          <p:cNvSpPr>
            <a:spLocks noGrp="1"/>
          </p:cNvSpPr>
          <p:nvPr/>
        </p:nvSpPr>
        <p:spPr>
          <a:xfrm>
            <a:off x="4286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738E2-0C4F-4C87-B96D-F09DC7095016}"/>
              </a:ext>
            </a:extLst>
          </p:cNvPr>
          <p:cNvSpPr>
            <a:spLocks noGrp="1"/>
          </p:cNvSpPr>
          <p:nvPr/>
        </p:nvSpPr>
        <p:spPr>
          <a:xfrm>
            <a:off x="5429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TINYINT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89C4C-2AD9-42F9-A2E6-0083D21F4D65}"/>
              </a:ext>
            </a:extLst>
          </p:cNvPr>
          <p:cNvSpPr>
            <a:spLocks noGrp="1"/>
          </p:cNvSpPr>
          <p:nvPr/>
        </p:nvSpPr>
        <p:spPr>
          <a:xfrm>
            <a:off x="5429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до 255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5C9C975-D39C-45AE-83A5-F1CE1CA80901}"/>
              </a:ext>
            </a:extLst>
          </p:cNvPr>
          <p:cNvSpPr>
            <a:spLocks noGrp="1"/>
          </p:cNvSpPr>
          <p:nvPr/>
        </p:nvSpPr>
        <p:spPr>
          <a:xfrm>
            <a:off x="28860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4FBED07-6F40-4B28-97AB-526C9A72F52A}"/>
              </a:ext>
            </a:extLst>
          </p:cNvPr>
          <p:cNvSpPr>
            <a:spLocks noGrp="1"/>
          </p:cNvSpPr>
          <p:nvPr/>
        </p:nvSpPr>
        <p:spPr>
          <a:xfrm rot="5400000">
            <a:off x="31908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BA2868-195E-4724-827B-9DBBAA2624A2}"/>
              </a:ext>
            </a:extLst>
          </p:cNvPr>
          <p:cNvSpPr>
            <a:spLocks noGrp="1"/>
          </p:cNvSpPr>
          <p:nvPr/>
        </p:nvSpPr>
        <p:spPr>
          <a:xfrm>
            <a:off x="336232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9655C-BBD7-410F-AD84-267A416D68CD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SMALLINT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72160-D9A5-49D2-B429-14FD00B11A3C}"/>
              </a:ext>
            </a:extLst>
          </p:cNvPr>
          <p:cNvSpPr>
            <a:spLocks noGrp="1"/>
          </p:cNvSpPr>
          <p:nvPr/>
        </p:nvSpPr>
        <p:spPr>
          <a:xfrm>
            <a:off x="347662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±32 хиляди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911435D-EFBE-495C-A4C1-6FF7059F4100}"/>
              </a:ext>
            </a:extLst>
          </p:cNvPr>
          <p:cNvSpPr>
            <a:spLocks noGrp="1"/>
          </p:cNvSpPr>
          <p:nvPr/>
        </p:nvSpPr>
        <p:spPr>
          <a:xfrm>
            <a:off x="553402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DE49E20-B286-43AF-8D08-9F43845AEFAC}"/>
              </a:ext>
            </a:extLst>
          </p:cNvPr>
          <p:cNvSpPr>
            <a:spLocks noGrp="1"/>
          </p:cNvSpPr>
          <p:nvPr/>
        </p:nvSpPr>
        <p:spPr>
          <a:xfrm rot="5400000">
            <a:off x="583882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3F8F2B-3F52-45D9-803B-6F38E62BA0F5}"/>
              </a:ext>
            </a:extLst>
          </p:cNvPr>
          <p:cNvSpPr>
            <a:spLocks noGrp="1"/>
          </p:cNvSpPr>
          <p:nvPr/>
        </p:nvSpPr>
        <p:spPr>
          <a:xfrm>
            <a:off x="601027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CB2A6A-3BB4-4890-BA1E-8EC154A231F7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95FEE-79BE-47E8-9D3F-29E4410435CA}"/>
              </a:ext>
            </a:extLst>
          </p:cNvPr>
          <p:cNvSpPr>
            <a:spLocks noGrp="1"/>
          </p:cNvSpPr>
          <p:nvPr/>
        </p:nvSpPr>
        <p:spPr>
          <a:xfrm>
            <a:off x="612457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±2,1 милиарда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4233C7A-E42F-4952-A52D-BA4DF5F6FCA5}"/>
              </a:ext>
            </a:extLst>
          </p:cNvPr>
          <p:cNvSpPr>
            <a:spLocks noGrp="1"/>
          </p:cNvSpPr>
          <p:nvPr/>
        </p:nvSpPr>
        <p:spPr>
          <a:xfrm>
            <a:off x="81819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39F134-BB8A-463A-AD9F-2E85522454F0}"/>
              </a:ext>
            </a:extLst>
          </p:cNvPr>
          <p:cNvSpPr>
            <a:spLocks noGrp="1"/>
          </p:cNvSpPr>
          <p:nvPr/>
        </p:nvSpPr>
        <p:spPr>
          <a:xfrm rot="5400000">
            <a:off x="84867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5DED61-9B19-4215-A9D5-198134054338}"/>
              </a:ext>
            </a:extLst>
          </p:cNvPr>
          <p:cNvSpPr>
            <a:spLocks noGrp="1"/>
          </p:cNvSpPr>
          <p:nvPr/>
        </p:nvSpPr>
        <p:spPr>
          <a:xfrm>
            <a:off x="86582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F4ADB-1200-4EE9-BAF4-F203EA7BBC00}"/>
              </a:ext>
            </a:extLst>
          </p:cNvPr>
          <p:cNvSpPr>
            <a:spLocks noGrp="1"/>
          </p:cNvSpPr>
          <p:nvPr/>
        </p:nvSpPr>
        <p:spPr>
          <a:xfrm>
            <a:off x="87725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BIGINT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739B05-F425-46D9-BC3B-BA680A53F1A6}"/>
              </a:ext>
            </a:extLst>
          </p:cNvPr>
          <p:cNvSpPr>
            <a:spLocks noGrp="1"/>
          </p:cNvSpPr>
          <p:nvPr/>
        </p:nvSpPr>
        <p:spPr>
          <a:xfrm>
            <a:off x="87725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4293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много големи числа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96BF78-30E0-4D47-9005-11A049180E05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По-големият диапазон изисква повече памет. Избираме тип според очакваните стойности.</a:t>
            </a:r>
          </a:p>
        </p:txBody>
      </p:sp>
    </p:spTree>
    <p:extLst>
      <p:ext uri="{BB962C8B-B14F-4D97-AF65-F5344CB8AC3E}">
        <p14:creationId xmlns:p14="http://schemas.microsoft.com/office/powerpoint/2010/main" val="2894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C17A8A9-E0F2-4239-9767-544883F54A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E5FCE-5E46-4F79-BF96-6638B14BDE8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ЦЕЛИ ЧИСЛА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98536-E28F-4524-B0A4-30AB0DD830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Диапазон и размер на основните типове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D381E4A-55AD-4695-ABFC-65EF6A2F7DC5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F5D94-2FC1-4D02-87CA-A0A61E4914E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4956D-4140-456E-885F-9DB698C75D5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4CF3-AFDA-4EF2-A12A-77425F0C6270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1143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C5859-FBCA-40DE-9BAF-8EEDF2B45028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1066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Тип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3A1C0-41FB-493C-BC74-2E1456F58311}"/>
              </a:ext>
            </a:extLst>
          </p:cNvPr>
          <p:cNvSpPr>
            <a:spLocks noGrp="1"/>
          </p:cNvSpPr>
          <p:nvPr/>
        </p:nvSpPr>
        <p:spPr>
          <a:xfrm>
            <a:off x="2286000" y="1905000"/>
            <a:ext cx="3429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AB225A-6476-41B0-9756-A6910A740F08}"/>
              </a:ext>
            </a:extLst>
          </p:cNvPr>
          <p:cNvSpPr>
            <a:spLocks noGrp="1"/>
          </p:cNvSpPr>
          <p:nvPr/>
        </p:nvSpPr>
        <p:spPr>
          <a:xfrm>
            <a:off x="2324100" y="1943100"/>
            <a:ext cx="3352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Диапазон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D4E12F-31FA-470A-BD9B-AF9A24D63F5D}"/>
              </a:ext>
            </a:extLst>
          </p:cNvPr>
          <p:cNvSpPr>
            <a:spLocks noGrp="1"/>
          </p:cNvSpPr>
          <p:nvPr/>
        </p:nvSpPr>
        <p:spPr>
          <a:xfrm>
            <a:off x="5715000" y="1905000"/>
            <a:ext cx="238125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085C4-F433-41B3-B58A-0B5C8A8BB6BA}"/>
              </a:ext>
            </a:extLst>
          </p:cNvPr>
          <p:cNvSpPr>
            <a:spLocks noGrp="1"/>
          </p:cNvSpPr>
          <p:nvPr/>
        </p:nvSpPr>
        <p:spPr>
          <a:xfrm>
            <a:off x="5753100" y="1943100"/>
            <a:ext cx="23050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Размер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99A8D-7E4C-4814-9E63-B0EA238C7D77}"/>
              </a:ext>
            </a:extLst>
          </p:cNvPr>
          <p:cNvSpPr>
            <a:spLocks noGrp="1"/>
          </p:cNvSpPr>
          <p:nvPr/>
        </p:nvSpPr>
        <p:spPr>
          <a:xfrm>
            <a:off x="8096250" y="1905000"/>
            <a:ext cx="17145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2640A-370B-4194-A7C2-98CC41E46738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1638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EFE202-38B2-4F61-9EDF-3B361DDBF9FA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08404-523E-4C34-B386-C98A3C38E67C}"/>
              </a:ext>
            </a:extLst>
          </p:cNvPr>
          <p:cNvSpPr>
            <a:spLocks noGrp="1"/>
          </p:cNvSpPr>
          <p:nvPr/>
        </p:nvSpPr>
        <p:spPr>
          <a:xfrm>
            <a:off x="1200150" y="24860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TINYINT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C99144-FC53-4DC5-8ED4-1167B411F6D6}"/>
              </a:ext>
            </a:extLst>
          </p:cNvPr>
          <p:cNvSpPr>
            <a:spLocks noGrp="1"/>
          </p:cNvSpPr>
          <p:nvPr/>
        </p:nvSpPr>
        <p:spPr>
          <a:xfrm>
            <a:off x="2286000" y="24384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E34BF-7A85-4A61-91EC-4B53E7E3151F}"/>
              </a:ext>
            </a:extLst>
          </p:cNvPr>
          <p:cNvSpPr>
            <a:spLocks noGrp="1"/>
          </p:cNvSpPr>
          <p:nvPr/>
        </p:nvSpPr>
        <p:spPr>
          <a:xfrm>
            <a:off x="2343150" y="24860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0 до 255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16EAA-B11B-4F36-9E45-0E77B6EF206A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367EF-B430-449D-B410-4C3A559D9F95}"/>
              </a:ext>
            </a:extLst>
          </p:cNvPr>
          <p:cNvSpPr>
            <a:spLocks noGrp="1"/>
          </p:cNvSpPr>
          <p:nvPr/>
        </p:nvSpPr>
        <p:spPr>
          <a:xfrm>
            <a:off x="5772150" y="24860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 байт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A7A96E-5AC7-464A-AE86-C5878AA5E282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4D38D3-5BCB-4053-AEC5-6C7EB7BC3540}"/>
              </a:ext>
            </a:extLst>
          </p:cNvPr>
          <p:cNvSpPr>
            <a:spLocks noGrp="1"/>
          </p:cNvSpPr>
          <p:nvPr/>
        </p:nvSpPr>
        <p:spPr>
          <a:xfrm>
            <a:off x="8153400" y="24860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възраст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7AF2F7-C546-4EEC-9059-8F07AF8F662B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1143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DA5D5-54C4-493B-89AC-21A95898D070}"/>
              </a:ext>
            </a:extLst>
          </p:cNvPr>
          <p:cNvSpPr>
            <a:spLocks noGrp="1"/>
          </p:cNvSpPr>
          <p:nvPr/>
        </p:nvSpPr>
        <p:spPr>
          <a:xfrm>
            <a:off x="1200150" y="303847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SMALLINT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DCFA1-A699-4D21-9265-4C6C0851EE50}"/>
              </a:ext>
            </a:extLst>
          </p:cNvPr>
          <p:cNvSpPr>
            <a:spLocks noGrp="1"/>
          </p:cNvSpPr>
          <p:nvPr/>
        </p:nvSpPr>
        <p:spPr>
          <a:xfrm>
            <a:off x="2286000" y="2990850"/>
            <a:ext cx="3429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63BF4-4BC7-496F-B637-DE1AF010EDF9}"/>
              </a:ext>
            </a:extLst>
          </p:cNvPr>
          <p:cNvSpPr>
            <a:spLocks noGrp="1"/>
          </p:cNvSpPr>
          <p:nvPr/>
        </p:nvSpPr>
        <p:spPr>
          <a:xfrm>
            <a:off x="2343150" y="303847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−32 768 до 32 767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F9D60-9F87-421A-BADE-504B4B2A1D83}"/>
              </a:ext>
            </a:extLst>
          </p:cNvPr>
          <p:cNvSpPr>
            <a:spLocks noGrp="1"/>
          </p:cNvSpPr>
          <p:nvPr/>
        </p:nvSpPr>
        <p:spPr>
          <a:xfrm>
            <a:off x="5715000" y="2990850"/>
            <a:ext cx="238125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DC4780-46ED-476C-AE12-D7CC5EE714BF}"/>
              </a:ext>
            </a:extLst>
          </p:cNvPr>
          <p:cNvSpPr>
            <a:spLocks noGrp="1"/>
          </p:cNvSpPr>
          <p:nvPr/>
        </p:nvSpPr>
        <p:spPr>
          <a:xfrm>
            <a:off x="5772150" y="303847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 байта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D4D325-3478-44E3-8A00-7390086B5E69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17145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FB7FF2-56AE-4D60-83D5-75AB5940F35F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брой места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E5DA04-6678-4A0E-A991-4ECF4A665E16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C1E474-E71B-47AE-A3AA-CF1836947D83}"/>
              </a:ext>
            </a:extLst>
          </p:cNvPr>
          <p:cNvSpPr>
            <a:spLocks noGrp="1"/>
          </p:cNvSpPr>
          <p:nvPr/>
        </p:nvSpPr>
        <p:spPr>
          <a:xfrm>
            <a:off x="1200150" y="35909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B6D821-3038-4AAA-B9B1-B907F7EE031E}"/>
              </a:ext>
            </a:extLst>
          </p:cNvPr>
          <p:cNvSpPr>
            <a:spLocks noGrp="1"/>
          </p:cNvSpPr>
          <p:nvPr/>
        </p:nvSpPr>
        <p:spPr>
          <a:xfrm>
            <a:off x="2286000" y="35433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E1E2DC-6FD5-407C-A9B0-04EA7D7864F8}"/>
              </a:ext>
            </a:extLst>
          </p:cNvPr>
          <p:cNvSpPr>
            <a:spLocks noGrp="1"/>
          </p:cNvSpPr>
          <p:nvPr/>
        </p:nvSpPr>
        <p:spPr>
          <a:xfrm>
            <a:off x="2343150" y="35909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около ±2,1 милиарда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439EE1-9B2C-4062-BE7B-D81F898CDBE7}"/>
              </a:ext>
            </a:extLst>
          </p:cNvPr>
          <p:cNvSpPr>
            <a:spLocks noGrp="1"/>
          </p:cNvSpPr>
          <p:nvPr/>
        </p:nvSpPr>
        <p:spPr>
          <a:xfrm>
            <a:off x="5715000" y="35433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A62EF4-28F6-4A1B-B19C-3BB056CB0E73}"/>
              </a:ext>
            </a:extLst>
          </p:cNvPr>
          <p:cNvSpPr>
            <a:spLocks noGrp="1"/>
          </p:cNvSpPr>
          <p:nvPr/>
        </p:nvSpPr>
        <p:spPr>
          <a:xfrm>
            <a:off x="5772150" y="35909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4 байта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3D1C0B-C9D4-4310-9C36-20AA89718FE6}"/>
              </a:ext>
            </a:extLst>
          </p:cNvPr>
          <p:cNvSpPr>
            <a:spLocks noGrp="1"/>
          </p:cNvSpPr>
          <p:nvPr/>
        </p:nvSpPr>
        <p:spPr>
          <a:xfrm>
            <a:off x="8096250" y="35433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0CAC24-5E7B-4C13-B6CC-195F5407270A}"/>
              </a:ext>
            </a:extLst>
          </p:cNvPr>
          <p:cNvSpPr>
            <a:spLocks noGrp="1"/>
          </p:cNvSpPr>
          <p:nvPr/>
        </p:nvSpPr>
        <p:spPr>
          <a:xfrm>
            <a:off x="8153400" y="35909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идентификатор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2C65D4-28D4-4B31-B539-0A96DD6C2A51}"/>
              </a:ext>
            </a:extLst>
          </p:cNvPr>
          <p:cNvSpPr>
            <a:spLocks noGrp="1"/>
          </p:cNvSpPr>
          <p:nvPr/>
        </p:nvSpPr>
        <p:spPr>
          <a:xfrm>
            <a:off x="8410575" y="1657350"/>
            <a:ext cx="1085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42700B-53CD-4F90-99A8-ADAE11CA2151}"/>
              </a:ext>
            </a:extLst>
          </p:cNvPr>
          <p:cNvSpPr>
            <a:spLocks noGrp="1"/>
          </p:cNvSpPr>
          <p:nvPr/>
        </p:nvSpPr>
        <p:spPr>
          <a:xfrm>
            <a:off x="8982075" y="36576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42407-3E2F-4A98-B2B6-3C8A27DF1128}"/>
              </a:ext>
            </a:extLst>
          </p:cNvPr>
          <p:cNvSpPr>
            <a:spLocks noGrp="1"/>
          </p:cNvSpPr>
          <p:nvPr/>
        </p:nvSpPr>
        <p:spPr>
          <a:xfrm>
            <a:off x="2000250" y="495300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BIGINT за стойности извън диапазона на INT; размер: 8 байта</a:t>
            </a:r>
          </a:p>
        </p:txBody>
      </p:sp>
    </p:spTree>
    <p:extLst>
      <p:ext uri="{BB962C8B-B14F-4D97-AF65-F5344CB8AC3E}">
        <p14:creationId xmlns:p14="http://schemas.microsoft.com/office/powerpoint/2010/main" val="36960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БЪРЗ ИЗБОР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Подходящ целочислен тип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noGrp="1"/>
          </p:cNvSpPr>
          <p:nvPr/>
        </p:nvSpPr>
        <p:spPr>
          <a:xfrm>
            <a:off x="1143000" y="174307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Възраст: 17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noGrp="1"/>
          </p:cNvSpPr>
          <p:nvPr/>
        </p:nvSpPr>
        <p:spPr>
          <a:xfrm>
            <a:off x="5524500" y="1981200"/>
            <a:ext cx="857250" cy="9525"/>
          </a:xfrm>
          <a:prstGeom prst="line">
            <a:avLst/>
          </a:prstGeom>
          <a:noFill/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noGrp="1"/>
          </p:cNvSpPr>
          <p:nvPr/>
        </p:nvSpPr>
        <p:spPr>
          <a:xfrm rot="5400000">
            <a:off x="6286500" y="1914525"/>
            <a:ext cx="133350" cy="133350"/>
          </a:xfrm>
          <a:prstGeom prst="triangle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noGrp="1"/>
          </p:cNvSpPr>
          <p:nvPr/>
        </p:nvSpPr>
        <p:spPr>
          <a:xfrm>
            <a:off x="6858000" y="174307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TINYINT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Брой ученици: 800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noGrp="1"/>
          </p:cNvSpPr>
          <p:nvPr/>
        </p:nvSpPr>
        <p:spPr>
          <a:xfrm>
            <a:off x="5524500" y="2886075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noGrp="1"/>
          </p:cNvSpPr>
          <p:nvPr/>
        </p:nvSpPr>
        <p:spPr>
          <a:xfrm rot="5400000">
            <a:off x="6286500" y="2819400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noGrp="1"/>
          </p:cNvSpPr>
          <p:nvPr/>
        </p:nvSpPr>
        <p:spPr>
          <a:xfrm>
            <a:off x="6858000" y="264795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SMALLINT или INT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Идентификатор: 125 000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noGrp="1"/>
          </p:cNvSpPr>
          <p:nvPr/>
        </p:nvSpPr>
        <p:spPr>
          <a:xfrm>
            <a:off x="5524500" y="3790950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noGrp="1"/>
          </p:cNvSpPr>
          <p:nvPr/>
        </p:nvSpPr>
        <p:spPr>
          <a:xfrm rot="5400000">
            <a:off x="6286500" y="3724275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FFF5D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Глобален брояч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noGrp="1"/>
          </p:cNvSpPr>
          <p:nvPr/>
        </p:nvSpPr>
        <p:spPr>
          <a:xfrm>
            <a:off x="5524500" y="4695825"/>
            <a:ext cx="857250" cy="9525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noGrp="1"/>
          </p:cNvSpPr>
          <p:nvPr/>
        </p:nvSpPr>
        <p:spPr>
          <a:xfrm rot="5400000">
            <a:off x="6286500" y="4629150"/>
            <a:ext cx="133350" cy="133350"/>
          </a:xfrm>
          <a:prstGeom prst="triangl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8E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BIGINT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Въпрос: защо не използваме BIGINT за всяка малка стойност?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53826E-E4E5-4CFD-8F80-B59C07D55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71DE5-61E4-459E-B2FE-AE2CA518FC1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ДРОБНИ ЧИСЛА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C516E-CB29-43DE-B768-700B9726F01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Точни и приблизителни стойности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A236D0-6BFE-482C-A9CE-2CA6F1E6523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641E1-8E45-43E5-9FE2-CC0A151D60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905E0-3382-4928-87F4-B7100EA85F2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FB4752-D19F-4DF6-B215-E74688DA8AA5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17CEE-0902-45F7-9C6F-C43188A428BA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82E79-1A66-4386-AADE-18C526A1B248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DECIMAL(p,s)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5C686-F7D0-4397-920B-32CE36EF63E4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Точни стойности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Цена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Среден успех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Процент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69449A-49F8-4476-BCCE-456A48B46CB2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E750B2-2EB4-4417-A2E5-C6CD094C2334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95343-210F-4D88-8705-3EB171522754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MONEY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AFB23-BE73-4FC5-93C9-76EDF1EB6B92}"/>
              </a:ext>
            </a:extLst>
          </p:cNvPr>
          <p:cNvSpPr>
            <a:spLocks noGrp="1"/>
          </p:cNvSpPr>
          <p:nvPr/>
        </p:nvSpPr>
        <p:spPr>
          <a:xfrm>
            <a:off x="491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Парични стойности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Фиксирана точност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Специализиран тип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8CFDF4-B6CE-40EB-99FC-50704C6EE2C5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79593-241F-4AFA-AF03-E0B01A1019BA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165E8-F324-4B01-A1BF-EFE1AC07541B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FLOAT /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104607-6165-44DB-A7D8-EF0D9B8B47A2}"/>
              </a:ext>
            </a:extLst>
          </p:cNvPr>
          <p:cNvSpPr>
            <a:spLocks noGrp="1"/>
          </p:cNvSpPr>
          <p:nvPr/>
        </p:nvSpPr>
        <p:spPr>
          <a:xfrm>
            <a:off x="872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Приблизителни числа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Измервания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Научни данни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Закръгляне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C451CD-6042-4888-BA8E-ED2A8937F6C7}"/>
              </a:ext>
            </a:extLst>
          </p:cNvPr>
          <p:cNvSpPr>
            <a:spLocks noGrp="1"/>
          </p:cNvSpPr>
          <p:nvPr/>
        </p:nvSpPr>
        <p:spPr>
          <a:xfrm>
            <a:off x="371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24F72A1-346F-4228-9704-C6FDE20075D3}"/>
              </a:ext>
            </a:extLst>
          </p:cNvPr>
          <p:cNvSpPr>
            <a:spLocks noGrp="1"/>
          </p:cNvSpPr>
          <p:nvPr/>
        </p:nvSpPr>
        <p:spPr>
          <a:xfrm rot="5400000">
            <a:off x="453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00662A2-6447-4FFB-9C77-55899076E8BE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AC5C493-94F5-42FF-8A3B-B89574F89D66}"/>
              </a:ext>
            </a:extLst>
          </p:cNvPr>
          <p:cNvSpPr>
            <a:spLocks noGrp="1"/>
          </p:cNvSpPr>
          <p:nvPr/>
        </p:nvSpPr>
        <p:spPr>
          <a:xfrm rot="5400000">
            <a:off x="834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B510B3-4B83-437B-9565-AFE62FC1A1E9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94297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8765"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 цени и оценки предпочитаме DECIMAL, защото пази точната десетична стойност.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5716AA-2C73-4FF9-9E5B-049FE793B3A4}"/>
              </a:ext>
            </a:extLst>
          </p:cNvPr>
          <p:cNvSpPr>
            <a:spLocks noGrp="1"/>
          </p:cNvSpPr>
          <p:nvPr/>
        </p:nvSpPr>
        <p:spPr>
          <a:xfrm>
            <a:off x="4629150" y="5638800"/>
            <a:ext cx="2933700" cy="32385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472002-4086-4A38-9A3A-2968AB412A7B}"/>
              </a:ext>
            </a:extLst>
          </p:cNvPr>
          <p:cNvSpPr>
            <a:spLocks noGrp="1"/>
          </p:cNvSpPr>
          <p:nvPr/>
        </p:nvSpPr>
        <p:spPr>
          <a:xfrm>
            <a:off x="4705350" y="56578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DECIMAL е точен тип</a:t>
            </a:r>
          </a:p>
        </p:txBody>
      </p:sp>
    </p:spTree>
    <p:extLst>
      <p:ext uri="{BB962C8B-B14F-4D97-AF65-F5344CB8AC3E}">
        <p14:creationId xmlns:p14="http://schemas.microsoft.com/office/powerpoint/2010/main" val="185985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DECIMAL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Точност p и мащаб 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  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общ брой цифри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DECIMAL(5,2)</a:t>
            </a:r>
          </a:p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има общо 5 цифри</a:t>
            </a:r>
          </a:p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пример: 999.99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SCALE  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цифри след запетаята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DECIMAL(5,2)</a:t>
            </a:r>
          </a:p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има 2 дробни цифри</a:t>
            </a:r>
          </a:p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пример: 12.50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571625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noGrp="1"/>
          </p:cNvSpPr>
          <p:nvPr/>
        </p:nvSpPr>
        <p:spPr>
          <a:xfrm rot="5400000">
            <a:off x="6762750" y="307657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noGrp="1"/>
          </p:cNvSpPr>
          <p:nvPr/>
        </p:nvSpPr>
        <p:spPr>
          <a:xfrm>
            <a:off x="5619750" y="2714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1562" lnSpcReduction="10000"/>
          </a:bodyPr>
          <a:lstStyle/>
          <a:p>
            <a:pPr algn="ctr">
              <a:buNone/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една декларация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3A3264C-BA5F-4505-B523-E332D926B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C486D-479C-466A-9040-7F7651E2890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ДАТА И ЧАС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420CF-F2AA-438B-A0F9-C663EF8D52B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Типове за времеви стойности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C8B4A26-BBF1-4968-8868-AF9B72FC066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1CC4A-AB84-4095-9346-01485E774F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F8B44-EF17-48A6-8194-92CE8E40B8B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B46C51-4A86-4F6B-B278-9AF6EA70969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3714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9C608D-2CDF-455E-BDCE-B9BEF98689DC}"/>
              </a:ext>
            </a:extLst>
          </p:cNvPr>
          <p:cNvSpPr>
            <a:spLocks noGrp="1"/>
          </p:cNvSpPr>
          <p:nvPr/>
        </p:nvSpPr>
        <p:spPr>
          <a:xfrm>
            <a:off x="8763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F2DBB-5756-45B0-B300-908CD9046A82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DATE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473A3-BFB0-45CF-907F-20734402ABD7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2438400" cy="2857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Съхранява календарна дата без час. Пример: 2026-09-22.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48297E-DED2-4544-A0F0-EA4B0CF67336}"/>
              </a:ext>
            </a:extLst>
          </p:cNvPr>
          <p:cNvSpPr>
            <a:spLocks noGrp="1"/>
          </p:cNvSpPr>
          <p:nvPr/>
        </p:nvSpPr>
        <p:spPr>
          <a:xfrm>
            <a:off x="3810000" y="1762125"/>
            <a:ext cx="76962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172FBA-F6C0-4B1E-82CC-FD31B68EE016}"/>
              </a:ext>
            </a:extLst>
          </p:cNvPr>
          <p:cNvSpPr>
            <a:spLocks noGrp="1"/>
          </p:cNvSpPr>
          <p:nvPr/>
        </p:nvSpPr>
        <p:spPr>
          <a:xfrm>
            <a:off x="40005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DC450D-9EB2-4626-9891-79E8408CC442}"/>
              </a:ext>
            </a:extLst>
          </p:cNvPr>
          <p:cNvSpPr>
            <a:spLocks noGrp="1"/>
          </p:cNvSpPr>
          <p:nvPr/>
        </p:nvSpPr>
        <p:spPr>
          <a:xfrm>
            <a:off x="40767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CC937-8F5E-443D-9032-DC32D7980E1B}"/>
              </a:ext>
            </a:extLst>
          </p:cNvPr>
          <p:cNvSpPr>
            <a:spLocks noGrp="1"/>
          </p:cNvSpPr>
          <p:nvPr/>
        </p:nvSpPr>
        <p:spPr>
          <a:xfrm>
            <a:off x="4057650" y="2305050"/>
            <a:ext cx="7048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Час без дата. Пример: 08:30.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C1CF7A-F6C3-470C-AA25-FE1EB1DA1D4A}"/>
              </a:ext>
            </a:extLst>
          </p:cNvPr>
          <p:cNvSpPr>
            <a:spLocks noGrp="1"/>
          </p:cNvSpPr>
          <p:nvPr/>
        </p:nvSpPr>
        <p:spPr>
          <a:xfrm>
            <a:off x="3810000" y="2838450"/>
            <a:ext cx="7696200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CC94AE-C88F-4F35-A64A-EBC7140D9E81}"/>
              </a:ext>
            </a:extLst>
          </p:cNvPr>
          <p:cNvSpPr>
            <a:spLocks noGrp="1"/>
          </p:cNvSpPr>
          <p:nvPr/>
        </p:nvSpPr>
        <p:spPr>
          <a:xfrm>
            <a:off x="4000500" y="30099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9FC8A8-E296-4E47-B5FE-73A06B4F4965}"/>
              </a:ext>
            </a:extLst>
          </p:cNvPr>
          <p:cNvSpPr>
            <a:spLocks noGrp="1"/>
          </p:cNvSpPr>
          <p:nvPr/>
        </p:nvSpPr>
        <p:spPr>
          <a:xfrm>
            <a:off x="4076700" y="3028950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DATETIME2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F5B92-F362-4173-9CAE-CCA79B5963B0}"/>
              </a:ext>
            </a:extLst>
          </p:cNvPr>
          <p:cNvSpPr>
            <a:spLocks noGrp="1"/>
          </p:cNvSpPr>
          <p:nvPr/>
        </p:nvSpPr>
        <p:spPr>
          <a:xfrm>
            <a:off x="4019550" y="3524250"/>
            <a:ext cx="7277100" cy="17811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Съхранява дата и час с висока точност.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6DE809-F484-47B4-8C80-0BF8BA792FB2}"/>
              </a:ext>
            </a:extLst>
          </p:cNvPr>
          <p:cNvSpPr>
            <a:spLocks noGrp="1"/>
          </p:cNvSpPr>
          <p:nvPr/>
        </p:nvSpPr>
        <p:spPr>
          <a:xfrm>
            <a:off x="695325" y="5762625"/>
            <a:ext cx="10810875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SQL Server сравнява и подрежда правилно стойностите от времеви тип</a:t>
            </a:r>
          </a:p>
        </p:txBody>
      </p:sp>
    </p:spTree>
    <p:extLst>
      <p:ext uri="{BB962C8B-B14F-4D97-AF65-F5344CB8AC3E}">
        <p14:creationId xmlns:p14="http://schemas.microsoft.com/office/powerpoint/2010/main" val="116395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ТЕКСТ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Текстови типове в SQL Server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CHAR(n)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фиксирана дължина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VARCHAR(n)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променлива дължина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NVARCHAR(n)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 текст на кирилица използваме Unicode тип: NVARCHAR(n).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5150" lnSpcReduction="20000"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NVARCHAR(50) за име; VARCHAR(20) за код само на латиница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ТЕКСТ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Дължина и Unicode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6477000" cy="200025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noGrp="1"/>
          </p:cNvSpPr>
          <p:nvPr/>
        </p:nvSpPr>
        <p:spPr>
          <a:xfrm>
            <a:off x="933450" y="199072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noGrp="1"/>
          </p:cNvSpPr>
          <p:nvPr/>
        </p:nvSpPr>
        <p:spPr>
          <a:xfrm>
            <a:off x="1009650" y="20097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60579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Name NVARCHAR(50),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Code VARCHAR(12),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Description NVARCHAR(500)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714750" cy="2000250"/>
          </a:xfrm>
          <a:prstGeom prst="roundRect">
            <a:avLst>
              <a:gd name="adj" fmla="val 857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noGrp="1"/>
          </p:cNvSpPr>
          <p:nvPr/>
        </p:nvSpPr>
        <p:spPr>
          <a:xfrm>
            <a:off x="8010525" y="2028825"/>
            <a:ext cx="3276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означава n?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noGrp="1"/>
          </p:cNvSpPr>
          <p:nvPr/>
        </p:nvSpPr>
        <p:spPr>
          <a:xfrm>
            <a:off x="8010525" y="2428875"/>
            <a:ext cx="32766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50: до 50 знака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12: до 12 знака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500: до 500 знака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N: Unicode текст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715625" cy="1000125"/>
          </a:xfrm>
          <a:prstGeom prst="roundRect">
            <a:avLst>
              <a:gd name="adj" fmla="val 15238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Твърде малка дължина може да отреже или отхвърли стойността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101441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Твърде голяма дължина затруднява правилата и индексирането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ЛИПСВАЩА СТОЙНОСТ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NULL означава неизвестна или неприложима стойност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381250" cy="6667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noGrp="1"/>
          </p:cNvSpPr>
          <p:nvPr/>
        </p:nvSpPr>
        <p:spPr>
          <a:xfrm>
            <a:off x="1143000" y="2524125"/>
            <a:ext cx="2381250" cy="17145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381250" cy="666750"/>
          </a:xfrm>
          <a:prstGeom prst="ellipse">
            <a:avLst/>
          </a:prstGeom>
          <a:solidFill>
            <a:srgbClr val="0D5FC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Известна стойност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MiddleName = 'Иванов'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noGrp="1"/>
          </p:cNvSpPr>
          <p:nvPr/>
        </p:nvSpPr>
        <p:spPr>
          <a:xfrm>
            <a:off x="5010150" y="37909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Неизвестна стойност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noGrp="1"/>
          </p:cNvSpPr>
          <p:nvPr/>
        </p:nvSpPr>
        <p:spPr>
          <a:xfrm>
            <a:off x="5010150" y="41910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MiddleName = NULL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noGrp="1"/>
          </p:cNvSpPr>
          <p:nvPr/>
        </p:nvSpPr>
        <p:spPr>
          <a:xfrm rot="5400000">
            <a:off x="4476750" y="279082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noGrp="1"/>
          </p:cNvSpPr>
          <p:nvPr/>
        </p:nvSpPr>
        <p:spPr>
          <a:xfrm rot="5400000">
            <a:off x="4476750" y="4171950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NULL не е 0, празен текст или интервал. Това е липса на известна стойност.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39B79A-027C-4581-9742-B9155260B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348CF1-AC00-481F-A1CA-CBF6BCD8193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ОБОБЩЕНИЕ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DD4F9-3594-47E8-B3D8-27CFC88CC24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Шест често използвани типа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3A10EA-D693-4E86-82F9-58F5962AE82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71F19-384C-46F3-949D-70F5B605B5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2DCE2-6A5C-4E21-BC64-50D6634675F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E575A5-83DF-4631-AD05-6E9751DB7D60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C0B52-498A-48C5-A4FC-99980E9B5E67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42B15-5133-4663-B783-399FACCA64F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09746-FA38-4901-BCF6-5B2E53835F12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цели числа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17, 2026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74A9B-3BD5-4C40-8786-6A3222185FD3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D979C7-651C-4E18-ABBE-092FD2B88074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0C8D4-9804-4549-8044-779D2D19E066}"/>
              </a:ext>
            </a:extLst>
          </p:cNvPr>
          <p:cNvSpPr>
            <a:spLocks noGrp="1"/>
          </p:cNvSpPr>
          <p:nvPr/>
        </p:nvSpPr>
        <p:spPr>
          <a:xfrm>
            <a:off x="461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DECIMAL(p,s)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CD4E0-49E6-475E-A973-CDF7C78AA303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точни дробни числа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19.99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8DA79A-8CD5-48D7-B2E5-438D1FFB9CFA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CA59D7-BC25-4FD2-BDD6-6D08F71B5219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C6AB2-8259-438F-BEBD-891E584B9FCA}"/>
              </a:ext>
            </a:extLst>
          </p:cNvPr>
          <p:cNvSpPr>
            <a:spLocks noGrp="1"/>
          </p:cNvSpPr>
          <p:nvPr/>
        </p:nvSpPr>
        <p:spPr>
          <a:xfrm>
            <a:off x="82867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NVARCHAR(n)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17AE8-AF48-4A36-99DF-6B2F1096DB8E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текст, включително кирилица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„Разград“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0B0999-FBEB-4214-8508-DBCF12BC625C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E007F0-0231-457A-A536-90814EDCF79A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94C0AF-BE33-4140-A801-C332235E9880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B1682-627A-4B6A-9B3C-92C5305402B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календарна дата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2026-09-16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0DE268-DABD-4C6E-B5F4-276AA8970CE9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6A3C51-F97B-4BD7-B582-5269548C92D8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C7017C-DF99-4335-AE9B-C375FC960F30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1BC6E-5C29-4B59-8C69-3863DCF2B007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да / не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1 или 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53E6B40-7AC5-478B-BBFE-597B08F1D543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EEF4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E45420-EE25-4D41-ACAF-FF2A9B7D02DC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83B56"/>
          </a:solidFill>
          <a:ln w="9525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EB598F-10C7-4839-90E2-AB1A25553E2D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DATETIME2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293929-D1B9-4271-8BC4-789ADCB8248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дата и час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Пример: 2026-09-16 09:30</a:t>
            </a:r>
          </a:p>
        </p:txBody>
      </p:sp>
    </p:spTree>
    <p:extLst>
      <p:ext uri="{BB962C8B-B14F-4D97-AF65-F5344CB8AC3E}">
        <p14:creationId xmlns:p14="http://schemas.microsoft.com/office/powerpoint/2010/main" val="122719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B6FB310-E086-482D-BBC7-D21F87D90C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41D49-7B6B-40A9-863A-054634E4B3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ИЗБОР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0C4D9-2744-477A-82C2-920DB37EDD8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Типът следва смисъла на данните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618CACB-9887-4F98-B1A5-D864BEBA971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6A443-4D46-48E6-9A7C-EEA6BBB8D4C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9F3E5-2949-4B15-9298-0D2E6E5CDAF4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AD3C7-9861-4089-B2B7-39AD3C9CE82D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3429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9A038-474B-460B-BED2-CC73E7C9FDDA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3352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B7C9A-0929-4165-A394-D854C7B97182}"/>
              </a:ext>
            </a:extLst>
          </p:cNvPr>
          <p:cNvSpPr>
            <a:spLocks noGrp="1"/>
          </p:cNvSpPr>
          <p:nvPr/>
        </p:nvSpPr>
        <p:spPr>
          <a:xfrm>
            <a:off x="4333875" y="1714500"/>
            <a:ext cx="31432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FA4F7-D226-4306-ABC9-4AE44AFBBF41}"/>
              </a:ext>
            </a:extLst>
          </p:cNvPr>
          <p:cNvSpPr>
            <a:spLocks noGrp="1"/>
          </p:cNvSpPr>
          <p:nvPr/>
        </p:nvSpPr>
        <p:spPr>
          <a:xfrm>
            <a:off x="4371975" y="1752600"/>
            <a:ext cx="30670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08DEF-515A-47D1-8316-0EF17737AE68}"/>
              </a:ext>
            </a:extLst>
          </p:cNvPr>
          <p:cNvSpPr>
            <a:spLocks noGrp="1"/>
          </p:cNvSpPr>
          <p:nvPr/>
        </p:nvSpPr>
        <p:spPr>
          <a:xfrm>
            <a:off x="7572375" y="1714500"/>
            <a:ext cx="3810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A54C8A-A812-4086-BA3D-BD189B80EDD0}"/>
              </a:ext>
            </a:extLst>
          </p:cNvPr>
          <p:cNvSpPr>
            <a:spLocks noGrp="1"/>
          </p:cNvSpPr>
          <p:nvPr/>
        </p:nvSpPr>
        <p:spPr>
          <a:xfrm>
            <a:off x="7610475" y="1752600"/>
            <a:ext cx="3733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Подходящ тип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C687A-A463-4640-8DDB-841E649343D9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2E08DC-ECE1-4EAD-96F3-B17FA1DDB3B4}"/>
              </a:ext>
            </a:extLst>
          </p:cNvPr>
          <p:cNvSpPr>
            <a:spLocks noGrp="1"/>
          </p:cNvSpPr>
          <p:nvPr/>
        </p:nvSpPr>
        <p:spPr>
          <a:xfrm>
            <a:off x="923925" y="23050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Възраст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9D00D5-5639-42D3-905D-A5CF51B3B38B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0DD20-8EF3-4D97-BDC8-C5037005E8EC}"/>
              </a:ext>
            </a:extLst>
          </p:cNvPr>
          <p:cNvSpPr>
            <a:spLocks noGrp="1"/>
          </p:cNvSpPr>
          <p:nvPr/>
        </p:nvSpPr>
        <p:spPr>
          <a:xfrm>
            <a:off x="4448175" y="23050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64FDA7-50A9-4AE5-A06C-5E0E23995EE6}"/>
              </a:ext>
            </a:extLst>
          </p:cNvPr>
          <p:cNvSpPr>
            <a:spLocks noGrp="1"/>
          </p:cNvSpPr>
          <p:nvPr/>
        </p:nvSpPr>
        <p:spPr>
          <a:xfrm>
            <a:off x="7572375" y="22383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3DC7B-2751-420A-A25E-98AD468FEB2C}"/>
              </a:ext>
            </a:extLst>
          </p:cNvPr>
          <p:cNvSpPr>
            <a:spLocks noGrp="1"/>
          </p:cNvSpPr>
          <p:nvPr/>
        </p:nvSpPr>
        <p:spPr>
          <a:xfrm>
            <a:off x="7686675" y="23050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TINYINT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FDD860-7D22-40E7-B67D-86F3F0453E28}"/>
              </a:ext>
            </a:extLst>
          </p:cNvPr>
          <p:cNvSpPr>
            <a:spLocks noGrp="1"/>
          </p:cNvSpPr>
          <p:nvPr/>
        </p:nvSpPr>
        <p:spPr>
          <a:xfrm>
            <a:off x="809625" y="28479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23CDF-6E7C-496A-88C5-3278887C5991}"/>
              </a:ext>
            </a:extLst>
          </p:cNvPr>
          <p:cNvSpPr>
            <a:spLocks noGrp="1"/>
          </p:cNvSpPr>
          <p:nvPr/>
        </p:nvSpPr>
        <p:spPr>
          <a:xfrm>
            <a:off x="923925" y="29146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Име на ученик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DF706-931D-4519-9D6D-869B7FC6CE7A}"/>
              </a:ext>
            </a:extLst>
          </p:cNvPr>
          <p:cNvSpPr>
            <a:spLocks noGrp="1"/>
          </p:cNvSpPr>
          <p:nvPr/>
        </p:nvSpPr>
        <p:spPr>
          <a:xfrm>
            <a:off x="4333875" y="28479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EE63A3-94FF-40D3-BAFE-AE7C4A716DDA}"/>
              </a:ext>
            </a:extLst>
          </p:cNvPr>
          <p:cNvSpPr>
            <a:spLocks noGrp="1"/>
          </p:cNvSpPr>
          <p:nvPr/>
        </p:nvSpPr>
        <p:spPr>
          <a:xfrm>
            <a:off x="4448175" y="29146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„Елена“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7FEC-0172-4B6B-BEA8-4A32BDE0E230}"/>
              </a:ext>
            </a:extLst>
          </p:cNvPr>
          <p:cNvSpPr>
            <a:spLocks noGrp="1"/>
          </p:cNvSpPr>
          <p:nvPr/>
        </p:nvSpPr>
        <p:spPr>
          <a:xfrm>
            <a:off x="7572375" y="28479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177D33-3BF3-48F6-9811-DDAF1EEEEA43}"/>
              </a:ext>
            </a:extLst>
          </p:cNvPr>
          <p:cNvSpPr>
            <a:spLocks noGrp="1"/>
          </p:cNvSpPr>
          <p:nvPr/>
        </p:nvSpPr>
        <p:spPr>
          <a:xfrm>
            <a:off x="7686675" y="29146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NVARCHAR(50)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ABF9D1-781D-4706-BCFB-459E25E91B9E}"/>
              </a:ext>
            </a:extLst>
          </p:cNvPr>
          <p:cNvSpPr>
            <a:spLocks noGrp="1"/>
          </p:cNvSpPr>
          <p:nvPr/>
        </p:nvSpPr>
        <p:spPr>
          <a:xfrm>
            <a:off x="809625" y="34575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44A580-DE49-481F-AC9E-3A554561FB5B}"/>
              </a:ext>
            </a:extLst>
          </p:cNvPr>
          <p:cNvSpPr>
            <a:spLocks noGrp="1"/>
          </p:cNvSpPr>
          <p:nvPr/>
        </p:nvSpPr>
        <p:spPr>
          <a:xfrm>
            <a:off x="923925" y="35242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Дата на раждане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AEDCE4-E675-4ED6-89C4-EE89DE6C6417}"/>
              </a:ext>
            </a:extLst>
          </p:cNvPr>
          <p:cNvSpPr>
            <a:spLocks noGrp="1"/>
          </p:cNvSpPr>
          <p:nvPr/>
        </p:nvSpPr>
        <p:spPr>
          <a:xfrm>
            <a:off x="4333875" y="34575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7D877A-1E1E-4A72-9A73-795B18C8C701}"/>
              </a:ext>
            </a:extLst>
          </p:cNvPr>
          <p:cNvSpPr>
            <a:spLocks noGrp="1"/>
          </p:cNvSpPr>
          <p:nvPr/>
        </p:nvSpPr>
        <p:spPr>
          <a:xfrm>
            <a:off x="4448175" y="35242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2009-04-12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BF6AD0-5622-4E20-B47E-AF68C053014A}"/>
              </a:ext>
            </a:extLst>
          </p:cNvPr>
          <p:cNvSpPr>
            <a:spLocks noGrp="1"/>
          </p:cNvSpPr>
          <p:nvPr/>
        </p:nvSpPr>
        <p:spPr>
          <a:xfrm>
            <a:off x="7572375" y="34575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99FD91-DA68-470D-88F7-5C10D6356555}"/>
              </a:ext>
            </a:extLst>
          </p:cNvPr>
          <p:cNvSpPr>
            <a:spLocks noGrp="1"/>
          </p:cNvSpPr>
          <p:nvPr/>
        </p:nvSpPr>
        <p:spPr>
          <a:xfrm>
            <a:off x="7686675" y="35242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51CD29-7D87-4D40-B805-65CB89BA8F87}"/>
              </a:ext>
            </a:extLst>
          </p:cNvPr>
          <p:cNvSpPr>
            <a:spLocks noGrp="1"/>
          </p:cNvSpPr>
          <p:nvPr/>
        </p:nvSpPr>
        <p:spPr>
          <a:xfrm>
            <a:off x="809625" y="40671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51F56F-2C81-48A1-83E5-3C04EC3E1160}"/>
              </a:ext>
            </a:extLst>
          </p:cNvPr>
          <p:cNvSpPr>
            <a:spLocks noGrp="1"/>
          </p:cNvSpPr>
          <p:nvPr/>
        </p:nvSpPr>
        <p:spPr>
          <a:xfrm>
            <a:off x="923925" y="41338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Среден успех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F3A42-8ABB-4D53-B317-53C6B0C046AD}"/>
              </a:ext>
            </a:extLst>
          </p:cNvPr>
          <p:cNvSpPr>
            <a:spLocks noGrp="1"/>
          </p:cNvSpPr>
          <p:nvPr/>
        </p:nvSpPr>
        <p:spPr>
          <a:xfrm>
            <a:off x="4333875" y="40671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001BE5-4980-4BC3-8848-86807AC23125}"/>
              </a:ext>
            </a:extLst>
          </p:cNvPr>
          <p:cNvSpPr>
            <a:spLocks noGrp="1"/>
          </p:cNvSpPr>
          <p:nvPr/>
        </p:nvSpPr>
        <p:spPr>
          <a:xfrm>
            <a:off x="4448175" y="41338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5.72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276453-BA8E-4399-B7A6-CA3E81EF21C2}"/>
              </a:ext>
            </a:extLst>
          </p:cNvPr>
          <p:cNvSpPr>
            <a:spLocks noGrp="1"/>
          </p:cNvSpPr>
          <p:nvPr/>
        </p:nvSpPr>
        <p:spPr>
          <a:xfrm>
            <a:off x="7572375" y="40671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C907B7-AD0B-4F27-A463-D984CE51F811}"/>
              </a:ext>
            </a:extLst>
          </p:cNvPr>
          <p:cNvSpPr>
            <a:spLocks noGrp="1"/>
          </p:cNvSpPr>
          <p:nvPr/>
        </p:nvSpPr>
        <p:spPr>
          <a:xfrm>
            <a:off x="7686675" y="41338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DECIMAL(3,2)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F14221-6FD1-4773-88F9-BFD529AA0142}"/>
              </a:ext>
            </a:extLst>
          </p:cNvPr>
          <p:cNvSpPr>
            <a:spLocks noGrp="1"/>
          </p:cNvSpPr>
          <p:nvPr/>
        </p:nvSpPr>
        <p:spPr>
          <a:xfrm>
            <a:off x="809625" y="46767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8B2082-712A-45E3-A1E4-5EF71B261E06}"/>
              </a:ext>
            </a:extLst>
          </p:cNvPr>
          <p:cNvSpPr>
            <a:spLocks noGrp="1"/>
          </p:cNvSpPr>
          <p:nvPr/>
        </p:nvSpPr>
        <p:spPr>
          <a:xfrm>
            <a:off x="923925" y="47434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Активен профил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D5BFED-9F3F-43E7-A030-9D2DED976832}"/>
              </a:ext>
            </a:extLst>
          </p:cNvPr>
          <p:cNvSpPr>
            <a:spLocks noGrp="1"/>
          </p:cNvSpPr>
          <p:nvPr/>
        </p:nvSpPr>
        <p:spPr>
          <a:xfrm>
            <a:off x="4333875" y="46767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2DC9A-019B-44BB-AF7A-8A3BBD49C94B}"/>
              </a:ext>
            </a:extLst>
          </p:cNvPr>
          <p:cNvSpPr>
            <a:spLocks noGrp="1"/>
          </p:cNvSpPr>
          <p:nvPr/>
        </p:nvSpPr>
        <p:spPr>
          <a:xfrm>
            <a:off x="4448175" y="47434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 / не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4007C5-2A98-4935-92DE-9A69613D6738}"/>
              </a:ext>
            </a:extLst>
          </p:cNvPr>
          <p:cNvSpPr>
            <a:spLocks noGrp="1"/>
          </p:cNvSpPr>
          <p:nvPr/>
        </p:nvSpPr>
        <p:spPr>
          <a:xfrm>
            <a:off x="7572375" y="46767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D806A0-E173-4A0C-8841-479FED0E46DF}"/>
              </a:ext>
            </a:extLst>
          </p:cNvPr>
          <p:cNvSpPr>
            <a:spLocks noGrp="1"/>
          </p:cNvSpPr>
          <p:nvPr/>
        </p:nvSpPr>
        <p:spPr>
          <a:xfrm>
            <a:off x="7686675" y="47434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BIT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7B9030-0D6B-4446-A481-FA7F50161A82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Избираме най-точния тип, който описва реалната стойност и очаквания диапазон.</a:t>
            </a:r>
          </a:p>
        </p:txBody>
      </p:sp>
    </p:spTree>
    <p:extLst>
      <p:ext uri="{BB962C8B-B14F-4D97-AF65-F5344CB8AC3E}">
        <p14:creationId xmlns:p14="http://schemas.microsoft.com/office/powerpoint/2010/main" val="111767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5E7753-B6B9-4AF0-8BE8-1150AF35B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54E4B-7B36-4558-B690-5978CA88918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МИСЛОВНА ЗАДАЧА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F3494-4E42-4D03-AA05-618F3FC975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Предложете тип за всяко поле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2472259-3BD5-4265-8D2E-4434D2E1E971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6C6E4-2C4F-46A7-B488-FBDC02B173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C14ED-8937-40EA-B873-5A16F51D740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22A1B-7DED-4D6B-AF15-64AB709C5D84}"/>
              </a:ext>
            </a:extLst>
          </p:cNvPr>
          <p:cNvSpPr>
            <a:spLocks noGrp="1"/>
          </p:cNvSpPr>
          <p:nvPr/>
        </p:nvSpPr>
        <p:spPr>
          <a:xfrm>
            <a:off x="9620250" y="695325"/>
            <a:ext cx="1381125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DB604-D5A3-49EA-9C99-9E932A3EA77E}"/>
              </a:ext>
            </a:extLst>
          </p:cNvPr>
          <p:cNvSpPr>
            <a:spLocks noGrp="1"/>
          </p:cNvSpPr>
          <p:nvPr/>
        </p:nvSpPr>
        <p:spPr>
          <a:xfrm>
            <a:off x="9696450" y="714375"/>
            <a:ext cx="12287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минути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707733-A7C5-4353-9BA5-5EB1ADC58419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946E-B0CE-40E2-9B0F-1BB88208451B}"/>
              </a:ext>
            </a:extLst>
          </p:cNvPr>
          <p:cNvSpPr>
            <a:spLocks noGrp="1"/>
          </p:cNvSpPr>
          <p:nvPr/>
        </p:nvSpPr>
        <p:spPr>
          <a:xfrm>
            <a:off x="914400" y="1638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16F93-A230-48FA-AACE-9F37BFAA3254}"/>
              </a:ext>
            </a:extLst>
          </p:cNvPr>
          <p:cNvSpPr>
            <a:spLocks noGrp="1"/>
          </p:cNvSpPr>
          <p:nvPr/>
        </p:nvSpPr>
        <p:spPr>
          <a:xfrm>
            <a:off x="1476375" y="15525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StudentId: уникален целочислен идентификатор.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0DAC0F-85A8-45F6-9102-0A732F0726C1}"/>
              </a:ext>
            </a:extLst>
          </p:cNvPr>
          <p:cNvSpPr>
            <a:spLocks noGrp="1"/>
          </p:cNvSpPr>
          <p:nvPr/>
        </p:nvSpPr>
        <p:spPr>
          <a:xfrm>
            <a:off x="809625" y="23145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6B5BE-D5B4-4132-A7AF-3D7787A4263B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D6871-78DD-4B88-89ED-71E8C5D5BF0F}"/>
              </a:ext>
            </a:extLst>
          </p:cNvPr>
          <p:cNvSpPr>
            <a:spLocks noGrp="1"/>
          </p:cNvSpPr>
          <p:nvPr/>
        </p:nvSpPr>
        <p:spPr>
          <a:xfrm>
            <a:off x="1476375" y="22955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FirstName: име на кирилица до 50 знака.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C4724D-3A48-48BB-91A8-D22630AD9BE1}"/>
              </a:ext>
            </a:extLst>
          </p:cNvPr>
          <p:cNvSpPr>
            <a:spLocks noGrp="1"/>
          </p:cNvSpPr>
          <p:nvPr/>
        </p:nvSpPr>
        <p:spPr>
          <a:xfrm>
            <a:off x="809625" y="30575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646CA-E0B3-4CD7-B586-B88F641CAC61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5DFD0-E2A5-408A-85B3-994B7ACEF5EB}"/>
              </a:ext>
            </a:extLst>
          </p:cNvPr>
          <p:cNvSpPr>
            <a:spLocks noGrp="1"/>
          </p:cNvSpPr>
          <p:nvPr/>
        </p:nvSpPr>
        <p:spPr>
          <a:xfrm>
            <a:off x="1476375" y="30384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BirthDate: календарна дата без час.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48DF82-3D93-45EB-81D4-59B2EDA30872}"/>
              </a:ext>
            </a:extLst>
          </p:cNvPr>
          <p:cNvSpPr>
            <a:spLocks noGrp="1"/>
          </p:cNvSpPr>
          <p:nvPr/>
        </p:nvSpPr>
        <p:spPr>
          <a:xfrm>
            <a:off x="809625" y="38004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080E6-AFE9-4DE2-9EA9-FA3FD91401C4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9FC623-08F1-4E28-8754-E954BC1C1D5D}"/>
              </a:ext>
            </a:extLst>
          </p:cNvPr>
          <p:cNvSpPr>
            <a:spLocks noGrp="1"/>
          </p:cNvSpPr>
          <p:nvPr/>
        </p:nvSpPr>
        <p:spPr>
          <a:xfrm>
            <a:off x="1476375" y="37814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AverageGrade: точна стойност като 5.75.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E5C3A93-09D6-41AF-A506-08044C6CE75C}"/>
              </a:ext>
            </a:extLst>
          </p:cNvPr>
          <p:cNvSpPr>
            <a:spLocks noGrp="1"/>
          </p:cNvSpPr>
          <p:nvPr/>
        </p:nvSpPr>
        <p:spPr>
          <a:xfrm>
            <a:off x="809625" y="4543425"/>
            <a:ext cx="476250" cy="476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4550FF-3668-49C3-9B1F-8F351D819952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0C86BA-9C44-4C40-AF00-A01EB3B164AD}"/>
              </a:ext>
            </a:extLst>
          </p:cNvPr>
          <p:cNvSpPr>
            <a:spLocks noGrp="1"/>
          </p:cNvSpPr>
          <p:nvPr/>
        </p:nvSpPr>
        <p:spPr>
          <a:xfrm>
            <a:off x="1476375" y="45243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IsActive: състояние „да“ или „не“.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538A46-0921-4B8A-A544-DE76CF3416FB}"/>
              </a:ext>
            </a:extLst>
          </p:cNvPr>
          <p:cNvSpPr>
            <a:spLocks noGrp="1"/>
          </p:cNvSpPr>
          <p:nvPr/>
        </p:nvSpPr>
        <p:spPr>
          <a:xfrm>
            <a:off x="1476375" y="5381625"/>
            <a:ext cx="9334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9525">
            <a:solidFill>
              <a:srgbClr val="B7E9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FE0B80-FC31-4518-A90E-4E25834286D8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89535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Очаквани</a:t>
            </a:r>
            <a:r>
              <a:rPr sz="1575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отговори</a:t>
            </a:r>
            <a:r>
              <a:rPr sz="1575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: INT, NVARCHAR(50), DATE, DECIMAL(3,2), BIT</a:t>
            </a:r>
          </a:p>
        </p:txBody>
      </p:sp>
    </p:spTree>
    <p:extLst>
      <p:ext uri="{BB962C8B-B14F-4D97-AF65-F5344CB8AC3E}">
        <p14:creationId xmlns:p14="http://schemas.microsoft.com/office/powerpoint/2010/main" val="59476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ВНИМАНИЕ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Чести грешки при избора на тип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noGrp="1"/>
          </p:cNvSpPr>
          <p:nvPr/>
        </p:nvSpPr>
        <p:spPr>
          <a:xfrm>
            <a:off x="1019175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Всичко е NVARCHAR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noGrp="1"/>
          </p:cNvSpPr>
          <p:nvPr/>
        </p:nvSpPr>
        <p:spPr>
          <a:xfrm>
            <a:off x="1562100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Текстът не позволява надеждни числови и времеви операции.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noGrp="1"/>
          </p:cNvSpPr>
          <p:nvPr/>
        </p:nvSpPr>
        <p:spPr>
          <a:xfrm>
            <a:off x="6448425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noGrp="1"/>
          </p:cNvSpPr>
          <p:nvPr/>
        </p:nvSpPr>
        <p:spPr>
          <a:xfrm>
            <a:off x="7115175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FLOAT за цена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noGrp="1"/>
          </p:cNvSpPr>
          <p:nvPr/>
        </p:nvSpPr>
        <p:spPr>
          <a:xfrm>
            <a:off x="7115175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Приблизителният тип може да даде нежелано закръгляне.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noGrp="1"/>
          </p:cNvSpPr>
          <p:nvPr/>
        </p:nvSpPr>
        <p:spPr>
          <a:xfrm>
            <a:off x="1019175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Прекалено малък тип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Стойност извън диапазона причинява грешка при запис.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noGrp="1"/>
          </p:cNvSpPr>
          <p:nvPr/>
        </p:nvSpPr>
        <p:spPr>
          <a:xfrm>
            <a:off x="6448425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noGrp="1"/>
          </p:cNvSpPr>
          <p:nvPr/>
        </p:nvSpPr>
        <p:spPr>
          <a:xfrm>
            <a:off x="7115175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Прекалено къс текст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noGrp="1"/>
          </p:cNvSpPr>
          <p:nvPr/>
        </p:nvSpPr>
        <p:spPr>
          <a:xfrm>
            <a:off x="7115175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NVARCHAR(10) не е достатъчен за много лични имена.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АНАЛИЗ НА КОД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Разчетете типовете в таблица Students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905500" cy="314325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noGrp="1"/>
          </p:cNvSpPr>
          <p:nvPr/>
        </p:nvSpPr>
        <p:spPr>
          <a:xfrm>
            <a:off x="857250" y="189547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486400" cy="2419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StudentId INT,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FirstName NVARCHAR(50),</a:t>
            </a:r>
          </a:p>
          <a:p>
            <a:pPr algn="l"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BirthDate DATE,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AverageGrade DECIMAL(3,2),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IsActive BIT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Подходящ избор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Всеки тип отговаря на смисъла на съответното поле.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noGrp="1"/>
          </p:cNvSpPr>
          <p:nvPr/>
        </p:nvSpPr>
        <p:spPr>
          <a:xfrm>
            <a:off x="7391400" y="36480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Въпрос към класа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noGrp="1"/>
          </p:cNvSpPr>
          <p:nvPr/>
        </p:nvSpPr>
        <p:spPr>
          <a:xfrm>
            <a:off x="7391400" y="40481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Кой тип бихте променили, ако броят записи стане огромен?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noGrp="1"/>
          </p:cNvSpPr>
          <p:nvPr/>
        </p:nvSpPr>
        <p:spPr>
          <a:xfrm>
            <a:off x="7143750" y="5191125"/>
            <a:ext cx="4362450" cy="619125"/>
          </a:xfrm>
          <a:prstGeom prst="roundRect">
            <a:avLst>
              <a:gd name="adj" fmla="val 21538"/>
            </a:avLst>
          </a:prstGeom>
          <a:solidFill>
            <a:srgbClr val="FDECEC"/>
          </a:solidFill>
          <a:ln w="9525">
            <a:solidFill>
              <a:srgbClr val="F5BAB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noGrp="1"/>
          </p:cNvSpPr>
          <p:nvPr/>
        </p:nvSpPr>
        <p:spPr>
          <a:xfrm>
            <a:off x="7334250" y="5276850"/>
            <a:ext cx="39814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8939" lnSpcReduction="20000"/>
          </a:bodyPr>
          <a:lstStyle/>
          <a:p>
            <a:pPr algn="ctr">
              <a:buNone/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Аргументирайте избора, а не само името на типа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ФИНАЛ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Изходен билет: 5 въпроса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noGrp="1"/>
          </p:cNvSpPr>
          <p:nvPr/>
        </p:nvSpPr>
        <p:spPr>
          <a:xfrm>
            <a:off x="1162050" y="15716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Какво определя типът данни?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Кой тип пази текст на кирилица?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noGrp="1"/>
          </p:cNvSpPr>
          <p:nvPr/>
        </p:nvSpPr>
        <p:spPr>
          <a:xfrm>
            <a:off x="1162050" y="29432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Какво означават p и s в DECIMAL(p,s)?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noGrp="1"/>
          </p:cNvSpPr>
          <p:nvPr/>
        </p:nvSpPr>
        <p:spPr>
          <a:xfrm>
            <a:off x="1162050" y="36290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Кой тип е подходящ за дата без час?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С какво NULL се различава от 0 и празен текст?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10287000" cy="781050"/>
          </a:xfrm>
          <a:prstGeom prst="roundRect">
            <a:avLst>
              <a:gd name="adj" fmla="val 1951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Следваща стъпка: прилагане на типовете при създаване на таблици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1647</Words>
  <Application>Microsoft Office PowerPoint</Application>
  <DocSecurity>0</DocSecurity>
  <PresentationFormat>Widescreen</PresentationFormat>
  <Paragraphs>319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3</cp:revision>
  <dcterms:created xsi:type="dcterms:W3CDTF">2026-09-22T21:47:48Z</dcterms:created>
  <dcterms:modified xsi:type="dcterms:W3CDTF">2026-09-22T21:59:28Z</dcterms:modified>
</cp:coreProperties>
</file>