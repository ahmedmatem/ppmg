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Свържете урока с релационния модел и работата в SSMS.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Представете очаквания резултат от часа.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Припомнете таблиците, колоните и ограниченията от предходната 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Обяснете декларативния характер на SQL. Източник: https://learn.microsoft.com/en-us/sql/t-sql/language-reference?view=sql-server-ver17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Разграничете структура, промяна на данни и извличане.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Прочетете примерната команда отляво надясно.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определят ролята на всеки елемент.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 форматиран и неформатиран вариант на една заявка.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Демонстрирайте USE, GO и DB_NAME() в SSMS.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Разгледайте CREATE DATABASE и CREATE TABLE. Източник: https://learn.microsoft.com/en-us/sql/t-sql/statements/statements?view=sql-server-ver17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Дайте примери за ADD и ALTER COLUMN. Източник: https://learn.microsoft.com/en-us/sql/t-sql/statements/statements?view=sql-server-ver17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Подчертайте необратимия риск при DROP и използването на учебен обект.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Проследете съответствието между колоните и стойностите при 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Обяснете SELECT, FROM и WHERE. Източник: https://learn.microsoft.com/en-us/sql/t-sql/queries/select-transact-sql?view=sql-server-ver17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Покажете защо SELECT със същото WHERE трябва да предхожда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Сравнете DELETE FROM с DROP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Свържете четирите CRUD операции с конкретните SQL команди.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посочват корекция за всяка грешка.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Прочетете общия скрипт блок по блок. Не е необходимо да го изпълнявате целия в теоретичния 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Изходен билет и подготовка за следващата практика.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учебен час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Въведение в 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Основни команди за работа с база данни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БД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и маршрут на часа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Разбирам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Как SQL изпраща инструкции към СУБД.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Разпознавам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DDL, DML и заявките за извличане на данни.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Разчитам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CREATE, ALTER, DROP, INSERT, SELECT, UPDATE и DELETE.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Първа част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Езикът SQL и неговата структура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Втора част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Команди, примери и безопасно изпълнение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ВРЪЗКА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 релационния модел към SQL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Релационен модел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Описва таблици, колони, ключове и връзки.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noGrp="1"/>
          </p:cNvSpPr>
          <p:nvPr/>
        </p:nvSpPr>
        <p:spPr>
          <a:xfrm>
            <a:off x="4772025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noGrp="1"/>
          </p:cNvSpPr>
          <p:nvPr/>
        </p:nvSpPr>
        <p:spPr>
          <a:xfrm>
            <a:off x="4772025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 структурата и работи с данните в нея.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noGrp="1"/>
          </p:cNvSpPr>
          <p:nvPr/>
        </p:nvSpPr>
        <p:spPr>
          <a:xfrm>
            <a:off x="861060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СУБД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Проверява синтаксиса, типовете и ограниченията.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Моделът описва какво пазим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SQL задава какво да направи системата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ОПРЕДЕЛЕНИЕ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е SQL?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820400" cy="1200150"/>
          </a:xfrm>
          <a:prstGeom prst="roundRect">
            <a:avLst>
              <a:gd name="adj" fmla="val 15873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SQL е декларативен език за работа с релационни бази данни. Описваме желания резултат, а СУБД избира начина на изпълнение.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781050" cy="7810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noGrp="1"/>
          </p:cNvSpPr>
          <p:nvPr/>
        </p:nvSpPr>
        <p:spPr>
          <a:xfrm>
            <a:off x="16859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бази, таблици и колони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noGrp="1"/>
          </p:cNvSpPr>
          <p:nvPr/>
        </p:nvSpPr>
        <p:spPr>
          <a:xfrm>
            <a:off x="4248150" y="3524250"/>
            <a:ext cx="781050" cy="7810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noGrp="1"/>
          </p:cNvSpPr>
          <p:nvPr/>
        </p:nvSpPr>
        <p:spPr>
          <a:xfrm>
            <a:off x="44100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noGrp="1"/>
          </p:cNvSpPr>
          <p:nvPr/>
        </p:nvSpPr>
        <p:spPr>
          <a:xfrm>
            <a:off x="34099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noGrp="1"/>
          </p:cNvSpPr>
          <p:nvPr/>
        </p:nvSpPr>
        <p:spPr>
          <a:xfrm>
            <a:off x="34099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добавяне и промяна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781050" cy="781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noGrp="1"/>
          </p:cNvSpPr>
          <p:nvPr/>
        </p:nvSpPr>
        <p:spPr>
          <a:xfrm>
            <a:off x="71342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noGrp="1"/>
          </p:cNvSpPr>
          <p:nvPr/>
        </p:nvSpPr>
        <p:spPr>
          <a:xfrm>
            <a:off x="61341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ЗАЯВКИ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noGrp="1"/>
          </p:cNvSpPr>
          <p:nvPr/>
        </p:nvSpPr>
        <p:spPr>
          <a:xfrm>
            <a:off x="61341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извличане на резултат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781050" cy="7810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noGrp="1"/>
          </p:cNvSpPr>
          <p:nvPr/>
        </p:nvSpPr>
        <p:spPr>
          <a:xfrm>
            <a:off x="98583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КОНТРОЛ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права и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ГРУПИ КОМАНДИ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Основни части на SQL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DDL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Определя структурата: CREATE, ALTER, DROP.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Променя данните: INSERT, UPDATE, DELETE.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Извлича данни и създава result set.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резултат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Елементи на една SQL команда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noGrp="1"/>
          </p:cNvSpPr>
          <p:nvPr/>
        </p:nvSpPr>
        <p:spPr>
          <a:xfrm>
            <a:off x="5429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Ключова дума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3246" lnSpcReduction="10000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определя действието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noGrp="1"/>
          </p:cNvSpPr>
          <p:nvPr/>
        </p:nvSpPr>
        <p:spPr>
          <a:xfrm>
            <a:off x="28860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noGrp="1"/>
          </p:cNvSpPr>
          <p:nvPr/>
        </p:nvSpPr>
        <p:spPr>
          <a:xfrm rot="5400000">
            <a:off x="31908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noGrp="1"/>
          </p:cNvSpPr>
          <p:nvPr/>
        </p:nvSpPr>
        <p:spPr>
          <a:xfrm>
            <a:off x="336232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Обект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2176" lnSpcReduction="10000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dbo.Students е таблицата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noGrp="1"/>
          </p:cNvSpPr>
          <p:nvPr/>
        </p:nvSpPr>
        <p:spPr>
          <a:xfrm>
            <a:off x="553402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noGrp="1"/>
          </p:cNvSpPr>
          <p:nvPr/>
        </p:nvSpPr>
        <p:spPr>
          <a:xfrm rot="5400000">
            <a:off x="583882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noGrp="1"/>
          </p:cNvSpPr>
          <p:nvPr/>
        </p:nvSpPr>
        <p:spPr>
          <a:xfrm>
            <a:off x="601027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Колони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noGrp="1"/>
          </p:cNvSpPr>
          <p:nvPr/>
        </p:nvSpPr>
        <p:spPr>
          <a:xfrm>
            <a:off x="612457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2528" lnSpcReduction="20000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FirstName, LastName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noGrp="1"/>
          </p:cNvSpPr>
          <p:nvPr/>
        </p:nvSpPr>
        <p:spPr>
          <a:xfrm>
            <a:off x="81819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noGrp="1"/>
          </p:cNvSpPr>
          <p:nvPr/>
        </p:nvSpPr>
        <p:spPr>
          <a:xfrm rot="5400000">
            <a:off x="84867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noGrp="1"/>
          </p:cNvSpPr>
          <p:nvPr/>
        </p:nvSpPr>
        <p:spPr>
          <a:xfrm>
            <a:off x="86582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noGrp="1"/>
          </p:cNvSpPr>
          <p:nvPr/>
        </p:nvSpPr>
        <p:spPr>
          <a:xfrm>
            <a:off x="87725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Условие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noGrp="1"/>
          </p:cNvSpPr>
          <p:nvPr/>
        </p:nvSpPr>
        <p:spPr>
          <a:xfrm>
            <a:off x="87725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9663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IsActive =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Командата завършва с точка и запетая. SQL Server често я приема и без нея, но добрият стил я използва.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Команда, обект, условие и резултат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143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1066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Елемент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noGrp="1"/>
          </p:cNvSpPr>
          <p:nvPr/>
        </p:nvSpPr>
        <p:spPr>
          <a:xfrm>
            <a:off x="2286000" y="1905000"/>
            <a:ext cx="3429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noGrp="1"/>
          </p:cNvSpPr>
          <p:nvPr/>
        </p:nvSpPr>
        <p:spPr>
          <a:xfrm>
            <a:off x="2324100" y="1943100"/>
            <a:ext cx="3352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noGrp="1"/>
          </p:cNvSpPr>
          <p:nvPr/>
        </p:nvSpPr>
        <p:spPr>
          <a:xfrm>
            <a:off x="5715000" y="1905000"/>
            <a:ext cx="23812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noGrp="1"/>
          </p:cNvSpPr>
          <p:nvPr/>
        </p:nvSpPr>
        <p:spPr>
          <a:xfrm>
            <a:off x="5753100" y="1943100"/>
            <a:ext cx="23050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Въпрос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7145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638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Роля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noGrp="1"/>
          </p:cNvSpPr>
          <p:nvPr/>
        </p:nvSpPr>
        <p:spPr>
          <a:xfrm>
            <a:off x="1200150" y="24860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noGrp="1"/>
          </p:cNvSpPr>
          <p:nvPr/>
        </p:nvSpPr>
        <p:spPr>
          <a:xfrm>
            <a:off x="2286000" y="24384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noGrp="1"/>
          </p:cNvSpPr>
          <p:nvPr/>
        </p:nvSpPr>
        <p:spPr>
          <a:xfrm>
            <a:off x="2343150" y="24860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noGrp="1"/>
          </p:cNvSpPr>
          <p:nvPr/>
        </p:nvSpPr>
        <p:spPr>
          <a:xfrm>
            <a:off x="5772150" y="24860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Какво правим?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noGrp="1"/>
          </p:cNvSpPr>
          <p:nvPr/>
        </p:nvSpPr>
        <p:spPr>
          <a:xfrm>
            <a:off x="8153400" y="24860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извличаме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1143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noGrp="1"/>
          </p:cNvSpPr>
          <p:nvPr/>
        </p:nvSpPr>
        <p:spPr>
          <a:xfrm>
            <a:off x="1200150" y="303847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Обект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3429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noGrp="1"/>
          </p:cNvSpPr>
          <p:nvPr/>
        </p:nvSpPr>
        <p:spPr>
          <a:xfrm>
            <a:off x="2343150" y="303847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dbo.Students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23812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noGrp="1"/>
          </p:cNvSpPr>
          <p:nvPr/>
        </p:nvSpPr>
        <p:spPr>
          <a:xfrm>
            <a:off x="5772150" y="303847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Къде?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17145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noGrp="1"/>
          </p:cNvSpPr>
          <p:nvPr/>
        </p:nvSpPr>
        <p:spPr>
          <a:xfrm>
            <a:off x="1200150" y="35909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Условие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noGrp="1"/>
          </p:cNvSpPr>
          <p:nvPr/>
        </p:nvSpPr>
        <p:spPr>
          <a:xfrm>
            <a:off x="2286000" y="3543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WHERE IsActive = 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Кои редове?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noGrp="1"/>
          </p:cNvSpPr>
          <p:nvPr/>
        </p:nvSpPr>
        <p:spPr>
          <a:xfrm>
            <a:off x="8134350" y="35433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noGrp="1"/>
          </p:cNvSpPr>
          <p:nvPr/>
        </p:nvSpPr>
        <p:spPr>
          <a:xfrm>
            <a:off x="8058150" y="3590925"/>
            <a:ext cx="18478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975" b="0" dirty="0" err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само</a:t>
            </a:r>
            <a:r>
              <a:rPr sz="975" b="0" dirty="0">
                <a:solidFill>
                  <a:srgbClr val="172B4D"/>
                </a:solidFill>
                <a:latin typeface="Arial"/>
                <a:ea typeface="Arial"/>
                <a:cs typeface="Arial"/>
              </a:rPr>
              <a:t> </a:t>
            </a:r>
            <a:r>
              <a:rPr sz="975" b="0" dirty="0" err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активните</a:t>
            </a:r>
            <a:endParaRPr sz="975" b="0" dirty="0">
              <a:solidFill>
                <a:srgbClr val="172B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2C65D4-28D4-4B31-B539-0A96DD6C2A51}"/>
              </a:ext>
            </a:extLst>
          </p:cNvPr>
          <p:cNvSpPr>
            <a:spLocks noGrp="1"/>
          </p:cNvSpPr>
          <p:nvPr/>
        </p:nvSpPr>
        <p:spPr>
          <a:xfrm>
            <a:off x="8410575" y="1657350"/>
            <a:ext cx="1085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42700B-53CD-4F90-99A8-ADAE11CA2151}"/>
              </a:ext>
            </a:extLst>
          </p:cNvPr>
          <p:cNvSpPr>
            <a:spLocks noGrp="1"/>
          </p:cNvSpPr>
          <p:nvPr/>
        </p:nvSpPr>
        <p:spPr>
          <a:xfrm>
            <a:off x="8982075" y="36576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5209"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Резултатът съдържа само редовете, които отговарят на условието.</a:t>
            </a:r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СИНТАКСИС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Правила за четим SQL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Ключовите думи с главни букви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SELECT, FROM, WHERE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Всяка основна клауза на нов ред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заявката се чете по-лесно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Смислени имена на обекти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Students вместо Table1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Коментар с --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обяснява кода без изпълнение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Точка и запетая завършва SQL израза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Текуща база и разделяне на блокове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Избира базата, в която следващите команди ще работят.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Разделя скрипта на отделни партиди в инструментите на SQL Server.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 DB_NAME() AS CurrentDatabase;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noGrp="1"/>
          </p:cNvSpPr>
          <p:nvPr/>
        </p:nvSpPr>
        <p:spPr>
          <a:xfrm rot="5400000">
            <a:off x="453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noGrp="1"/>
          </p:cNvSpPr>
          <p:nvPr/>
        </p:nvSpPr>
        <p:spPr>
          <a:xfrm rot="5400000">
            <a:off x="834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Пример: USE SchoolPractice; GO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noGrp="1"/>
          </p:cNvSpPr>
          <p:nvPr/>
        </p:nvSpPr>
        <p:spPr>
          <a:xfrm>
            <a:off x="4629150" y="5638800"/>
            <a:ext cx="2933700" cy="32385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noGrp="1"/>
          </p:cNvSpPr>
          <p:nvPr/>
        </p:nvSpPr>
        <p:spPr>
          <a:xfrm>
            <a:off x="4705350" y="56578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4881" lnSpcReduction="10000"/>
          </a:bodyPr>
          <a:lstStyle/>
          <a:p>
            <a:pPr algn="ctr">
              <a:buNone/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GO се разпознава от SSMS, а не е T-SQL команда към Database Engine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DDL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създава нов обект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създава база данни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TABLE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6198" lnSpcReduction="10000"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създава таблица и нейните колони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CREATE TABLE </a:t>
            </a:r>
            <a:r>
              <a:rPr sz="1000" b="1" dirty="0" err="1">
                <a:solidFill>
                  <a:srgbClr val="5D7186"/>
                </a:solidFill>
                <a:latin typeface="Arial"/>
                <a:ea typeface="Arial"/>
                <a:cs typeface="Arial"/>
              </a:rPr>
              <a:t>dbo.Clubs</a:t>
            </a:r>
            <a:r>
              <a:rPr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(</a:t>
            </a:r>
          </a:p>
          <a:p>
            <a:pPr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 </a:t>
            </a:r>
            <a:r>
              <a:rPr lang="en-GB"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  </a:t>
            </a:r>
            <a:r>
              <a:rPr sz="1000" b="1" dirty="0" err="1">
                <a:solidFill>
                  <a:srgbClr val="5D7186"/>
                </a:solidFill>
                <a:latin typeface="Arial"/>
                <a:ea typeface="Arial"/>
                <a:cs typeface="Arial"/>
              </a:rPr>
              <a:t>ClubId</a:t>
            </a:r>
            <a:r>
              <a:rPr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INT IDENTITY PRIMARY KEY,</a:t>
            </a:r>
          </a:p>
          <a:p>
            <a:pPr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 </a:t>
            </a:r>
            <a:r>
              <a:rPr lang="en-GB"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  </a:t>
            </a:r>
            <a:r>
              <a:rPr sz="1000" b="1" dirty="0" err="1">
                <a:solidFill>
                  <a:srgbClr val="5D7186"/>
                </a:solidFill>
                <a:latin typeface="Arial"/>
                <a:ea typeface="Arial"/>
                <a:cs typeface="Arial"/>
              </a:rPr>
              <a:t>ClubName</a:t>
            </a:r>
            <a:r>
              <a:rPr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NVARCHAR(80) NOT NULL</a:t>
            </a:r>
            <a:endParaRPr lang="en-GB" sz="1000" b="1" dirty="0">
              <a:solidFill>
                <a:srgbClr val="5D7186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D7186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преди изпълнение проверете текущата база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6323" lnSpcReduction="10000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структура преди данни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DDL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ALTER променя съществуваща таблица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noGrp="1"/>
          </p:cNvSpPr>
          <p:nvPr/>
        </p:nvSpPr>
        <p:spPr>
          <a:xfrm>
            <a:off x="8763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ADD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438400" cy="2857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Добавя нова колона или ограничение.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6962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noGrp="1"/>
          </p:cNvSpPr>
          <p:nvPr/>
        </p:nvSpPr>
        <p:spPr>
          <a:xfrm>
            <a:off x="40005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noGrp="1"/>
          </p:cNvSpPr>
          <p:nvPr/>
        </p:nvSpPr>
        <p:spPr>
          <a:xfrm>
            <a:off x="40767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ALTER COLUMN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noGrp="1"/>
          </p:cNvSpPr>
          <p:nvPr/>
        </p:nvSpPr>
        <p:spPr>
          <a:xfrm>
            <a:off x="4057650" y="2305050"/>
            <a:ext cx="7048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Променя тип, размер или допустимост на NULL.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76962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noGrp="1"/>
          </p:cNvSpPr>
          <p:nvPr/>
        </p:nvSpPr>
        <p:spPr>
          <a:xfrm>
            <a:off x="4076700" y="30289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DROP COLUMN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7277100" cy="17811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Премахва колона от таблицата.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noGrp="1"/>
          </p:cNvSpPr>
          <p:nvPr/>
        </p:nvSpPr>
        <p:spPr>
          <a:xfrm>
            <a:off x="594360" y="5772150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ALTER TABLE </a:t>
            </a:r>
            <a:r>
              <a:rPr sz="12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dbo.Clubs</a:t>
            </a: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ADD </a:t>
            </a:r>
            <a:r>
              <a:rPr sz="12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MaxMembers</a:t>
            </a: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SMALLINT NULL;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DDL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премахва обект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TABLE dbo.TestTable;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премахва структурата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премахва всички данни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2500" lnSpcReduction="10000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операцията изисква внимателна проверка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7732" lnSpcReduction="20000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DATABASE премахва цяла база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7826" lnSpcReduction="10000"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DROP проверете името и зависимостите. За упражнение използвайте само временен обект.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DELETE и DROP не означават едно и също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103632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INSERT добавя нови редове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INSERT INTO dbo.Clubs (ClubName, MaxMembers)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VALUES (N'Роботика', 20),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     (N'Уеб дизайн', 16);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Колони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Имената определят реда на стойностите.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Unicode текст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N пред текста запазва кирилицата при NVARCHAR.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ЗАЯВКА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 извлича данни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2498" lnSpcReduction="1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посочва колоните в резултата.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Таблицата, от която четем.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Условието за филтриране.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7909561" y="2714625"/>
            <a:ext cx="3187064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7669"/>
          </a:bodyPr>
          <a:lstStyle/>
          <a:p>
            <a:pPr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 </a:t>
            </a:r>
            <a:r>
              <a:rPr sz="14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ClubName</a:t>
            </a:r>
            <a:r>
              <a:rPr sz="14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,</a:t>
            </a:r>
            <a:r>
              <a:rPr lang="en-GB" sz="14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MaxMembers</a:t>
            </a:r>
            <a:endParaRPr sz="1400" b="1" dirty="0">
              <a:solidFill>
                <a:srgbClr val="102A4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lang="en-GB" sz="14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  </a:t>
            </a:r>
            <a:r>
              <a:rPr sz="14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</a:t>
            </a:r>
            <a:r>
              <a:rPr sz="14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dbo.Clubs</a:t>
            </a:r>
            <a:endParaRPr sz="1400" b="1" dirty="0">
              <a:solidFill>
                <a:srgbClr val="102A4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</a:t>
            </a:r>
            <a:r>
              <a:rPr sz="14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MaxMembers</a:t>
            </a:r>
            <a:r>
              <a:rPr sz="14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&gt;= 18;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UPDATE променя съществуващи редове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посочва таблицата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noGrp="1"/>
          </p:cNvSpPr>
          <p:nvPr/>
        </p:nvSpPr>
        <p:spPr>
          <a:xfrm>
            <a:off x="461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задава новата стойност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noGrp="1"/>
          </p:cNvSpPr>
          <p:nvPr/>
        </p:nvSpPr>
        <p:spPr>
          <a:xfrm>
            <a:off x="82867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избира редовете за промяна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без WHERE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командата променя всички редове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4394" lnSpcReduction="10000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UPDATE dbo.Clubs SET MaxMembers = 24 WHERE ClubId = 1;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Първо изпълнете SELECT със същото WHERE условие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EEF4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83B56"/>
          </a:solidFill>
          <a:ln w="9525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DELETE премахва редове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352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DELETE FROM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noGrp="1"/>
          </p:cNvSpPr>
          <p:nvPr/>
        </p:nvSpPr>
        <p:spPr>
          <a:xfrm>
            <a:off x="4333875" y="1714500"/>
            <a:ext cx="3143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30670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6642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таблицата, от която премахваме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noGrp="1"/>
          </p:cNvSpPr>
          <p:nvPr/>
        </p:nvSpPr>
        <p:spPr>
          <a:xfrm>
            <a:off x="7572375" y="1714500"/>
            <a:ext cx="3810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noGrp="1"/>
          </p:cNvSpPr>
          <p:nvPr/>
        </p:nvSpPr>
        <p:spPr>
          <a:xfrm>
            <a:off x="7610475" y="1752600"/>
            <a:ext cx="3733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noGrp="1"/>
          </p:cNvSpPr>
          <p:nvPr/>
        </p:nvSpPr>
        <p:spPr>
          <a:xfrm>
            <a:off x="923925" y="23050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редовете, които ще бъдат изтрити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noGrp="1"/>
          </p:cNvSpPr>
          <p:nvPr/>
        </p:nvSpPr>
        <p:spPr>
          <a:xfrm>
            <a:off x="4448175" y="23050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noGrp="1"/>
          </p:cNvSpPr>
          <p:nvPr/>
        </p:nvSpPr>
        <p:spPr>
          <a:xfrm>
            <a:off x="7686675" y="23050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SELECT със същото условие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noGrp="1"/>
          </p:cNvSpPr>
          <p:nvPr/>
        </p:nvSpPr>
        <p:spPr>
          <a:xfrm>
            <a:off x="923925" y="29146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без WHERE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noGrp="1"/>
          </p:cNvSpPr>
          <p:nvPr/>
        </p:nvSpPr>
        <p:spPr>
          <a:xfrm>
            <a:off x="4333875" y="28479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noGrp="1"/>
          </p:cNvSpPr>
          <p:nvPr/>
        </p:nvSpPr>
        <p:spPr>
          <a:xfrm>
            <a:off x="4448175" y="29146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изтриват се всички редове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noGrp="1"/>
          </p:cNvSpPr>
          <p:nvPr/>
        </p:nvSpPr>
        <p:spPr>
          <a:xfrm>
            <a:off x="7572375" y="28479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DELETE FROM dbo.Clubs WHERE ClubId = 2;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noGrp="1"/>
          </p:cNvSpPr>
          <p:nvPr/>
        </p:nvSpPr>
        <p:spPr>
          <a:xfrm>
            <a:off x="809625" y="34575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noGrp="1"/>
          </p:cNvSpPr>
          <p:nvPr/>
        </p:nvSpPr>
        <p:spPr>
          <a:xfrm>
            <a:off x="923925" y="35242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Таблицата остава. DROP TABLE премахва и структурата.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noGrp="1"/>
          </p:cNvSpPr>
          <p:nvPr/>
        </p:nvSpPr>
        <p:spPr>
          <a:xfrm>
            <a:off x="4448175" y="35242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noGrp="1"/>
          </p:cNvSpPr>
          <p:nvPr/>
        </p:nvSpPr>
        <p:spPr>
          <a:xfrm>
            <a:off x="7572375" y="34575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noGrp="1"/>
          </p:cNvSpPr>
          <p:nvPr/>
        </p:nvSpPr>
        <p:spPr>
          <a:xfrm>
            <a:off x="7686675" y="35242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noGrp="1"/>
          </p:cNvSpPr>
          <p:nvPr/>
        </p:nvSpPr>
        <p:spPr>
          <a:xfrm>
            <a:off x="923925" y="41338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noGrp="1"/>
          </p:cNvSpPr>
          <p:nvPr/>
        </p:nvSpPr>
        <p:spPr>
          <a:xfrm>
            <a:off x="4448175" y="41338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noGrp="1"/>
          </p:cNvSpPr>
          <p:nvPr/>
        </p:nvSpPr>
        <p:spPr>
          <a:xfrm>
            <a:off x="7572375" y="40671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noGrp="1"/>
          </p:cNvSpPr>
          <p:nvPr/>
        </p:nvSpPr>
        <p:spPr>
          <a:xfrm>
            <a:off x="7686675" y="41338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noGrp="1"/>
          </p:cNvSpPr>
          <p:nvPr/>
        </p:nvSpPr>
        <p:spPr>
          <a:xfrm>
            <a:off x="809625" y="46767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noGrp="1"/>
          </p:cNvSpPr>
          <p:nvPr/>
        </p:nvSpPr>
        <p:spPr>
          <a:xfrm>
            <a:off x="923925" y="47434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noGrp="1"/>
          </p:cNvSpPr>
          <p:nvPr/>
        </p:nvSpPr>
        <p:spPr>
          <a:xfrm>
            <a:off x="4333875" y="46767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noGrp="1"/>
          </p:cNvSpPr>
          <p:nvPr/>
        </p:nvSpPr>
        <p:spPr>
          <a:xfrm>
            <a:off x="7572375" y="46767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noGrp="1"/>
          </p:cNvSpPr>
          <p:nvPr/>
        </p:nvSpPr>
        <p:spPr>
          <a:xfrm>
            <a:off x="7686675" y="47434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CRUD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Основните операции върху данни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noGrp="1"/>
          </p:cNvSpPr>
          <p:nvPr/>
        </p:nvSpPr>
        <p:spPr>
          <a:xfrm>
            <a:off x="9620250" y="6953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noGrp="1"/>
          </p:cNvSpPr>
          <p:nvPr/>
        </p:nvSpPr>
        <p:spPr>
          <a:xfrm>
            <a:off x="9696450" y="714375"/>
            <a:ext cx="12287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минути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CREATE: INSERT добавя запис.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noGrp="1"/>
          </p:cNvSpPr>
          <p:nvPr/>
        </p:nvSpPr>
        <p:spPr>
          <a:xfrm>
            <a:off x="809625" y="23145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noGrp="1"/>
          </p:cNvSpPr>
          <p:nvPr/>
        </p:nvSpPr>
        <p:spPr>
          <a:xfrm>
            <a:off x="1476375" y="22955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READ: SELECT извлича запис.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noGrp="1"/>
          </p:cNvSpPr>
          <p:nvPr/>
        </p:nvSpPr>
        <p:spPr>
          <a:xfrm>
            <a:off x="809625" y="30575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UPDATE: UPDATE променя запис.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DELETE: DELETE премахва запис.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noGrp="1"/>
          </p:cNvSpPr>
          <p:nvPr/>
        </p:nvSpPr>
        <p:spPr>
          <a:xfrm>
            <a:off x="809625" y="4543425"/>
            <a:ext cx="476250" cy="476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noGrp="1"/>
          </p:cNvSpPr>
          <p:nvPr/>
        </p:nvSpPr>
        <p:spPr>
          <a:xfrm>
            <a:off x="1476375" y="45243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DDL командите създават структурата, върху която CRUD работи.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noGrp="1"/>
          </p:cNvSpPr>
          <p:nvPr/>
        </p:nvSpPr>
        <p:spPr>
          <a:xfrm>
            <a:off x="1476375" y="5381625"/>
            <a:ext cx="9334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9525">
            <a:solidFill>
              <a:srgbClr val="B7E9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Разграничете CREATE от CRUD операцията Create: в SQL данните се добавят с INSERT.</a:t>
            </a:r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Чести грешки при първи SQL команди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Грешна текуща база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DB_NAME() и падащото меню в SSMS.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Грешно име на таблица или колона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Сравнете с Object Explorer и използвайте схемата dbo.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Липсваща запетая или скоба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Прочетете реда, посочен в Messages.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UPDATE или DELETE без WHERE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целевите редове със SELECT преди изпълнение.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ОБЩ ПРИМЕР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103632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Последователност в Query Editor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USE SchoolPractice;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TABLE dbo.TestCommands (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Id INT IDENTITY PRIMARY KEY,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Name NVARCHAR(50) NOT NULL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INSERT INTO dbo.TestCommands (Name) VALUES (N'Пример');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* FROM dbo.TestCommands;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UPDATE dbo.TestCommands SET Name = N'Променен' WHERE Id = 1;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DELETE FROM dbo.TestCommands WHERE Id = 1;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DROP TABLE dbo.TestCommands;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Прочетете скрипта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Всяка следваща команда използва резултата от предходната.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Безопасност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Работим с временна учебна таблица.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8939" lnSpcReduction="20000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Следващата практика изпълнява командите блок по блок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Изходен билет: 5 въпроса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Какво означава SQL?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Кои команди принадлежат към DDL?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Каква е ролята на WHERE?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Каква е разликата между DELETE и DROP TABLE?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Защо проверяваме DB_NAME() преди изпълнение?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Следваща тема: изпълнение на SQL команди в SSMS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1555</Words>
  <Application>Microsoft Office PowerPoint</Application>
  <DocSecurity>0</DocSecurity>
  <PresentationFormat>Widescreen</PresentationFormat>
  <Paragraphs>296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4</cp:revision>
  <dcterms:created xsi:type="dcterms:W3CDTF">2026-10-05T17:28:26Z</dcterms:created>
  <dcterms:modified xsi:type="dcterms:W3CDTF">2026-10-05T18:02:06Z</dcterms:modified>
</cp:coreProperties>
</file>