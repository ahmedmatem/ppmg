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26aea9b774404" /><Relationship Type="http://schemas.openxmlformats.org/officeDocument/2006/relationships/extended-properties" Target="/docProps/app.xml" Id="Rb3114e4ac3d5434c" /><Relationship Type="http://schemas.openxmlformats.org/officeDocument/2006/relationships/officeDocument" Target="/ppt/presentation.xml" Id="R2fc2d1f20f45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7299bcf6b4f2a"/>
  </p:sldMasterIdLst>
  <p:notesMasterIdLst>
    <p:notesMasterId xmlns:r="http://schemas.openxmlformats.org/officeDocument/2006/relationships" r:id="R85f5438dee2546cf"/>
  </p:notesMasterIdLst>
  <p:sldIdLst>
    <p:sldId xmlns:r="http://schemas.openxmlformats.org/officeDocument/2006/relationships" id="256" r:id="R42e5063bacc34548"/>
    <p:sldId xmlns:r="http://schemas.openxmlformats.org/officeDocument/2006/relationships" id="257" r:id="Rfed4f09308e14897"/>
    <p:sldId xmlns:r="http://schemas.openxmlformats.org/officeDocument/2006/relationships" id="258" r:id="R8bd0f8e6208a43d5"/>
    <p:sldId xmlns:r="http://schemas.openxmlformats.org/officeDocument/2006/relationships" id="259" r:id="Rb38cd6a2bbc542d7"/>
    <p:sldId xmlns:r="http://schemas.openxmlformats.org/officeDocument/2006/relationships" id="260" r:id="Rb7e31174a27b4449"/>
    <p:sldId xmlns:r="http://schemas.openxmlformats.org/officeDocument/2006/relationships" id="261" r:id="R0f7831b640774787"/>
    <p:sldId xmlns:r="http://schemas.openxmlformats.org/officeDocument/2006/relationships" id="262" r:id="R82d5121cc59d4de8"/>
    <p:sldId xmlns:r="http://schemas.openxmlformats.org/officeDocument/2006/relationships" id="263" r:id="Ra900b11e74494500"/>
    <p:sldId xmlns:r="http://schemas.openxmlformats.org/officeDocument/2006/relationships" id="264" r:id="R6f53c21a36614ea1"/>
    <p:sldId xmlns:r="http://schemas.openxmlformats.org/officeDocument/2006/relationships" id="265" r:id="Rc776b508a1cc413f"/>
    <p:sldId xmlns:r="http://schemas.openxmlformats.org/officeDocument/2006/relationships" id="266" r:id="Rdcb3ea88d15d426a"/>
    <p:sldId xmlns:r="http://schemas.openxmlformats.org/officeDocument/2006/relationships" id="267" r:id="R2387eabaf78846cf"/>
    <p:sldId xmlns:r="http://schemas.openxmlformats.org/officeDocument/2006/relationships" id="268" r:id="R4267ec6b7ad04dc7"/>
    <p:sldId xmlns:r="http://schemas.openxmlformats.org/officeDocument/2006/relationships" id="269" r:id="R00c4bfd1a5994e1a"/>
    <p:sldId xmlns:r="http://schemas.openxmlformats.org/officeDocument/2006/relationships" id="270" r:id="R4b2480de633d4478"/>
    <p:sldId xmlns:r="http://schemas.openxmlformats.org/officeDocument/2006/relationships" id="271" r:id="R49d48751d0884536"/>
    <p:sldId xmlns:r="http://schemas.openxmlformats.org/officeDocument/2006/relationships" id="272" r:id="R3f96a304e19e4e54"/>
    <p:sldId xmlns:r="http://schemas.openxmlformats.org/officeDocument/2006/relationships" id="273" r:id="Rd251f6c924454999"/>
    <p:sldId xmlns:r="http://schemas.openxmlformats.org/officeDocument/2006/relationships" id="274" r:id="Rd7f8e4b42a1942d1"/>
    <p:sldId xmlns:r="http://schemas.openxmlformats.org/officeDocument/2006/relationships" id="275" r:id="R43e79d545967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2b7a227d214a42" /><Relationship Type="http://schemas.openxmlformats.org/officeDocument/2006/relationships/slideMaster" Target="/ppt/slideMasters/slideMaster1.xml" Id="Re847299bcf6b4f2a" /><Relationship Type="http://schemas.openxmlformats.org/officeDocument/2006/relationships/notesMaster" Target="/ppt/notesMasters/notesMaster1.xml" Id="R85f5438dee2546cf" /><Relationship Type="http://schemas.openxmlformats.org/officeDocument/2006/relationships/presProps" Target="/ppt/presProps.xml" Id="Re4193ba1562c4bd6" /><Relationship Type="http://schemas.openxmlformats.org/officeDocument/2006/relationships/tableStyles" Target="/ppt/tableStyles.xml" Id="R1c851f20c25f4611" /><Relationship Type="http://schemas.openxmlformats.org/officeDocument/2006/relationships/slide" Target="/ppt/slides/slide1.xml" Id="R42e5063bacc34548" /><Relationship Type="http://schemas.openxmlformats.org/officeDocument/2006/relationships/slide" Target="/ppt/slides/slide2.xml" Id="Rfed4f09308e14897" /><Relationship Type="http://schemas.openxmlformats.org/officeDocument/2006/relationships/slide" Target="/ppt/slides/slide3.xml" Id="R8bd0f8e6208a43d5" /><Relationship Type="http://schemas.openxmlformats.org/officeDocument/2006/relationships/slide" Target="/ppt/slides/slide4.xml" Id="Rb38cd6a2bbc542d7" /><Relationship Type="http://schemas.openxmlformats.org/officeDocument/2006/relationships/slide" Target="/ppt/slides/slide5.xml" Id="Rb7e31174a27b4449" /><Relationship Type="http://schemas.openxmlformats.org/officeDocument/2006/relationships/slide" Target="/ppt/slides/slide6.xml" Id="R0f7831b640774787" /><Relationship Type="http://schemas.openxmlformats.org/officeDocument/2006/relationships/slide" Target="/ppt/slides/slide7.xml" Id="R82d5121cc59d4de8" /><Relationship Type="http://schemas.openxmlformats.org/officeDocument/2006/relationships/slide" Target="/ppt/slides/slide8.xml" Id="Ra900b11e74494500" /><Relationship Type="http://schemas.openxmlformats.org/officeDocument/2006/relationships/slide" Target="/ppt/slides/slide9.xml" Id="R6f53c21a36614ea1" /><Relationship Type="http://schemas.openxmlformats.org/officeDocument/2006/relationships/slide" Target="/ppt/slides/slide10.xml" Id="Rc776b508a1cc413f" /><Relationship Type="http://schemas.openxmlformats.org/officeDocument/2006/relationships/slide" Target="/ppt/slides/slide11.xml" Id="Rdcb3ea88d15d426a" /><Relationship Type="http://schemas.openxmlformats.org/officeDocument/2006/relationships/slide" Target="/ppt/slides/slide12.xml" Id="R2387eabaf78846cf" /><Relationship Type="http://schemas.openxmlformats.org/officeDocument/2006/relationships/slide" Target="/ppt/slides/slide13.xml" Id="R4267ec6b7ad04dc7" /><Relationship Type="http://schemas.openxmlformats.org/officeDocument/2006/relationships/slide" Target="/ppt/slides/slide14.xml" Id="R00c4bfd1a5994e1a" /><Relationship Type="http://schemas.openxmlformats.org/officeDocument/2006/relationships/slide" Target="/ppt/slides/slide15.xml" Id="R4b2480de633d4478" /><Relationship Type="http://schemas.openxmlformats.org/officeDocument/2006/relationships/slide" Target="/ppt/slides/slide16.xml" Id="R49d48751d0884536" /><Relationship Type="http://schemas.openxmlformats.org/officeDocument/2006/relationships/slide" Target="/ppt/slides/slide17.xml" Id="R3f96a304e19e4e54" /><Relationship Type="http://schemas.openxmlformats.org/officeDocument/2006/relationships/slide" Target="/ppt/slides/slide18.xml" Id="Rd251f6c924454999" /><Relationship Type="http://schemas.openxmlformats.org/officeDocument/2006/relationships/slide" Target="/ppt/slides/slide19.xml" Id="Rd7f8e4b42a1942d1" /><Relationship Type="http://schemas.openxmlformats.org/officeDocument/2006/relationships/slide" Target="/ppt/slides/slide20.xml" Id="R43e79d545967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48fb2da9945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b5602040641e2" /><Relationship Type="http://schemas.openxmlformats.org/officeDocument/2006/relationships/notesMaster" Target="/ppt/notesMasters/notesMaster1.xml" Id="R3c1ef8b8e8e340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7a0bb8f6b64bc8" /><Relationship Type="http://schemas.openxmlformats.org/officeDocument/2006/relationships/notesMaster" Target="/ppt/notesMasters/notesMaster1.xml" Id="R1c47819f87ac4d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725df14af46c6" /><Relationship Type="http://schemas.openxmlformats.org/officeDocument/2006/relationships/notesMaster" Target="/ppt/notesMasters/notesMaster1.xml" Id="Rdc1f8cf8ca4d42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ff569d95f84c9e" /><Relationship Type="http://schemas.openxmlformats.org/officeDocument/2006/relationships/notesMaster" Target="/ppt/notesMasters/notesMaster1.xml" Id="R830d8ad933cb4b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7715cad4714bf8" /><Relationship Type="http://schemas.openxmlformats.org/officeDocument/2006/relationships/notesMaster" Target="/ppt/notesMasters/notesMaster1.xml" Id="Rcec9bf59a10b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09596c522048e9" /><Relationship Type="http://schemas.openxmlformats.org/officeDocument/2006/relationships/notesMaster" Target="/ppt/notesMasters/notesMaster1.xml" Id="Rf167acfc7c0249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fd59160baf424d" /><Relationship Type="http://schemas.openxmlformats.org/officeDocument/2006/relationships/notesMaster" Target="/ppt/notesMasters/notesMaster1.xml" Id="R441a9e8f012049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a872cd674a42c2" /><Relationship Type="http://schemas.openxmlformats.org/officeDocument/2006/relationships/notesMaster" Target="/ppt/notesMasters/notesMaster1.xml" Id="R5f8ffb99198247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a74d8183b1452c" /><Relationship Type="http://schemas.openxmlformats.org/officeDocument/2006/relationships/notesMaster" Target="/ppt/notesMasters/notesMaster1.xml" Id="R5da7f833ae034d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f4063d0cd74d5d" /><Relationship Type="http://schemas.openxmlformats.org/officeDocument/2006/relationships/notesMaster" Target="/ppt/notesMasters/notesMaster1.xml" Id="Reba2f6894ad847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71a87f79924d58" /><Relationship Type="http://schemas.openxmlformats.org/officeDocument/2006/relationships/notesMaster" Target="/ppt/notesMasters/notesMaster1.xml" Id="Rc283ebe45f344d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bd24793d7b4f49" /><Relationship Type="http://schemas.openxmlformats.org/officeDocument/2006/relationships/notesMaster" Target="/ppt/notesMasters/notesMaster1.xml" Id="Re451d85772a345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9d36bcff2f4e28" /><Relationship Type="http://schemas.openxmlformats.org/officeDocument/2006/relationships/notesMaster" Target="/ppt/notesMasters/notesMaster1.xml" Id="Rabb69da804de4c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fe482d4aa248d3" /><Relationship Type="http://schemas.openxmlformats.org/officeDocument/2006/relationships/notesMaster" Target="/ppt/notesMasters/notesMaster1.xml" Id="R665a5644b12f47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1a65b879b3481a" /><Relationship Type="http://schemas.openxmlformats.org/officeDocument/2006/relationships/notesMaster" Target="/ppt/notesMasters/notesMaster1.xml" Id="Rd6956b41f8cc4d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728b529d5c4612" /><Relationship Type="http://schemas.openxmlformats.org/officeDocument/2006/relationships/notesMaster" Target="/ppt/notesMasters/notesMaster1.xml" Id="R2244fe1bfc554b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dc183e89cd4657" /><Relationship Type="http://schemas.openxmlformats.org/officeDocument/2006/relationships/notesMaster" Target="/ppt/notesMasters/notesMaster1.xml" Id="Rb3b8ac95c50c4d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025d4d7b67429e" /><Relationship Type="http://schemas.openxmlformats.org/officeDocument/2006/relationships/notesMaster" Target="/ppt/notesMasters/notesMaster1.xml" Id="R0541797f47cf4f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dec67d0eb14a1e" /><Relationship Type="http://schemas.openxmlformats.org/officeDocument/2006/relationships/notesMaster" Target="/ppt/notesMasters/notesMaster1.xml" Id="Rb98aacd1638549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1e655905734fcf" /><Relationship Type="http://schemas.openxmlformats.org/officeDocument/2006/relationships/notesMaster" Target="/ppt/notesMasters/notesMaster1.xml" Id="R6f93ac1a1056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2 мин. Представете темата и уточнете, че днес учениците ще създадат първата си база данни, но таблиците ще бъдат подробно разгледани в следващия урок.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3 мин. Прочетете целите. Попитайте учениците какво очакват да могат да направят в края на часа.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4 мин. Използвайте училищната библиотека като водещ пример. Нека учениците посочат рисковете при тетрадка или множество файлове.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4 мин. Акцентирайте, че базата не е просто файл или таблица — важни са структурата, връзките и правилата.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5 мин. Проверка: „Кое от трите е SSMS?“ Отговор: инструмент/клиент за работа със СУБД, а не самата база и не езикът.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4 мин. Изговорете йерархията отляво надясно. Дайте и обратен въпрос: „Къде се намира конкретното заглавие?“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5 мин. Посочете колона и ред. Попитайте: „Кое е поле?“ Приемете: пресечната клетка/стойност за конкретен атрибут на конкретен запис.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4 мин. Показвайте първо левите полета и изисквайте устен отговор, преди да разкриете дясната страна.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3 мин. Това е предварителен поглед към релационния модел. Не въвеждайте още видове връзки и ключове в дълбочина.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4 мин. Демонстрирайте разликата: ако затворим SSMS, SQL Server може да продължи да работи.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6 мин. Преминете към реалния SSMS. Ако няма инсталиран SQL Server, използвайте слайда като ориентационна карта и покажете предварително подготвени снимки от вашия компютър.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5 мин. Създайте базата на живо. Покажете Refresh върху Databases, ако новата база не се вижда веднага.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6 мин. Изпълнете кода. Обяснете, че GO е разделител на пакети, разпознаван от инструменти като SSMS, а не инструкция от самия T-SQL език.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3 мин. Това е концептуален преглед. Не навлизайте в recovery models и файлови групи на този етап.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7 мин. Свържете типовете с реални стойности. Подчертайте NVARCHAR за български текст и DECIMAL за точни стойности като цени.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5 мин. Скрийте мислено третата колона и поискайте предложения. Обсъдете защо телефонният номер обикновено е текст, а не число.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12 мин. Обикаляйте и проверявайте: правилна връзка, имена без интервали, успешно изпълнение на SQL. За по-бързите: нека предложат тип за SchoolEmail и IsActive.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4 мин. Използвайте този слайд при проблеми по време на самостоятелната работа или като обща проверка след нея.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5 мин. Изпълнете само върху нарочно създадената DeleteMeDb. Това упражнение подготвя темата за създаване и изтриване на БД, без риск за други бази.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Време: 5 мин. Учениците отговарят писмено или чрез кратка устна проверка. Очаквани кратки отговори: данни/софтуер; клиент за управление; CREATE DATABASE; NVARCHAR;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8113cdb194a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b82068167f454b" /><Relationship Type="http://schemas.openxmlformats.org/officeDocument/2006/relationships/slideLayout" Target="/ppt/slideLayouts/slideLayout1.xml" Id="R2421956ce9cf4d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1956ce9cf4d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971324a834989" /><Relationship Type="http://schemas.openxmlformats.org/officeDocument/2006/relationships/notesSlide" Target="/ppt/notesSlides/notesSlide1.xml" Id="R000bc3a050cb4f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e8eb88fdb4b54" /><Relationship Type="http://schemas.openxmlformats.org/officeDocument/2006/relationships/notesSlide" Target="/ppt/notesSlides/notesSlide2.xml" Id="Re253244a24994c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8ffd4243f416e" /><Relationship Type="http://schemas.openxmlformats.org/officeDocument/2006/relationships/notesSlide" Target="/ppt/notesSlides/notesSlide3.xml" Id="R4baa4019084940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014f1c05d4ac6" /><Relationship Type="http://schemas.openxmlformats.org/officeDocument/2006/relationships/notesSlide" Target="/ppt/notesSlides/notesSlide4.xml" Id="Rce665c6dfecd40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04d0521774af5" /><Relationship Type="http://schemas.openxmlformats.org/officeDocument/2006/relationships/notesSlide" Target="/ppt/notesSlides/notesSlide5.xml" Id="R709cd6e15fb7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ed345384944d5" /><Relationship Type="http://schemas.openxmlformats.org/officeDocument/2006/relationships/notesSlide" Target="/ppt/notesSlides/notesSlide6.xml" Id="R3746da57f07549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2f79856ee4ae2" /><Relationship Type="http://schemas.openxmlformats.org/officeDocument/2006/relationships/notesSlide" Target="/ppt/notesSlides/notesSlide7.xml" Id="Re8aa0b16b04447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fbe772d2e40f8" /><Relationship Type="http://schemas.openxmlformats.org/officeDocument/2006/relationships/notesSlide" Target="/ppt/notesSlides/notesSlide8.xml" Id="Re9d5e65221f54c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992f3b46a4875" /><Relationship Type="http://schemas.openxmlformats.org/officeDocument/2006/relationships/notesSlide" Target="/ppt/notesSlides/notesSlide9.xml" Id="Rac4dfa75467a41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eb67d35f84530" /><Relationship Type="http://schemas.openxmlformats.org/officeDocument/2006/relationships/notesSlide" Target="/ppt/notesSlides/notesSlide10.xml" Id="Rbce2513f80f24e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4ba325b74941" /><Relationship Type="http://schemas.openxmlformats.org/officeDocument/2006/relationships/notesSlide" Target="/ppt/notesSlides/notesSlide11.xml" Id="R6935b4088aaf44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fd402505498c" /><Relationship Type="http://schemas.openxmlformats.org/officeDocument/2006/relationships/notesSlide" Target="/ppt/notesSlides/notesSlide12.xml" Id="R36eae92d4c5d4d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87ca4e11f4167" /><Relationship Type="http://schemas.openxmlformats.org/officeDocument/2006/relationships/notesSlide" Target="/ppt/notesSlides/notesSlide13.xml" Id="R54da247741c14b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b58368dad4d5c" /><Relationship Type="http://schemas.openxmlformats.org/officeDocument/2006/relationships/notesSlide" Target="/ppt/notesSlides/notesSlide14.xml" Id="R43e08a1e0e3444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08ae53a9c4f54" /><Relationship Type="http://schemas.openxmlformats.org/officeDocument/2006/relationships/notesSlide" Target="/ppt/notesSlides/notesSlide15.xml" Id="Rd7b331b08b6d47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c2ca64af24d8d" /><Relationship Type="http://schemas.openxmlformats.org/officeDocument/2006/relationships/notesSlide" Target="/ppt/notesSlides/notesSlide16.xml" Id="Rb8529f8427be4e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2949718f84a34" /><Relationship Type="http://schemas.openxmlformats.org/officeDocument/2006/relationships/notesSlide" Target="/ppt/notesSlides/notesSlide17.xml" Id="R745836a5952a46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06197d02d4e3b" /><Relationship Type="http://schemas.openxmlformats.org/officeDocument/2006/relationships/notesSlide" Target="/ppt/notesSlides/notesSlide18.xml" Id="Rdadc7170f01249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8b0313fb6485e" /><Relationship Type="http://schemas.openxmlformats.org/officeDocument/2006/relationships/notesSlide" Target="/ppt/notesSlides/notesSlide19.xml" Id="R07ffa4c38be64a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373fc365c48cf" /><Relationship Type="http://schemas.openxmlformats.org/officeDocument/2006/relationships/notesSlide" Target="/ppt/notesSlides/notesSlide20.xml" Id="Re2da3bec90d34d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учебни часа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Въведение в базите данни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Структура • СУБД • Създаване на база • Типове данни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1907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190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1907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1907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F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1907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F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257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и маршрут на двата часа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333750" cy="1857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6200" cy="1857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 края на урока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8956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Различавам база данни, СУБД и SQL.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857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76200" cy="1857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38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Практическо умение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38375"/>
            <a:ext cx="28956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Създавам и изтривам тестова база в SSMS.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3333750" cy="1857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76200" cy="1857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Информиран избор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956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Подбирам подходящ тип данни за конкретна стойност.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I час • 45 мин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19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Понятия → структура → SQL Server и SSMS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II час • 45 мин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577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Демонстрация → самостоятелна задача → 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Когато данните са разпръснати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Тетрадка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705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Книги, ученици и заети екземпляри са записани на различни страници.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8859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 във файл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86000"/>
            <a:ext cx="2705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Няколко версии на файла; едни и същи данни се повтарят.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3143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 данни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2705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Едно организирано място, правила и бързо търсене.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Кой вариант позволява надежден отговор на въпроса: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„Кои книги са заети и от кого?“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ПОНЯТИЕ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е база данни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0210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 данни = организирана съвкупност от свързани данни, съхранявани така, че да могат лесно да се добавят, намират, променят и защитават.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86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ОРГАНИЗИРАНИ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ясна структура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86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29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СВЪРЗАНИ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логически отношения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86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УПРАВЛЯЕМИ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операции и правила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86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ЗАЩИТЕНИ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контрол на достъпа</a:t>
            </a:r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ОСНОВИ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 данни, СУБД и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 данни (БД)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705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Самите организирани данни: книги, читатели, заети книги.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240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СУБД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24100"/>
            <a:ext cx="2705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Софтуерът, който създава, пази и управлява базата — например Microsoft SQL Server.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240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705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Езикът, чрез който даваме команди на СУБД.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00550" y="3057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24200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3057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053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053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управление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053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команди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 база данни до отделна стойност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23812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717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ДАННИ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4800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90875" y="29813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33625"/>
            <a:ext cx="2095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04800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38825" y="29813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33625"/>
            <a:ext cx="2095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717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ЗАПИС / РЕД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480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една книга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4800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86775" y="29813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33625"/>
            <a:ext cx="23812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717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ПОЛЕ / СТОЙНОСТ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480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„Под игото“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Една база съдържа таблици; таблиците съдържат редове; всеки ред има стойности в колони.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Анатомия на таблица: Books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431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05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86025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384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86025"/>
            <a:ext cx="331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Под игото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86025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Иван Вазов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860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1894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90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38475"/>
            <a:ext cx="331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Немили-недраги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38475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Иван Вазов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384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1883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331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Бай Ганьо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43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Алеко Константинов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1895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7B50BC-506F-4455-99AC-83043B8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383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2C65D4-28D4-4B31-B539-0A96DD6C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5735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ECD028-8C5D-49BC-80DA-2163C7D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241DAE-9B9B-427B-AA19-636DA900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38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42700B-53CD-4F90-99A8-ADAE11CA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576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РЕД / ЗАПИС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76DB4B-1454-4E34-A316-DFB19BB9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Колоната описва свойство • редът описва един обект</a:t>
            </a:r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Термините в един пример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38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430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„Books“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1914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000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430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38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„Author“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86075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2819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колона / атрибут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38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всички данни за книга №2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3724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000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528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ред / запис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438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„1883“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95825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46291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000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стойност в поле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Бърз въпрос: един ученик може ли да бъде представен с един ред?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РЕЛАЦИОНЕН МОДЕЛ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Данните се разделят в свързани таблици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857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2419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StudentId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FirstName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LastName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57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764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2419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LoanId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StudentId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BookId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LoanDate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857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Books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419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BookId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Title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Author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Year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33900" y="2933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914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43900" y="2933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6"/>
          </a:solidFill>
          <a:ln xmlns:a="http://schemas.openxmlformats.org/drawingml/2006/main" w="9525">
            <a:solidFill>
              <a:srgbClr val="5D71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Вместо да повтаряме всички данни, съхраняваме връзки чрез идентификатори.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38800"/>
            <a:ext cx="2933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6578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Подробно: теми 10–15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ИНСТРУМЕНТИ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SQL Server и SSMS имат различни роли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095750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СУБД / услуга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Съхранява базите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Изпълнява SQL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Управлява достъпа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4095750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SSMS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клиентски инструмент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Свързва се със сървъра</a:t>
            </a:r>
          </a:p>
          <a:p xmlns:a="http://schemas.openxmlformats.org/drawingml/2006/main">
            <a:pPr algn="ctr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Показва обектите</a:t>
            </a:r>
          </a:p>
          <a:p xmlns:a="http://schemas.openxmlformats.org/drawingml/2006/main">
            <a:pPr algn="ctr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Изпраща команди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571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2750" y="3076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връзка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Ориентация в SQL Server Management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Object Explorer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2438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Сървъри, Databases, Security и други обекти.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62125"/>
            <a:ext cx="7696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33575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526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Query 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7277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Мястото, в което пишем и изпълняваме SQL команди.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7696200" cy="2638425"/>
          </a:xfrm>
          <a:prstGeom xmlns:a="http://schemas.openxmlformats.org/drawingml/2006/main" prst="roundRect">
            <a:avLst>
              <a:gd name="adj" fmla="val 57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Results / Messages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24250"/>
            <a:ext cx="72771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Резултатът от заявката или съобщение за успех/грешка.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626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Демонстрирайте на живо: Connect → Databases → New Query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Създаване на база чрез графичния интерфейс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238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Databases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57450" y="2590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86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00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десен бутон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57475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91075" y="2590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Database…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57475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24700" y="2590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86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00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име: SchoolLab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57475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58325" y="2590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38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8763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F6D5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624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Правило за имена: латиница, без интервали; използвайте PascalCase или долна черта.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7687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SchoolLab   ✓      School Lab   ✕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Същото действие чрез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647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90725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97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6057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DATABASE SchoolLab;</a:t>
            </a:r>
          </a:p>
          <a:p xmlns:a="http://schemas.openxmlformats.org/drawingml/2006/main">
            <a:pPr algn="l"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57375"/>
            <a:ext cx="37147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5737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2882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означава?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28875"/>
            <a:ext cx="3276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CREATE DATABASE — команда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SchoolLab — име на базата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; — край на инструкцията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GO — изпращане на пакет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71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Изпълнение в SSMS: New Query → напишете кода → Execute (или F5)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1014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Очакван резултат: “Command(s) completed successfully.”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ПОД ПОВЪРХНОСТТА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създава SQL 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381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3812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5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2857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file (.mdf)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2419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Основни данни и обекти на базата.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2857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Log file (.ldf)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419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Дневник на промените и основа за възстановяване.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2790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4171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Не редактираме тези файлове ръчно — управлява ги SQL Server.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ТИПОВЕ ДАННИ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Типът определя каква стойност може да се съхрани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цели числа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17,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66875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668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38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DECIMAL(p,s)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38375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точни дробни числа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19.99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38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NVARCHAR(n)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текст, включително кирилица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„Разград“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календарна дата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2026-09-16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да / не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1 или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DATETIME2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дата и час</a:t>
            </a:r>
          </a:p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2026-09-16 09:30</a:t>
            </a:r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ИЗБОР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Кой тип е най-подходящ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52600"/>
            <a:ext cx="335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314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52600"/>
            <a:ext cx="3067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52600"/>
            <a:ext cx="3733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Подходящ тип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050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Възраст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3837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050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050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4797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146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Име на ученик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4797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146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„Елена“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479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146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NVARCHAR(50)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5757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242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Дата на раждане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5757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242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2009-04-12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575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242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6717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338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Среден успех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6717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338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5.72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671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338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DECIMAL(3,2)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7677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7434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Активен профил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7677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434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 / не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767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434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BIT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Принцип: избирайте най-точния тип, който описва данните.</a:t>
            </a:r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САМОСТОЯТЕЛНА РАБОТА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Практическа задача 1: MyFirstDatabase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532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143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минути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525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Свържете се към локалния SQL Server.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955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Създайте база MyFirstDatabase чрез интерфейса.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384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Създайте втора база PracticeDb чрез SQL команда.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814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Обновете списъка Databases и намерете двете бази.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43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24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Запишете 5 полета за бъдеща таблица Students и предложете тип за всяко.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81625"/>
            <a:ext cx="9334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9525">
            <a:solidFill>
              <a:srgbClr val="B7E9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7687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Работете внимателно: не изтривайте чужди бази на общия сървър.</a:t>
            </a:r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Чести затруднения и бързи решения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2673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002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05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Не мога да се свържа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името на сървъра и дали услугата SQL Server работи.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52673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05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Базата не се вижда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Десен бутон върху Databases → Refresh.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673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005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Името съдържа интервал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Използвайте SchoolLab или School_Lab.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52673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43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905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Грешка при CREATE DATABASE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243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правописа, избрания прозорец и Messages.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МИНИ ПРЕДИЗВИКАТЕЛСТВО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Създайте и премахнете само тестова база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905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145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54864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DATABASE DeleteMeDb;</a:t>
            </a:r>
          </a:p>
          <a:p xmlns:a="http://schemas.openxmlformats.org/drawingml/2006/main">
            <a:pPr algn="l"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DROP DATABASE DeleteMeDb;</a:t>
            </a:r>
          </a:p>
          <a:p xmlns:a="http://schemas.openxmlformats.org/drawingml/2006/main">
            <a:pPr algn="l"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62125"/>
            <a:ext cx="43624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621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33575"/>
            <a:ext cx="3924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DROP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33625"/>
            <a:ext cx="3924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Уверете се, че името е точно и базата не съдържа важни данни.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43624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48075"/>
            <a:ext cx="3924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След изпълнение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48125"/>
            <a:ext cx="3924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Refresh и проверка, че DeleteMeDb вече не присъства.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91125"/>
            <a:ext cx="43624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5BA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3981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DROP изтрива цялата база!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Изходен билет: 5 въпроса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716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Каква е разликата между БД и СУБД?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028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Каква е ролята на SSMS?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28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Каква команда създава база?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028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290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Кой тип е подходящ за текст на кирилица?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028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Кой тип бихте избрали за дата на раждане?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0287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Следващ урок: CREATE TABLE • колони • вмъкване на първи записи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2026-09-16T20:56:54.5540000Z</dcterms:created>
  <dcterms:modified xsi:type="dcterms:W3CDTF">2026-09-16T20:56:54.5550000Z</dcterms:modified>
</coreProperties>
</file>