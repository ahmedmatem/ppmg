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Представете общия резултат: таблица, данни и готов SQL скрипт.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Подчертайте, че всеки пример се изпълнява в Query Editor и се проверява чрез Results или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1–2 мин. Използвайте казуса SchoolLibraryPractice през целия урок.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1–2 мин. Свържете колоната с атрибут, а реда с конкретен обект.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1–2 мин. Покажете общата форма: ColumnName DataType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1–2 мин. Обяснете зависимостта между стъпките. Таблица не може да се създаде в несъществуваща база.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записват първите три колони. Останалите ще се добавят в пълната команда.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1–2 мин. Припомнете типовете от теорията и поискайте аргумент за всеки избор.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Ограниченията действат като правила при запис и промяна на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IDENTITY генерира стойности, а PRIMARY KEY гарантира идентичността и уникалността.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Покажете на живо падащото меню за база, Execute, Results и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Изпълнете CREATE DATABASE и USE в отделни пакети. После обновете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Напишете или поставете командата в Query Editor. Разчетете всеки ред преди Execute. Източник: https://learn.microsoft.com/en-us/sql/t-sql/statements/create-table-transact-sql?view=sql-server-ver17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Покажете схемата dbo и правилото за запетаите между дефинициите.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Постройте INSERT от четири части. Обяснете Unicode литералите и автоматичните стойности. Източник: https://learn.microsoft.com/en-us/sql/t-sql/statements/insert-transact-sql?view=sql-server-ver17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След INSERT изпълнете SELECT и сравнете подадените със създадените автоматично стойности.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8 мин. Учениците изпълняват задачата самостоятелно. Помагайте първо чрез прочит на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Покажете по една реална грешка, ако времето позволява. Не коригирайте веднага, а прочетете съобщението с класа.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Изпълнете многостойностния INSERT. Проверете резултата със SELECT. Източник: https://learn.microsoft.com/en-us/sql/t-sql/statements/insert-transact-sql?view=sql-server-ver17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1–2 мин. Кратка устна проверка и преход към втория 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Обявете втория фокус: скрипт, който може да се прочете, запази и изпълни отново.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Представете целите на втория учебен 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Дайте по един пример. Уточнете, че SELECT често се отделя като DQL в учебната класификация.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Покажете как SSMS изпраща пакета преди GO. GO се разпознава от клиентските инструменти, а не от двигателя като T-SQL инструкция. Източник: https://learn.microsoft.com/en-us/sql/t-sql/language-elements/sql-server-utilities-statements-go?view=sql-server-ver17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Покажете подреден скрипт и обяснете защо зависимите команди следват логичен ред.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6 мин. Демонстрация в SSMS: база → Tasks → Generate Scripts → Choose Objects → Set Scripting Options. Източник: https://learn.microsoft.com/en-us/ssms/scripting/generate-and-publish-scripts-wizard?view=sql-server-ver17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Генерирайте първо в New Query Window, за да може класът да прочете скрипта. Източник: https://learn.microsoft.com/en-us/ssms/scripting/generate-and-publish-scripts-wizard?view=sql-server-ver17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В Advanced покажете Types of data to script. Сравнете Schema only и Schema and data. Източник: https://learn.microsoft.com/en-us/ssms/scripting/generate-and-publish-scripts-wizard?view=sql-server-ver17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Изпълнете SELECT. После демонстрирайте UPDATE или DELETE само върху учебен запис и задължително с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8 мин. Учениците разчитат скрипта по пакети, изпълняват го в учебната база и проверяват Messages и Results. Източници: https://learn.microsoft.com/en-us/sql/t-sql/statements/create-table-transact-sql?view=sql-server-ver17 и https://learn.microsoft.com/en-us/sql/t-sql/language-elements/sql-server-utilities-statements-go?view=sql-server-ver17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Свържете всяка грешка с конкретна превантивна проверка преди 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Изходен билет. Завършете с очаквания краен резултат от двата часа.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учебни часа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1790"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Създаване на таблици и SQL скриптове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CREATE TABLE, INSERT, основни SQL команди и Generate Scripts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Цели и маршрут на двата часа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Първи час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Създавам таблица с подходящи колони и ограничения.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Работа с данни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Добавям записи чрез INSERT и проверявам резултата.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Втори час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Разчитам, генерирам и изпълнявам SQL скрипт.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I час • 45 мин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 TABLE, INSERT и проверка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II час • 45 мин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Основни команди, GO и Generate Scripts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811A9C-661E-4697-A8C2-FB2E2AEE6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67EA5-D795-4AA0-8EA6-A25953292E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КАЗУС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BA58-BED8-4D7A-BBC5-28BD66010D0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 Books за училищна библиотека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592DEB-CB5E-4677-8172-3D46A068AB1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A5313-1CBD-4C88-96AC-89C8BB66D0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57D48-EB74-4F90-9F35-1C4168FE49EB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D010A-5688-41ED-ACB9-825983F5146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851E26-7B67-4F37-89E7-B77727CA85C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AB12E-42D0-4361-916D-E3347F393CFD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10E97-C927-452A-8226-6CEA395C03BC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Определяме кои характеристики на книгата ще се съхраняват.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46C55A-D8C9-4979-9AB6-D30348C9E5AC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8B6B0A-0CFA-44EA-8E3E-29149EDBCD79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3CB7A-900E-4ECC-B292-0F6915A59484}"/>
              </a:ext>
            </a:extLst>
          </p:cNvPr>
          <p:cNvSpPr>
            <a:spLocks noGrp="1"/>
          </p:cNvSpPr>
          <p:nvPr/>
        </p:nvSpPr>
        <p:spPr>
          <a:xfrm>
            <a:off x="4772025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Коректни данни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408F4-0EA5-498F-89CF-269F5852202C}"/>
              </a:ext>
            </a:extLst>
          </p:cNvPr>
          <p:cNvSpPr>
            <a:spLocks noGrp="1"/>
          </p:cNvSpPr>
          <p:nvPr/>
        </p:nvSpPr>
        <p:spPr>
          <a:xfrm>
            <a:off x="4772025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Типовете и ограниченията спират част от невалидните стойности.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B0ED35-4EE4-442C-B7FB-71C4D9E4DD92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68D584-28D1-4137-B89D-37BE35D50763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1BFE0E-3348-4D69-BEC9-EAC5750740A6}"/>
              </a:ext>
            </a:extLst>
          </p:cNvPr>
          <p:cNvSpPr>
            <a:spLocks noGrp="1"/>
          </p:cNvSpPr>
          <p:nvPr/>
        </p:nvSpPr>
        <p:spPr>
          <a:xfrm>
            <a:off x="861060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Повторяемост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849E2-40D5-49D0-B37F-1640B3BE89A5}"/>
              </a:ext>
            </a:extLst>
          </p:cNvPr>
          <p:cNvSpPr>
            <a:spLocks noGrp="1"/>
          </p:cNvSpPr>
          <p:nvPr/>
        </p:nvSpPr>
        <p:spPr>
          <a:xfrm>
            <a:off x="861060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SQL скриптът позволява същата структура да се създаде отново.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866CD-CDB0-438A-A53A-781E6867653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Задача за двата часа: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06C4D-F58A-41E0-85CF-1923DA28091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1066"/>
          </a:bodyPr>
          <a:lstStyle/>
          <a:p>
            <a:pPr algn="l">
              <a:buNone/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създаване, попълване и скриптиране на таблица Books</a:t>
            </a:r>
          </a:p>
        </p:txBody>
      </p:sp>
    </p:spTree>
    <p:extLst>
      <p:ext uri="{BB962C8B-B14F-4D97-AF65-F5344CB8AC3E}">
        <p14:creationId xmlns:p14="http://schemas.microsoft.com/office/powerpoint/2010/main" val="208910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D90245-0955-47D6-A5A0-AC1557B6FE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18A7E-7AA5-4C7A-9FE5-A24748D2AE2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ПОНЯТИЕ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A46E5-C8E5-471A-AB6A-BE5CC3AE20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Таблицата организира еднотипни обекти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00D0E3-033C-4CB5-81AC-65FECCE616C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5B32A-D5EC-4E47-A43B-1EF4AE5346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422D8-2995-4E10-BB4D-E8D775733E1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A27324-9218-40DE-B2DC-5D78FD99253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820400" cy="1200150"/>
          </a:xfrm>
          <a:prstGeom prst="roundRect">
            <a:avLst>
              <a:gd name="adj" fmla="val 15873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4B20F-2AEC-41B2-9527-1253B1CBADFE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2108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Таблицата съдържа колони и редове. Колоните описват свойства, а всеки ред представя един конкретен обект.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5C23A-8293-495A-9BAA-111F60B20E26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781050" cy="7810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D973C-7B23-4D13-803D-854397A78991}"/>
              </a:ext>
            </a:extLst>
          </p:cNvPr>
          <p:cNvSpPr>
            <a:spLocks noGrp="1"/>
          </p:cNvSpPr>
          <p:nvPr/>
        </p:nvSpPr>
        <p:spPr>
          <a:xfrm>
            <a:off x="16859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FF4380-1E42-402D-A8AB-3066949EA539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C316F-7513-44D3-83B7-E38CC633DE8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свойство на обекта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BA022-5A01-4A6F-B2A4-01A6CE680BB2}"/>
              </a:ext>
            </a:extLst>
          </p:cNvPr>
          <p:cNvSpPr>
            <a:spLocks noGrp="1"/>
          </p:cNvSpPr>
          <p:nvPr/>
        </p:nvSpPr>
        <p:spPr>
          <a:xfrm>
            <a:off x="4248150" y="3524250"/>
            <a:ext cx="781050" cy="7810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D6930-DAF2-41F5-8961-1D00DD775133}"/>
              </a:ext>
            </a:extLst>
          </p:cNvPr>
          <p:cNvSpPr>
            <a:spLocks noGrp="1"/>
          </p:cNvSpPr>
          <p:nvPr/>
        </p:nvSpPr>
        <p:spPr>
          <a:xfrm>
            <a:off x="44100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DF6F5-E22F-4435-B070-98601F875D3A}"/>
              </a:ext>
            </a:extLst>
          </p:cNvPr>
          <p:cNvSpPr>
            <a:spLocks noGrp="1"/>
          </p:cNvSpPr>
          <p:nvPr/>
        </p:nvSpPr>
        <p:spPr>
          <a:xfrm>
            <a:off x="34099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 ДАННИ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2396F-CF1A-46E2-A539-05303D0A0A1E}"/>
              </a:ext>
            </a:extLst>
          </p:cNvPr>
          <p:cNvSpPr>
            <a:spLocks noGrp="1"/>
          </p:cNvSpPr>
          <p:nvPr/>
        </p:nvSpPr>
        <p:spPr>
          <a:xfrm>
            <a:off x="34099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допустими стойности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7E72-1764-449C-B530-5F3F324BBDB0}"/>
              </a:ext>
            </a:extLst>
          </p:cNvPr>
          <p:cNvSpPr>
            <a:spLocks noGrp="1"/>
          </p:cNvSpPr>
          <p:nvPr/>
        </p:nvSpPr>
        <p:spPr>
          <a:xfrm>
            <a:off x="6972300" y="3524250"/>
            <a:ext cx="781050" cy="7810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DB9A4-0285-4BE1-A1E9-00FDA4448D98}"/>
              </a:ext>
            </a:extLst>
          </p:cNvPr>
          <p:cNvSpPr>
            <a:spLocks noGrp="1"/>
          </p:cNvSpPr>
          <p:nvPr/>
        </p:nvSpPr>
        <p:spPr>
          <a:xfrm>
            <a:off x="71342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5A84F-84A1-40D8-B962-CF577D1856E6}"/>
              </a:ext>
            </a:extLst>
          </p:cNvPr>
          <p:cNvSpPr>
            <a:spLocks noGrp="1"/>
          </p:cNvSpPr>
          <p:nvPr/>
        </p:nvSpPr>
        <p:spPr>
          <a:xfrm>
            <a:off x="61341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5AFDA-D012-4F24-80BF-8983266E4842}"/>
              </a:ext>
            </a:extLst>
          </p:cNvPr>
          <p:cNvSpPr>
            <a:spLocks noGrp="1"/>
          </p:cNvSpPr>
          <p:nvPr/>
        </p:nvSpPr>
        <p:spPr>
          <a:xfrm>
            <a:off x="61341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правило за валидност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4EC101-D996-452B-8C87-57E6A3FF1C9C}"/>
              </a:ext>
            </a:extLst>
          </p:cNvPr>
          <p:cNvSpPr>
            <a:spLocks noGrp="1"/>
          </p:cNvSpPr>
          <p:nvPr/>
        </p:nvSpPr>
        <p:spPr>
          <a:xfrm>
            <a:off x="9696450" y="3524250"/>
            <a:ext cx="781050" cy="7810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176A9-B409-422D-BF03-4A5B857F835F}"/>
              </a:ext>
            </a:extLst>
          </p:cNvPr>
          <p:cNvSpPr>
            <a:spLocks noGrp="1"/>
          </p:cNvSpPr>
          <p:nvPr/>
        </p:nvSpPr>
        <p:spPr>
          <a:xfrm>
            <a:off x="98583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04438-24B6-4A4D-BA0C-80B56CD64692}"/>
              </a:ext>
            </a:extLst>
          </p:cNvPr>
          <p:cNvSpPr>
            <a:spLocks noGrp="1"/>
          </p:cNvSpPr>
          <p:nvPr/>
        </p:nvSpPr>
        <p:spPr>
          <a:xfrm>
            <a:off x="88582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РЕД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215041-17B7-4BF2-8E26-625C24F59B91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един запис</a:t>
            </a:r>
          </a:p>
        </p:txBody>
      </p:sp>
    </p:spTree>
    <p:extLst>
      <p:ext uri="{BB962C8B-B14F-4D97-AF65-F5344CB8AC3E}">
        <p14:creationId xmlns:p14="http://schemas.microsoft.com/office/powerpoint/2010/main" val="33957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Определение на колона в SQL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Име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Кратко и смислено име: Title, Price, PublishedYear.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 данни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Определя допустимите стойности и начина на съхранение.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Правила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NULL или NOT NULL, DEFAULT, CHECK, PRIMARY KEY.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4122"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идентифицира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описва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ограничава</a:t>
            </a:r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E0E543-EEC2-49B6-9187-E5924A4FF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DEE03-04D1-4CC6-82EF-0C7E60A7B2D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ПОСЛЕДОВАТЕЛНОСТ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4EA61-B51A-4B22-84D7-694D8CB4A8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 база данни до първи запис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31186E0-346C-4944-B0B4-4399D4BFA3B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ED218-29C1-4608-8917-7306498D6F1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26F0A-D403-40C8-8D06-89E2FEBF3C6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D7108F-3AEF-48DB-B326-D9C97F5A0EB1}"/>
              </a:ext>
            </a:extLst>
          </p:cNvPr>
          <p:cNvSpPr>
            <a:spLocks noGrp="1"/>
          </p:cNvSpPr>
          <p:nvPr/>
        </p:nvSpPr>
        <p:spPr>
          <a:xfrm>
            <a:off x="4286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738E2-0C4F-4C87-B96D-F09DC7095016}"/>
              </a:ext>
            </a:extLst>
          </p:cNvPr>
          <p:cNvSpPr>
            <a:spLocks noGrp="1"/>
          </p:cNvSpPr>
          <p:nvPr/>
        </p:nvSpPr>
        <p:spPr>
          <a:xfrm>
            <a:off x="5429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ДАННИ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9C4C-2AD9-42F9-A2E6-0083D21F4D65}"/>
              </a:ext>
            </a:extLst>
          </p:cNvPr>
          <p:cNvSpPr>
            <a:spLocks noGrp="1"/>
          </p:cNvSpPr>
          <p:nvPr/>
        </p:nvSpPr>
        <p:spPr>
          <a:xfrm>
            <a:off x="5429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9333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SchoolLibraryPractice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C9C975-D39C-45AE-83A5-F1CE1CA80901}"/>
              </a:ext>
            </a:extLst>
          </p:cNvPr>
          <p:cNvSpPr>
            <a:spLocks noGrp="1"/>
          </p:cNvSpPr>
          <p:nvPr/>
        </p:nvSpPr>
        <p:spPr>
          <a:xfrm>
            <a:off x="28860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4FBED07-6F40-4B28-97AB-526C9A72F52A}"/>
              </a:ext>
            </a:extLst>
          </p:cNvPr>
          <p:cNvSpPr>
            <a:spLocks noGrp="1"/>
          </p:cNvSpPr>
          <p:nvPr/>
        </p:nvSpPr>
        <p:spPr>
          <a:xfrm rot="5400000">
            <a:off x="31908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BA2868-195E-4724-827B-9DBBAA2624A2}"/>
              </a:ext>
            </a:extLst>
          </p:cNvPr>
          <p:cNvSpPr>
            <a:spLocks noGrp="1"/>
          </p:cNvSpPr>
          <p:nvPr/>
        </p:nvSpPr>
        <p:spPr>
          <a:xfrm>
            <a:off x="336232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9655C-BBD7-410F-AD84-267A416D68CD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72160-D9A5-49D2-B429-14FD00B11A3C}"/>
              </a:ext>
            </a:extLst>
          </p:cNvPr>
          <p:cNvSpPr>
            <a:spLocks noGrp="1"/>
          </p:cNvSpPr>
          <p:nvPr/>
        </p:nvSpPr>
        <p:spPr>
          <a:xfrm>
            <a:off x="347662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database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911435D-EFBE-495C-A4C1-6FF7059F4100}"/>
              </a:ext>
            </a:extLst>
          </p:cNvPr>
          <p:cNvSpPr>
            <a:spLocks noGrp="1"/>
          </p:cNvSpPr>
          <p:nvPr/>
        </p:nvSpPr>
        <p:spPr>
          <a:xfrm>
            <a:off x="553402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DE49E20-B286-43AF-8D08-9F43845AEFAC}"/>
              </a:ext>
            </a:extLst>
          </p:cNvPr>
          <p:cNvSpPr>
            <a:spLocks noGrp="1"/>
          </p:cNvSpPr>
          <p:nvPr/>
        </p:nvSpPr>
        <p:spPr>
          <a:xfrm rot="5400000">
            <a:off x="583882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3F8F2B-3F52-45D9-803B-6F38E62BA0F5}"/>
              </a:ext>
            </a:extLst>
          </p:cNvPr>
          <p:cNvSpPr>
            <a:spLocks noGrp="1"/>
          </p:cNvSpPr>
          <p:nvPr/>
        </p:nvSpPr>
        <p:spPr>
          <a:xfrm>
            <a:off x="601027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B2A6A-3BB4-4890-BA1E-8EC154A231F7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95FEE-79BE-47E8-9D3F-29E4410435CA}"/>
              </a:ext>
            </a:extLst>
          </p:cNvPr>
          <p:cNvSpPr>
            <a:spLocks noGrp="1"/>
          </p:cNvSpPr>
          <p:nvPr/>
        </p:nvSpPr>
        <p:spPr>
          <a:xfrm>
            <a:off x="612457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TABLE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4233C7A-E42F-4952-A52D-BA4DF5F6FCA5}"/>
              </a:ext>
            </a:extLst>
          </p:cNvPr>
          <p:cNvSpPr>
            <a:spLocks noGrp="1"/>
          </p:cNvSpPr>
          <p:nvPr/>
        </p:nvSpPr>
        <p:spPr>
          <a:xfrm>
            <a:off x="81819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39F134-BB8A-463A-AD9F-2E85522454F0}"/>
              </a:ext>
            </a:extLst>
          </p:cNvPr>
          <p:cNvSpPr>
            <a:spLocks noGrp="1"/>
          </p:cNvSpPr>
          <p:nvPr/>
        </p:nvSpPr>
        <p:spPr>
          <a:xfrm rot="5400000">
            <a:off x="84867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5DED61-9B19-4215-A9D5-198134054338}"/>
              </a:ext>
            </a:extLst>
          </p:cNvPr>
          <p:cNvSpPr>
            <a:spLocks noGrp="1"/>
          </p:cNvSpPr>
          <p:nvPr/>
        </p:nvSpPr>
        <p:spPr>
          <a:xfrm>
            <a:off x="86582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F4ADB-1200-4EE9-BAF4-F203EA7BBC00}"/>
              </a:ext>
            </a:extLst>
          </p:cNvPr>
          <p:cNvSpPr>
            <a:spLocks noGrp="1"/>
          </p:cNvSpPr>
          <p:nvPr/>
        </p:nvSpPr>
        <p:spPr>
          <a:xfrm>
            <a:off x="87725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ЗАПИСИ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739B05-F425-46D9-BC3B-BA680A53F1A6}"/>
              </a:ext>
            </a:extLst>
          </p:cNvPr>
          <p:cNvSpPr>
            <a:spLocks noGrp="1"/>
          </p:cNvSpPr>
          <p:nvPr/>
        </p:nvSpPr>
        <p:spPr>
          <a:xfrm>
            <a:off x="87725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INSERT INTO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96BF78-30E0-4D47-9005-11A049180E0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Изпълняваме стъпките последователно и проверяваме резултата след всяка важна команда.</a:t>
            </a:r>
          </a:p>
        </p:txBody>
      </p:sp>
    </p:spTree>
    <p:extLst>
      <p:ext uri="{BB962C8B-B14F-4D97-AF65-F5344CB8AC3E}">
        <p14:creationId xmlns:p14="http://schemas.microsoft.com/office/powerpoint/2010/main" val="2894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C17A8A9-E0F2-4239-9767-544883F54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E5FCE-5E46-4F79-BF96-6638B14BDE8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98536-E28F-4524-B0A4-30AB0DD830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Начална структура на Books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D381E4A-55AD-4695-ABFC-65EF6A2F7DC5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F5D94-2FC1-4D02-87CA-A0A61E4914E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4956D-4140-456E-885F-9DB698C75D5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4CF3-AFDA-4EF2-A12A-77425F0C6270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1143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C5859-FBCA-40DE-9BAF-8EEDF2B45028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1066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A1C0-41FB-493C-BC74-2E1456F58311}"/>
              </a:ext>
            </a:extLst>
          </p:cNvPr>
          <p:cNvSpPr>
            <a:spLocks noGrp="1"/>
          </p:cNvSpPr>
          <p:nvPr/>
        </p:nvSpPr>
        <p:spPr>
          <a:xfrm>
            <a:off x="2286000" y="1905000"/>
            <a:ext cx="3429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B225A-6476-41B0-9756-A6910A740F08}"/>
              </a:ext>
            </a:extLst>
          </p:cNvPr>
          <p:cNvSpPr>
            <a:spLocks noGrp="1"/>
          </p:cNvSpPr>
          <p:nvPr/>
        </p:nvSpPr>
        <p:spPr>
          <a:xfrm>
            <a:off x="2324100" y="1943100"/>
            <a:ext cx="3352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Тип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4E12F-31FA-470A-BD9B-AF9A24D63F5D}"/>
              </a:ext>
            </a:extLst>
          </p:cNvPr>
          <p:cNvSpPr>
            <a:spLocks noGrp="1"/>
          </p:cNvSpPr>
          <p:nvPr/>
        </p:nvSpPr>
        <p:spPr>
          <a:xfrm>
            <a:off x="5715000" y="1905000"/>
            <a:ext cx="238125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085C4-F433-41B3-B58A-0B5C8A8BB6BA}"/>
              </a:ext>
            </a:extLst>
          </p:cNvPr>
          <p:cNvSpPr>
            <a:spLocks noGrp="1"/>
          </p:cNvSpPr>
          <p:nvPr/>
        </p:nvSpPr>
        <p:spPr>
          <a:xfrm>
            <a:off x="5753100" y="1943100"/>
            <a:ext cx="23050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99A8D-7E4C-4814-9E63-B0EA238C7D77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180975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2640A-370B-4194-A7C2-98CC41E46738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9687"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Предназначение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EFE202-38B2-4F61-9EDF-3B361DDBF9FA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08404-523E-4C34-B386-C98A3C38E67C}"/>
              </a:ext>
            </a:extLst>
          </p:cNvPr>
          <p:cNvSpPr>
            <a:spLocks noGrp="1"/>
          </p:cNvSpPr>
          <p:nvPr/>
        </p:nvSpPr>
        <p:spPr>
          <a:xfrm>
            <a:off x="1200150" y="24860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BookId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99144-FC53-4DC5-8ED4-1167B411F6D6}"/>
              </a:ext>
            </a:extLst>
          </p:cNvPr>
          <p:cNvSpPr>
            <a:spLocks noGrp="1"/>
          </p:cNvSpPr>
          <p:nvPr/>
        </p:nvSpPr>
        <p:spPr>
          <a:xfrm>
            <a:off x="2286000" y="24384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E34BF-7A85-4A61-91EC-4B53E7E3151F}"/>
              </a:ext>
            </a:extLst>
          </p:cNvPr>
          <p:cNvSpPr>
            <a:spLocks noGrp="1"/>
          </p:cNvSpPr>
          <p:nvPr/>
        </p:nvSpPr>
        <p:spPr>
          <a:xfrm>
            <a:off x="2343150" y="24860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16EAA-B11B-4F36-9E45-0E77B6EF206A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367EF-B430-449D-B410-4C3A559D9F95}"/>
              </a:ext>
            </a:extLst>
          </p:cNvPr>
          <p:cNvSpPr>
            <a:spLocks noGrp="1"/>
          </p:cNvSpPr>
          <p:nvPr/>
        </p:nvSpPr>
        <p:spPr>
          <a:xfrm>
            <a:off x="5772150" y="24860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PRIMARY KEY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7A96E-5AC7-464A-AE86-C5878AA5E282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4D38D3-5BCB-4053-AEC5-6C7EB7BC3540}"/>
              </a:ext>
            </a:extLst>
          </p:cNvPr>
          <p:cNvSpPr>
            <a:spLocks noGrp="1"/>
          </p:cNvSpPr>
          <p:nvPr/>
        </p:nvSpPr>
        <p:spPr>
          <a:xfrm>
            <a:off x="8153400" y="24860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идентификатор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7AF2F7-C546-4EEC-9059-8F07AF8F662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1143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DA5D5-54C4-493B-89AC-21A95898D070}"/>
              </a:ext>
            </a:extLst>
          </p:cNvPr>
          <p:cNvSpPr>
            <a:spLocks noGrp="1"/>
          </p:cNvSpPr>
          <p:nvPr/>
        </p:nvSpPr>
        <p:spPr>
          <a:xfrm>
            <a:off x="1200150" y="303847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DCFA1-A699-4D21-9265-4C6C0851EE50}"/>
              </a:ext>
            </a:extLst>
          </p:cNvPr>
          <p:cNvSpPr>
            <a:spLocks noGrp="1"/>
          </p:cNvSpPr>
          <p:nvPr/>
        </p:nvSpPr>
        <p:spPr>
          <a:xfrm>
            <a:off x="2286000" y="2990850"/>
            <a:ext cx="3429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63BF4-4BC7-496F-B637-DE1AF010EDF9}"/>
              </a:ext>
            </a:extLst>
          </p:cNvPr>
          <p:cNvSpPr>
            <a:spLocks noGrp="1"/>
          </p:cNvSpPr>
          <p:nvPr/>
        </p:nvSpPr>
        <p:spPr>
          <a:xfrm>
            <a:off x="2343150" y="303847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NVARCHAR(150)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F9D60-9F87-421A-BADE-504B4B2A1D83}"/>
              </a:ext>
            </a:extLst>
          </p:cNvPr>
          <p:cNvSpPr>
            <a:spLocks noGrp="1"/>
          </p:cNvSpPr>
          <p:nvPr/>
        </p:nvSpPr>
        <p:spPr>
          <a:xfrm>
            <a:off x="5715000" y="2990850"/>
            <a:ext cx="238125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DC4780-46ED-476C-AE12-D7CC5EE714BF}"/>
              </a:ext>
            </a:extLst>
          </p:cNvPr>
          <p:cNvSpPr>
            <a:spLocks noGrp="1"/>
          </p:cNvSpPr>
          <p:nvPr/>
        </p:nvSpPr>
        <p:spPr>
          <a:xfrm>
            <a:off x="5772150" y="303847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NOT NULL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D4D325-3478-44E3-8A00-7390086B5E69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180975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FB7FF2-56AE-4D60-83D5-75AB5940F35F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заглавие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5DA04-6678-4A0E-A991-4ECF4A665E16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1E474-E71B-47AE-A3AA-CF1836947D83}"/>
              </a:ext>
            </a:extLst>
          </p:cNvPr>
          <p:cNvSpPr>
            <a:spLocks noGrp="1"/>
          </p:cNvSpPr>
          <p:nvPr/>
        </p:nvSpPr>
        <p:spPr>
          <a:xfrm>
            <a:off x="1200150" y="35909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6D821-3038-4AAA-B9B1-B907F7EE031E}"/>
              </a:ext>
            </a:extLst>
          </p:cNvPr>
          <p:cNvSpPr>
            <a:spLocks noGrp="1"/>
          </p:cNvSpPr>
          <p:nvPr/>
        </p:nvSpPr>
        <p:spPr>
          <a:xfrm>
            <a:off x="2286000" y="35433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E1E2DC-6FD5-407C-A9B0-04EA7D7864F8}"/>
              </a:ext>
            </a:extLst>
          </p:cNvPr>
          <p:cNvSpPr>
            <a:spLocks noGrp="1"/>
          </p:cNvSpPr>
          <p:nvPr/>
        </p:nvSpPr>
        <p:spPr>
          <a:xfrm>
            <a:off x="2343150" y="35909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NVARCHAR(100)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439EE1-9B2C-4062-BE7B-D81F898CDBE7}"/>
              </a:ext>
            </a:extLst>
          </p:cNvPr>
          <p:cNvSpPr>
            <a:spLocks noGrp="1"/>
          </p:cNvSpPr>
          <p:nvPr/>
        </p:nvSpPr>
        <p:spPr>
          <a:xfrm>
            <a:off x="5715000" y="35433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A62EF4-28F6-4A1B-B19C-3BB056CB0E73}"/>
              </a:ext>
            </a:extLst>
          </p:cNvPr>
          <p:cNvSpPr>
            <a:spLocks noGrp="1"/>
          </p:cNvSpPr>
          <p:nvPr/>
        </p:nvSpPr>
        <p:spPr>
          <a:xfrm>
            <a:off x="5772150" y="35909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NOT 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3D1C0B-C9D4-4310-9C36-20AA89718FE6}"/>
              </a:ext>
            </a:extLst>
          </p:cNvPr>
          <p:cNvSpPr>
            <a:spLocks noGrp="1"/>
          </p:cNvSpPr>
          <p:nvPr/>
        </p:nvSpPr>
        <p:spPr>
          <a:xfrm>
            <a:off x="8096250" y="3543300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0CAC24-5E7B-4C13-B6CC-195F5407270A}"/>
              </a:ext>
            </a:extLst>
          </p:cNvPr>
          <p:cNvSpPr>
            <a:spLocks noGrp="1"/>
          </p:cNvSpPr>
          <p:nvPr/>
        </p:nvSpPr>
        <p:spPr>
          <a:xfrm>
            <a:off x="8153400" y="35909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автор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42407-3E2F-4A98-B2B6-3C8A27DF1128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PublishedYear, Price, IsAvailable</a:t>
            </a:r>
          </a:p>
        </p:txBody>
      </p:sp>
    </p:spTree>
    <p:extLst>
      <p:ext uri="{BB962C8B-B14F-4D97-AF65-F5344CB8AC3E}">
        <p14:creationId xmlns:p14="http://schemas.microsoft.com/office/powerpoint/2010/main" val="36960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ИЗБОР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Типове за останалите колони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PublishedYear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SMALLINT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DECIMAL(8,2)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IsAvailable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BIT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Title / Author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NVARCHAR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NVARCHAR пази кирилица; DECIMAL пази точни цени.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53826E-E4E5-4CFD-8F80-B59C07D55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71DE5-61E4-459E-B2FE-AE2CA518FC1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C516E-CB29-43DE-B768-700B9726F01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Правила, които пазят качеството на данните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A236D0-6BFE-482C-A9CE-2CA6F1E6523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641E1-8E45-43E5-9FE2-CC0A151D60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905E0-3382-4928-87F4-B7100EA85F2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B4752-D19F-4DF6-B215-E74688DA8AA5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17CEE-0902-45F7-9C6F-C43188A428BA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82E79-1A66-4386-AADE-18C526A1B248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KEY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5C686-F7D0-4397-920B-32CE36EF63E4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Уникално идентифицира всеки ред.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BookId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69449A-49F8-4476-BCCE-456A48B46CB2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E750B2-2EB4-4417-A2E5-C6CD094C2334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95343-210F-4D88-8705-3EB171522754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NOT NULL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FB23-BE73-4FC5-93C9-76EDF1EB6B92}"/>
              </a:ext>
            </a:extLst>
          </p:cNvPr>
          <p:cNvSpPr>
            <a:spLocks noGrp="1"/>
          </p:cNvSpPr>
          <p:nvPr/>
        </p:nvSpPr>
        <p:spPr>
          <a:xfrm>
            <a:off x="491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Задължава въвеждането на стойност.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Title и Author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CFDF4-B6CE-40EB-99FC-50704C6EE2C5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79593-241F-4AFA-AF03-E0B01A1019BA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165E8-F324-4B01-A1BF-EFE1AC07541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DEFAULT / CHECK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04607-6165-44DB-A7D8-EF0D9B8B47A2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DEFAULT дава начална стойност.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CHECK проверява условие.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C451CD-6042-4888-BA8E-ED2A8937F6C7}"/>
              </a:ext>
            </a:extLst>
          </p:cNvPr>
          <p:cNvSpPr>
            <a:spLocks noGrp="1"/>
          </p:cNvSpPr>
          <p:nvPr/>
        </p:nvSpPr>
        <p:spPr>
          <a:xfrm>
            <a:off x="371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24F72A1-346F-4228-9704-C6FDE20075D3}"/>
              </a:ext>
            </a:extLst>
          </p:cNvPr>
          <p:cNvSpPr>
            <a:spLocks noGrp="1"/>
          </p:cNvSpPr>
          <p:nvPr/>
        </p:nvSpPr>
        <p:spPr>
          <a:xfrm rot="5400000">
            <a:off x="453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00662A2-6447-4FFB-9C77-55899076E8BE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AC5C493-94F5-42FF-8A3B-B89574F89D66}"/>
              </a:ext>
            </a:extLst>
          </p:cNvPr>
          <p:cNvSpPr>
            <a:spLocks noGrp="1"/>
          </p:cNvSpPr>
          <p:nvPr/>
        </p:nvSpPr>
        <p:spPr>
          <a:xfrm rot="5400000">
            <a:off x="834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B510B3-4B83-437B-9565-AFE62FC1A1E9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Ограниченията се проверяват при INSERT и UPDATE.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5716AA-2C73-4FF9-9E5B-049FE793B3A4}"/>
              </a:ext>
            </a:extLst>
          </p:cNvPr>
          <p:cNvSpPr>
            <a:spLocks noGrp="1"/>
          </p:cNvSpPr>
          <p:nvPr/>
        </p:nvSpPr>
        <p:spPr>
          <a:xfrm>
            <a:off x="4629150" y="5638800"/>
            <a:ext cx="2933700" cy="32385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72002-4086-4A38-9A3A-2968AB412A7B}"/>
              </a:ext>
            </a:extLst>
          </p:cNvPr>
          <p:cNvSpPr>
            <a:spLocks noGrp="1"/>
          </p:cNvSpPr>
          <p:nvPr/>
        </p:nvSpPr>
        <p:spPr>
          <a:xfrm>
            <a:off x="4705350" y="56578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Правилата са част от структурата</a:t>
            </a:r>
          </a:p>
        </p:txBody>
      </p:sp>
    </p:spTree>
    <p:extLst>
      <p:ext uri="{BB962C8B-B14F-4D97-AF65-F5344CB8AC3E}">
        <p14:creationId xmlns:p14="http://schemas.microsoft.com/office/powerpoint/2010/main" val="18598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ИДЕНТИФИКАТОР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KEY и IDENTITY изпълняват различни роли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KEY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уникалност на реда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допуска повторение</a:t>
            </a:r>
          </a:p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допуска NULL</a:t>
            </a:r>
          </a:p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Използва се за връзки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IDENTITY(1,1)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автоматична номерация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Начална стойност: 1</a:t>
            </a:r>
          </a:p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Стъпка: 1</a:t>
            </a:r>
          </a:p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SQL Server попълва Id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0315"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работят заедно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3A3264C-BA5F-4505-B523-E332D926B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C486D-479C-466A-9040-7F7651E2890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СРЕДА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420CF-F2AA-438B-A0F9-C663EF8D52B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Работа в Query Editor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C8B4A26-BBF1-4968-8868-AF9B72FC066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1CC4A-AB84-4095-9346-01485E774F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F8B44-EF17-48A6-8194-92CE8E40B8B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B46C51-4A86-4F6B-B278-9AF6EA70969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9C608D-2CDF-455E-BDCE-B9BEF98689DC}"/>
              </a:ext>
            </a:extLst>
          </p:cNvPr>
          <p:cNvSpPr>
            <a:spLocks noGrp="1"/>
          </p:cNvSpPr>
          <p:nvPr/>
        </p:nvSpPr>
        <p:spPr>
          <a:xfrm>
            <a:off x="8763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2DBB-5756-45B0-B300-908CD9046A8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Database 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473A3-BFB0-45CF-907F-20734402ABD7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438400" cy="2857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Изберете SchoolLibraryPractice или изпълнете USE SchoolLibraryPractice.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48297E-DED2-4544-A0F0-EA4B0CF67336}"/>
              </a:ext>
            </a:extLst>
          </p:cNvPr>
          <p:cNvSpPr>
            <a:spLocks noGrp="1"/>
          </p:cNvSpPr>
          <p:nvPr/>
        </p:nvSpPr>
        <p:spPr>
          <a:xfrm>
            <a:off x="3810000" y="1762125"/>
            <a:ext cx="76962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72FBA-F6C0-4B1E-82CC-FD31B68EE016}"/>
              </a:ext>
            </a:extLst>
          </p:cNvPr>
          <p:cNvSpPr>
            <a:spLocks noGrp="1"/>
          </p:cNvSpPr>
          <p:nvPr/>
        </p:nvSpPr>
        <p:spPr>
          <a:xfrm>
            <a:off x="40005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DC450D-9EB2-4626-9891-79E8408CC442}"/>
              </a:ext>
            </a:extLst>
          </p:cNvPr>
          <p:cNvSpPr>
            <a:spLocks noGrp="1"/>
          </p:cNvSpPr>
          <p:nvPr/>
        </p:nvSpPr>
        <p:spPr>
          <a:xfrm>
            <a:off x="40767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Query Editor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CC937-8F5E-443D-9032-DC32D7980E1B}"/>
              </a:ext>
            </a:extLst>
          </p:cNvPr>
          <p:cNvSpPr>
            <a:spLocks noGrp="1"/>
          </p:cNvSpPr>
          <p:nvPr/>
        </p:nvSpPr>
        <p:spPr>
          <a:xfrm>
            <a:off x="4019550" y="2447925"/>
            <a:ext cx="7277100" cy="19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10000"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Пишете командите, маркирайте нужната част и натиснете Execute или F5.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C1CF7A-F6C3-470C-AA25-FE1EB1DA1D4A}"/>
              </a:ext>
            </a:extLst>
          </p:cNvPr>
          <p:cNvSpPr>
            <a:spLocks noGrp="1"/>
          </p:cNvSpPr>
          <p:nvPr/>
        </p:nvSpPr>
        <p:spPr>
          <a:xfrm>
            <a:off x="3810000" y="2838450"/>
            <a:ext cx="7696200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CC94AE-C88F-4F35-A64A-EBC7140D9E81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9FC8A8-E296-4E47-B5FE-73A06B4F4965}"/>
              </a:ext>
            </a:extLst>
          </p:cNvPr>
          <p:cNvSpPr>
            <a:spLocks noGrp="1"/>
          </p:cNvSpPr>
          <p:nvPr/>
        </p:nvSpPr>
        <p:spPr>
          <a:xfrm>
            <a:off x="4076700" y="3028950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Results / Messages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F5B92-F362-4173-9CAE-CCA79B5963B0}"/>
              </a:ext>
            </a:extLst>
          </p:cNvPr>
          <p:cNvSpPr>
            <a:spLocks noGrp="1"/>
          </p:cNvSpPr>
          <p:nvPr/>
        </p:nvSpPr>
        <p:spPr>
          <a:xfrm>
            <a:off x="4019550" y="3524250"/>
            <a:ext cx="7277100" cy="17811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Results показва редове. Messages показва успех или описание на грешка.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6DE809-F484-47B4-8C80-0BF8BA792FB2}"/>
              </a:ext>
            </a:extLst>
          </p:cNvPr>
          <p:cNvSpPr>
            <a:spLocks noGrp="1"/>
          </p:cNvSpPr>
          <p:nvPr/>
        </p:nvSpPr>
        <p:spPr>
          <a:xfrm>
            <a:off x="695325" y="5762625"/>
            <a:ext cx="10810875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Execute проверявайте избраната база данни</a:t>
            </a:r>
          </a:p>
        </p:txBody>
      </p:sp>
    </p:spTree>
    <p:extLst>
      <p:ext uri="{BB962C8B-B14F-4D97-AF65-F5344CB8AC3E}">
        <p14:creationId xmlns:p14="http://schemas.microsoft.com/office/powerpoint/2010/main" val="116395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Създаване и избор на учебната база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Query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DATABASE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базата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7826"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DATABASE SchoolLibraryPractice; след това USE SchoolLibraryPractice;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GO отделя пакетите, изпратени към SQL Server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CREATE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Пълна дефиниция на Books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9657"/>
          </a:bodyPr>
          <a:lstStyle/>
          <a:p>
            <a:pPr algn="l">
              <a:buNone/>
              <a:defRPr sz="1275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CREATE TABLE dbo.Books (</a:t>
            </a:r>
          </a:p>
          <a:p>
            <a:pPr algn="l">
              <a:buNone/>
              <a:defRPr sz="1275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BookId INT IDENTITY(1,1) PRIMARY KEY,</a:t>
            </a:r>
          </a:p>
          <a:p>
            <a:pPr algn="l">
              <a:buNone/>
              <a:defRPr sz="1275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Title NVARCHAR(150) NOT NULL,</a:t>
            </a:r>
          </a:p>
          <a:p>
            <a:pPr algn="l">
              <a:buNone/>
              <a:defRPr sz="1275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Author NVARCHAR(100) NOT NULL,</a:t>
            </a:r>
          </a:p>
          <a:p>
            <a:pPr algn="l">
              <a:buNone/>
              <a:defRPr sz="1275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PublishedYear SMALLINT NULL,</a:t>
            </a:r>
          </a:p>
          <a:p>
            <a:pPr algn="l">
              <a:buNone/>
              <a:defRPr sz="1275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Price DECIMAL(8,2) CHECK (Price &gt;= 0),</a:t>
            </a:r>
          </a:p>
          <a:p>
            <a:pPr algn="l">
              <a:buNone/>
              <a:defRPr sz="1275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IsAvailable BIT NOT NULL DEFAULT 1</a:t>
            </a:r>
          </a:p>
          <a:p>
            <a:pPr algn="l">
              <a:buNone/>
              <a:defRPr sz="1275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 се изпълнява?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Изберете SchoolLibraryPractice.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Маркирайте целия CREATE TABLE.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Натиснете Execute или F5.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Очаквано съобщение: Command(s) completed successfully.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След изпълнение: Tables → Refresh → dbo.Books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РАЗЧИТАНЕ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задава CREATE TABLE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dbo.Books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dbo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Схемата групира обекти. Пълното име е dbo.Books.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8193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Колона: име + тип + правила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4876"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Всяка колона се отделя със запетая. Последната няма запетая.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Скобите съдържат всички дефиниции на колони.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39B79A-027C-4581-9742-B9155260B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348CF1-AC00-481F-A1CA-CBF6BCD8193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DD4F9-3594-47E8-B3D8-27CFC88CC24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Анатомия на команда за добавяне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3A10EA-D693-4E86-82F9-58F5962AE82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71F19-384C-46F3-949D-70F5B605B5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2DCE2-6A5C-4E21-BC64-50D6634675F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575A5-83DF-4631-AD05-6E9751DB7D60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C0B52-498A-48C5-A4FC-99980E9B5E6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42B15-5133-4663-B783-399FACCA64F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INSERT INTO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09746-FA38-4901-BCF6-5B2E53835F12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dbo.Books (Title, Author, PublishedYear, Price)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74A9B-3BD5-4C40-8786-6A3222185FD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D979C7-651C-4E18-ABBE-092FD2B88074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0C8D4-9804-4549-8044-779D2D19E066}"/>
              </a:ext>
            </a:extLst>
          </p:cNvPr>
          <p:cNvSpPr>
            <a:spLocks noGrp="1"/>
          </p:cNvSpPr>
          <p:nvPr/>
        </p:nvSpPr>
        <p:spPr>
          <a:xfrm>
            <a:off x="461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CD4E0-49E6-475E-A973-CDF7C78AA303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(N'Под игото', N'Иван Вазов', 1894, 18.50)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8DA79A-8CD5-48D7-B2E5-438D1FFB9CFA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CA59D7-BC25-4FD2-BDD6-6D08F71B5219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C6AB2-8259-438F-BEBD-891E584B9FCA}"/>
              </a:ext>
            </a:extLst>
          </p:cNvPr>
          <p:cNvSpPr>
            <a:spLocks noGrp="1"/>
          </p:cNvSpPr>
          <p:nvPr/>
        </p:nvSpPr>
        <p:spPr>
          <a:xfrm>
            <a:off x="82867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7AE8-AF48-4A36-99DF-6B2F1096DB8E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BookId не присъства: SQL Server го генерира.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B0999-FBEB-4214-8508-DBCF12BC625C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E007F0-0231-457A-A536-90814EDCF79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4C0AF-BE33-4140-A801-C332235E9880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UNICODE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B1682-627A-4B6A-9B3C-92C5305402B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N пред текста пази кирилицата.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0DE268-DABD-4C6E-B5F4-276AA8970CE9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6A3C51-F97B-4BD7-B582-5269548C92D8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7017C-DF99-4335-AE9B-C375FC960F30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1BC6E-5C29-4B59-8C69-3863DCF2B007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IsAvailable не присъства: получава стойност 1.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53E6B40-7AC5-478B-BBFE-597B08F1D543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EEF4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E45420-EE25-4D41-ACAF-FF2A9B7D02DC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83B56"/>
          </a:solidFill>
          <a:ln w="9525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B598F-10C7-4839-90E2-AB1A25553E2D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293929-D1B9-4271-8BC4-789ADCB8248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SELECT * FROM dbo.Books;</a:t>
            </a:r>
          </a:p>
        </p:txBody>
      </p:sp>
    </p:spTree>
    <p:extLst>
      <p:ext uri="{BB962C8B-B14F-4D97-AF65-F5344CB8AC3E}">
        <p14:creationId xmlns:p14="http://schemas.microsoft.com/office/powerpoint/2010/main" val="122719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B6FB310-E086-482D-BBC7-D21F87D90C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41D49-7B6B-40A9-863A-054634E4B3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РЕЗУЛТАТ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0C4D9-2744-477A-82C2-920DB37EDD8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 изглежда добавеният ред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18CACB-9887-4F98-B1A5-D864BEBA971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6A443-4D46-48E6-9A7C-EEA6BBB8D4C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F3E5-2949-4B15-9298-0D2E6E5CDAF4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AD3C7-9861-4089-B2B7-39AD3C9CE82D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429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9A038-474B-460B-BED2-CC73E7C9FDDA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352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B7C9A-0929-4165-A394-D854C7B97182}"/>
              </a:ext>
            </a:extLst>
          </p:cNvPr>
          <p:cNvSpPr>
            <a:spLocks noGrp="1"/>
          </p:cNvSpPr>
          <p:nvPr/>
        </p:nvSpPr>
        <p:spPr>
          <a:xfrm>
            <a:off x="4333875" y="1714500"/>
            <a:ext cx="31432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FA4F7-D226-4306-ABC9-4AE44AFBBF41}"/>
              </a:ext>
            </a:extLst>
          </p:cNvPr>
          <p:cNvSpPr>
            <a:spLocks noGrp="1"/>
          </p:cNvSpPr>
          <p:nvPr/>
        </p:nvSpPr>
        <p:spPr>
          <a:xfrm>
            <a:off x="4371975" y="1752600"/>
            <a:ext cx="30670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08DEF-515A-47D1-8316-0EF17737AE68}"/>
              </a:ext>
            </a:extLst>
          </p:cNvPr>
          <p:cNvSpPr>
            <a:spLocks noGrp="1"/>
          </p:cNvSpPr>
          <p:nvPr/>
        </p:nvSpPr>
        <p:spPr>
          <a:xfrm>
            <a:off x="7572375" y="1714500"/>
            <a:ext cx="3810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54C8A-A812-4086-BA3D-BD189B80EDD0}"/>
              </a:ext>
            </a:extLst>
          </p:cNvPr>
          <p:cNvSpPr>
            <a:spLocks noGrp="1"/>
          </p:cNvSpPr>
          <p:nvPr/>
        </p:nvSpPr>
        <p:spPr>
          <a:xfrm>
            <a:off x="7610475" y="1752600"/>
            <a:ext cx="3733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Получена стойност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C687A-A463-4640-8DDB-841E649343D9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2E08DC-ECE1-4EAD-96F3-B17FA1DDB3B4}"/>
              </a:ext>
            </a:extLst>
          </p:cNvPr>
          <p:cNvSpPr>
            <a:spLocks noGrp="1"/>
          </p:cNvSpPr>
          <p:nvPr/>
        </p:nvSpPr>
        <p:spPr>
          <a:xfrm>
            <a:off x="923925" y="23050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BookId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D00D5-5639-42D3-905D-A5CF51B3B38B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0DD20-8EF3-4D97-BDC8-C5037005E8EC}"/>
              </a:ext>
            </a:extLst>
          </p:cNvPr>
          <p:cNvSpPr>
            <a:spLocks noGrp="1"/>
          </p:cNvSpPr>
          <p:nvPr/>
        </p:nvSpPr>
        <p:spPr>
          <a:xfrm>
            <a:off x="4448175" y="23050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автоматично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64FDA7-50A9-4AE5-A06C-5E0E23995EE6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3DC7B-2751-420A-A25E-98AD468FEB2C}"/>
              </a:ext>
            </a:extLst>
          </p:cNvPr>
          <p:cNvSpPr>
            <a:spLocks noGrp="1"/>
          </p:cNvSpPr>
          <p:nvPr/>
        </p:nvSpPr>
        <p:spPr>
          <a:xfrm>
            <a:off x="7686675" y="23050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FDD860-7D22-40E7-B67D-86F3F0453E28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23CDF-6E7C-496A-88C5-3278887C5991}"/>
              </a:ext>
            </a:extLst>
          </p:cNvPr>
          <p:cNvSpPr>
            <a:spLocks noGrp="1"/>
          </p:cNvSpPr>
          <p:nvPr/>
        </p:nvSpPr>
        <p:spPr>
          <a:xfrm>
            <a:off x="923925" y="29146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DF706-931D-4519-9D6D-869B7FC6CE7A}"/>
              </a:ext>
            </a:extLst>
          </p:cNvPr>
          <p:cNvSpPr>
            <a:spLocks noGrp="1"/>
          </p:cNvSpPr>
          <p:nvPr/>
        </p:nvSpPr>
        <p:spPr>
          <a:xfrm>
            <a:off x="4333875" y="28479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EE63A3-94FF-40D3-BAFE-AE7C4A716DDA}"/>
              </a:ext>
            </a:extLst>
          </p:cNvPr>
          <p:cNvSpPr>
            <a:spLocks noGrp="1"/>
          </p:cNvSpPr>
          <p:nvPr/>
        </p:nvSpPr>
        <p:spPr>
          <a:xfrm>
            <a:off x="4448175" y="29146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„Под игото“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7FEC-0172-4B6B-BEA8-4A32BDE0E230}"/>
              </a:ext>
            </a:extLst>
          </p:cNvPr>
          <p:cNvSpPr>
            <a:spLocks noGrp="1"/>
          </p:cNvSpPr>
          <p:nvPr/>
        </p:nvSpPr>
        <p:spPr>
          <a:xfrm>
            <a:off x="7572375" y="28479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177D33-3BF3-48F6-9811-DDAF1EEEEA43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NVARCHAR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BF9D1-781D-4706-BCFB-459E25E91B9E}"/>
              </a:ext>
            </a:extLst>
          </p:cNvPr>
          <p:cNvSpPr>
            <a:spLocks noGrp="1"/>
          </p:cNvSpPr>
          <p:nvPr/>
        </p:nvSpPr>
        <p:spPr>
          <a:xfrm>
            <a:off x="809625" y="34575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44A580-DE49-481F-AC9E-3A554561FB5B}"/>
              </a:ext>
            </a:extLst>
          </p:cNvPr>
          <p:cNvSpPr>
            <a:spLocks noGrp="1"/>
          </p:cNvSpPr>
          <p:nvPr/>
        </p:nvSpPr>
        <p:spPr>
          <a:xfrm>
            <a:off x="923925" y="35242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EDCE4-E675-4ED6-89C4-EE89DE6C6417}"/>
              </a:ext>
            </a:extLst>
          </p:cNvPr>
          <p:cNvSpPr>
            <a:spLocks noGrp="1"/>
          </p:cNvSpPr>
          <p:nvPr/>
        </p:nvSpPr>
        <p:spPr>
          <a:xfrm>
            <a:off x="4333875" y="34575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7D877A-1E1E-4A72-9A73-795B18C8C701}"/>
              </a:ext>
            </a:extLst>
          </p:cNvPr>
          <p:cNvSpPr>
            <a:spLocks noGrp="1"/>
          </p:cNvSpPr>
          <p:nvPr/>
        </p:nvSpPr>
        <p:spPr>
          <a:xfrm>
            <a:off x="4448175" y="35242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„Иван Вазов“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BF6AD0-5622-4E20-B47E-AF68C053014A}"/>
              </a:ext>
            </a:extLst>
          </p:cNvPr>
          <p:cNvSpPr>
            <a:spLocks noGrp="1"/>
          </p:cNvSpPr>
          <p:nvPr/>
        </p:nvSpPr>
        <p:spPr>
          <a:xfrm>
            <a:off x="7572375" y="34575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FD91-DA68-470D-88F7-5C10D6356555}"/>
              </a:ext>
            </a:extLst>
          </p:cNvPr>
          <p:cNvSpPr>
            <a:spLocks noGrp="1"/>
          </p:cNvSpPr>
          <p:nvPr/>
        </p:nvSpPr>
        <p:spPr>
          <a:xfrm>
            <a:off x="7686675" y="35242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NVARCHAR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51CD29-7D87-4D40-B805-65CB89BA8F87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1F56F-2C81-48A1-83E5-3C04EC3E1160}"/>
              </a:ext>
            </a:extLst>
          </p:cNvPr>
          <p:cNvSpPr>
            <a:spLocks noGrp="1"/>
          </p:cNvSpPr>
          <p:nvPr/>
        </p:nvSpPr>
        <p:spPr>
          <a:xfrm>
            <a:off x="923925" y="41338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F3A42-8ABB-4D53-B317-53C6B0C046AD}"/>
              </a:ext>
            </a:extLst>
          </p:cNvPr>
          <p:cNvSpPr>
            <a:spLocks noGrp="1"/>
          </p:cNvSpPr>
          <p:nvPr/>
        </p:nvSpPr>
        <p:spPr>
          <a:xfrm>
            <a:off x="4333875" y="40671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001BE5-4980-4BC3-8848-86807AC23125}"/>
              </a:ext>
            </a:extLst>
          </p:cNvPr>
          <p:cNvSpPr>
            <a:spLocks noGrp="1"/>
          </p:cNvSpPr>
          <p:nvPr/>
        </p:nvSpPr>
        <p:spPr>
          <a:xfrm>
            <a:off x="4448175" y="41338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18.50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276453-BA8E-4399-B7A6-CA3E81EF21C2}"/>
              </a:ext>
            </a:extLst>
          </p:cNvPr>
          <p:cNvSpPr>
            <a:spLocks noGrp="1"/>
          </p:cNvSpPr>
          <p:nvPr/>
        </p:nvSpPr>
        <p:spPr>
          <a:xfrm>
            <a:off x="7572375" y="40671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C907B7-AD0B-4F27-A463-D984CE51F811}"/>
              </a:ext>
            </a:extLst>
          </p:cNvPr>
          <p:cNvSpPr>
            <a:spLocks noGrp="1"/>
          </p:cNvSpPr>
          <p:nvPr/>
        </p:nvSpPr>
        <p:spPr>
          <a:xfrm>
            <a:off x="7686675" y="41338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DECIMAL(8,2)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F14221-6FD1-4773-88F9-BFD529AA0142}"/>
              </a:ext>
            </a:extLst>
          </p:cNvPr>
          <p:cNvSpPr>
            <a:spLocks noGrp="1"/>
          </p:cNvSpPr>
          <p:nvPr/>
        </p:nvSpPr>
        <p:spPr>
          <a:xfrm>
            <a:off x="809625" y="46767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8B2082-712A-45E3-A1E4-5EF71B261E06}"/>
              </a:ext>
            </a:extLst>
          </p:cNvPr>
          <p:cNvSpPr>
            <a:spLocks noGrp="1"/>
          </p:cNvSpPr>
          <p:nvPr/>
        </p:nvSpPr>
        <p:spPr>
          <a:xfrm>
            <a:off x="923925" y="47434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IsAvailable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D5BFED-9F3F-43E7-A030-9D2DED976832}"/>
              </a:ext>
            </a:extLst>
          </p:cNvPr>
          <p:cNvSpPr>
            <a:spLocks noGrp="1"/>
          </p:cNvSpPr>
          <p:nvPr/>
        </p:nvSpPr>
        <p:spPr>
          <a:xfrm>
            <a:off x="4333875" y="46767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2DC9A-019B-44BB-AF7A-8A3BBD49C94B}"/>
              </a:ext>
            </a:extLst>
          </p:cNvPr>
          <p:cNvSpPr>
            <a:spLocks noGrp="1"/>
          </p:cNvSpPr>
          <p:nvPr/>
        </p:nvSpPr>
        <p:spPr>
          <a:xfrm>
            <a:off x="4448175" y="47434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не е подадено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4007C5-2A98-4935-92DE-9A69613D6738}"/>
              </a:ext>
            </a:extLst>
          </p:cNvPr>
          <p:cNvSpPr>
            <a:spLocks noGrp="1"/>
          </p:cNvSpPr>
          <p:nvPr/>
        </p:nvSpPr>
        <p:spPr>
          <a:xfrm>
            <a:off x="7572375" y="46767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D806A0-E173-4A0C-8841-479FED0E46DF}"/>
              </a:ext>
            </a:extLst>
          </p:cNvPr>
          <p:cNvSpPr>
            <a:spLocks noGrp="1"/>
          </p:cNvSpPr>
          <p:nvPr/>
        </p:nvSpPr>
        <p:spPr>
          <a:xfrm>
            <a:off x="7686675" y="47434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1 от DEFAULT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7B9030-0D6B-4446-A481-FA7F50161A82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Списъкът с колони в INSERT трябва да съответства по ред на стойностите във VALUES.</a:t>
            </a:r>
          </a:p>
        </p:txBody>
      </p:sp>
    </p:spTree>
    <p:extLst>
      <p:ext uri="{BB962C8B-B14F-4D97-AF65-F5344CB8AC3E}">
        <p14:creationId xmlns:p14="http://schemas.microsoft.com/office/powerpoint/2010/main" val="111767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5E7753-B6B9-4AF0-8BE8-1150AF35B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54E4B-7B36-4558-B690-5978CA88918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САМОСТОЯТЕЛНА РАБОТА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F3494-4E42-4D03-AA05-618F3FC97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Практическа задача: Books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2472259-3BD5-4265-8D2E-4434D2E1E97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6C6E4-2C4F-46A7-B488-FBDC02B173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C14ED-8937-40EA-B873-5A16F51D740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22A1B-7DED-4D6B-AF15-64AB709C5D84}"/>
              </a:ext>
            </a:extLst>
          </p:cNvPr>
          <p:cNvSpPr>
            <a:spLocks noGrp="1"/>
          </p:cNvSpPr>
          <p:nvPr/>
        </p:nvSpPr>
        <p:spPr>
          <a:xfrm>
            <a:off x="9620250" y="695325"/>
            <a:ext cx="1381125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DB604-D5A3-49EA-9C99-9E932A3EA77E}"/>
              </a:ext>
            </a:extLst>
          </p:cNvPr>
          <p:cNvSpPr>
            <a:spLocks noGrp="1"/>
          </p:cNvSpPr>
          <p:nvPr/>
        </p:nvSpPr>
        <p:spPr>
          <a:xfrm>
            <a:off x="9696450" y="714375"/>
            <a:ext cx="12287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минути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707733-A7C5-4353-9BA5-5EB1ADC58419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946E-B0CE-40E2-9B0F-1BB88208451B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16F93-A230-48FA-AACE-9F37BFAA3254}"/>
              </a:ext>
            </a:extLst>
          </p:cNvPr>
          <p:cNvSpPr>
            <a:spLocks noGrp="1"/>
          </p:cNvSpPr>
          <p:nvPr/>
        </p:nvSpPr>
        <p:spPr>
          <a:xfrm>
            <a:off x="1476375" y="15525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Изпълнете CREATE TABLE за dbo.Books.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0DAC0F-85A8-45F6-9102-0A732F0726C1}"/>
              </a:ext>
            </a:extLst>
          </p:cNvPr>
          <p:cNvSpPr>
            <a:spLocks noGrp="1"/>
          </p:cNvSpPr>
          <p:nvPr/>
        </p:nvSpPr>
        <p:spPr>
          <a:xfrm>
            <a:off x="809625" y="23145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6B5BE-D5B4-4132-A7AF-3D7787A4263B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D6871-78DD-4B88-89ED-71E8C5D5BF0F}"/>
              </a:ext>
            </a:extLst>
          </p:cNvPr>
          <p:cNvSpPr>
            <a:spLocks noGrp="1"/>
          </p:cNvSpPr>
          <p:nvPr/>
        </p:nvSpPr>
        <p:spPr>
          <a:xfrm>
            <a:off x="1476375" y="22955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Добавете „Под игото“ с единичен INSERT.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C4724D-3A48-48BB-91A8-D22630AD9BE1}"/>
              </a:ext>
            </a:extLst>
          </p:cNvPr>
          <p:cNvSpPr>
            <a:spLocks noGrp="1"/>
          </p:cNvSpPr>
          <p:nvPr/>
        </p:nvSpPr>
        <p:spPr>
          <a:xfrm>
            <a:off x="809625" y="30575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646CA-E0B3-4CD7-B586-B88F641CAC61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5DFD0-E2A5-408A-85B3-994B7ACEF5EB}"/>
              </a:ext>
            </a:extLst>
          </p:cNvPr>
          <p:cNvSpPr>
            <a:spLocks noGrp="1"/>
          </p:cNvSpPr>
          <p:nvPr/>
        </p:nvSpPr>
        <p:spPr>
          <a:xfrm>
            <a:off x="1476375" y="30384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Добавете още две книги с един INSERT и три VALUES реда.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48DF82-3D93-45EB-81D4-59B2EDA30872}"/>
              </a:ext>
            </a:extLst>
          </p:cNvPr>
          <p:cNvSpPr>
            <a:spLocks noGrp="1"/>
          </p:cNvSpPr>
          <p:nvPr/>
        </p:nvSpPr>
        <p:spPr>
          <a:xfrm>
            <a:off x="809625" y="38004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080E6-AFE9-4DE2-9EA9-FA3FD91401C4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9FC623-08F1-4E28-8754-E954BC1C1D5D}"/>
              </a:ext>
            </a:extLst>
          </p:cNvPr>
          <p:cNvSpPr>
            <a:spLocks noGrp="1"/>
          </p:cNvSpPr>
          <p:nvPr/>
        </p:nvSpPr>
        <p:spPr>
          <a:xfrm>
            <a:off x="1476375" y="37814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Изпълнете SELECT * FROM dbo.Books.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5C3A93-09D6-41AF-A506-08044C6CE75C}"/>
              </a:ext>
            </a:extLst>
          </p:cNvPr>
          <p:cNvSpPr>
            <a:spLocks noGrp="1"/>
          </p:cNvSpPr>
          <p:nvPr/>
        </p:nvSpPr>
        <p:spPr>
          <a:xfrm>
            <a:off x="809625" y="4543425"/>
            <a:ext cx="476250" cy="476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550FF-3668-49C3-9B1F-8F351D819952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C86BA-9C44-4C40-AF00-A01EB3B164AD}"/>
              </a:ext>
            </a:extLst>
          </p:cNvPr>
          <p:cNvSpPr>
            <a:spLocks noGrp="1"/>
          </p:cNvSpPr>
          <p:nvPr/>
        </p:nvSpPr>
        <p:spPr>
          <a:xfrm>
            <a:off x="1476375" y="45243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Проверете BookId и стойността по подразбиране на IsAvailable.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538A46-0921-4B8A-A544-DE76CF3416FB}"/>
              </a:ext>
            </a:extLst>
          </p:cNvPr>
          <p:cNvSpPr>
            <a:spLocks noGrp="1"/>
          </p:cNvSpPr>
          <p:nvPr/>
        </p:nvSpPr>
        <p:spPr>
          <a:xfrm>
            <a:off x="1476375" y="5381625"/>
            <a:ext cx="9334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9525">
            <a:solidFill>
              <a:srgbClr val="B7E9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FE0B80-FC31-4518-A90E-4E25834286D8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9535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Работете само в SchoolLibraryPractice и четете Messages след Execute.</a:t>
            </a:r>
          </a:p>
        </p:txBody>
      </p:sp>
    </p:spTree>
    <p:extLst>
      <p:ext uri="{BB962C8B-B14F-4D97-AF65-F5344CB8AC3E}">
        <p14:creationId xmlns:p14="http://schemas.microsoft.com/office/powerpoint/2010/main" val="59476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Чести грешки при CREATE TABLE и INSERT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There is already an object named 'Books'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Таблицата вече съществува. Не изпълнявайте CREATE TABLE повторно.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Invalid object name 'dbo.Books'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избраната база и дали таблицата е създадена.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2855"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Column name or number of supplied values...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Броят и редът на колоните трябва да съвпадат със VALUES.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Cannot insert the value NULL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Липсва стойност за колона с NOT NULL без DEFAULT.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ПЪЛЕН ПРИМЕР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Добавяне на няколко книги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INSERT INTO dbo.Books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(Title, Author, PublishedYear, Price)</a:t>
            </a:r>
          </a:p>
          <a:p>
            <a:pPr algn="l"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VALUES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(N'Бай Ганьо', N'Алеко Константинов', 1895, 15.90),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(N'Немили-недраги', N'Иван Вазов', 1883, 12.50);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endParaRPr sz="150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SELECT * FROM dbo.Books;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Execute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името на таблицата и съответствието между колони и стойности.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След Execute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В Results трябва да се появят всички добавени книги.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1439"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Първо четем командата, след това я изпълняваме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Край на първия учебен час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Какво описва една колона?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Защо използваме NVARCHAR за български текст?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Какво прави IDENTITY(1,1)?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Защо BookId липсва в INSERT?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Как проверяваме добавените записи?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Следва: подреждане и генериране на повторно използваем SQL скрипт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II учебен час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3103"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скриптове и основни команди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Пакети, GO, Generate Scripts и безопасно изпълнение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Цели на втория учебен час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Различавам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DDL, DML и заявки за извличане на данни.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Разчитам скрипт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Разпознавам база, пакети, команди и зависимости.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Генерирам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Създавам скрипт на база или избрани таблици чрез SSMS.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Първа част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Команди, пакети и структура на скрипт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Втора част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Generate Scripts, изпълнение и проверка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ГРУПИ КОМАНДИ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Основни SQL команди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DDL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Променя структурата: CREATE, ALTER, DROP.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DML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Променя данните: INSERT, UPDATE, DELETE.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ЗАЯВКИ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Извлича данни: SELECT с избрани колони и условия.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резултат</a:t>
            </a:r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ПАКЕТИ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 разделя скрипта на пакети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USE SchoolLibraryPractice;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endParaRPr sz="150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SELECT * FROM dbo.Books;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прави GO?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SSMS изпраща предходния пакет към SQL Server. GO се разпознава от клиентския инструмент.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Командите преди GO образуват един пакет.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GO не е самостоятелна T-SQL команда.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Подредба на четим SQL скрипт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 и коментар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6247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Избор или създаване на база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5232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 между зависими пакети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DDL: CREATE / ALTER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DML и SELECT за проверка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Коментар: -- Създаване на таблица Books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3563"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Скриптът следва зависимостите: база, таблица, данни,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SSMS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Generate Scripts Wizard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десен бутон върху базата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Generate Scripts…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 Objects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Set Scripting Options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Изберете конкретни таблици или Script entire database.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Прегледайте Summary преди Finish.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НАСТРОЙКИ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Къде и как да се запази скриптът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Query Window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удобно за преглед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Скриптът се отваря в Query Editor. Прочетете го преди изпълнение.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Save to file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подходящо за предаване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Запазете като .sql файл с ясно име и кодировка Unicode.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изход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ADVANCED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Schema only или Schema and data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Schema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4876"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Съдържа CREATE команди за структурата, без INSERT за редовете.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Schema and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1664"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Съдържа структурата и INSERT команди за наличните записи.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Настройка: Advanced → Types of data to script.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БЕЗОПАСНОСТ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Ефектът на основните команди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SELECT ... FROM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чете редове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INSERT INTO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добавя редове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UPDATE ... WHERE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променя избрани редове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DELETE ... WHERE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изтрива избрани редове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Бърз въпрос: какво се случва при UPDATE или DELETE без WHERE?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ЦЯЛОСТЕН СКРИПТ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Повторно използваем учебен пример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4688"/>
          </a:bodyPr>
          <a:lstStyle/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USE SchoolLibraryPractice;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>
            <a:endParaRPr sz="120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IF OBJECT_ID(N'dbo.Books', N'U') IS NULL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BEGIN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CREATE TABLE dbo.Books (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BookId INT IDENTITY(1,1) PRIMARY KEY,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Title NVARCHAR(150) NOT NULL,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Author NVARCHAR(100) NOT NULL,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Price DECIMAL(8,2) CHECK (Price &gt;= 0)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);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END;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endParaRPr sz="120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SELECT * FROM dbo.Books;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Execute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името на базата, обектите и командите с възможност за промяна.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След Execute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Прегледайте Messages и Results. После обновете Object Explorer.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1439"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Скриптовете се изпълняват първо в учебна или тестова база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Чести проблеми при SQL скриптове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Грешна база данни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USE или падащото меню сочи към друга база.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Обектът вече съществува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Използвайте проверка с OBJECT_ID или пропуснете CREATE.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Опасна команда без условие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UPDATE или DELETE без WHERE засяга всички редове.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7026"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Неподходящи Generate Scripts настройки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дали е избрано Schema only или Schema and data.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Изходен билет: 5 въпроса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Какво създава CREATE TABLE?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Каква е ролята на списъка с колони в INSERT?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Какво означава GO в SSMS?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Каква е разликата между Schema only и Schema and data?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Защо четем скрипта преди Execute?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Резултат: таблица Books, примерни записи и готов .sql скрипт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2751</Words>
  <Application>Microsoft Office PowerPoint</Application>
  <DocSecurity>0</DocSecurity>
  <PresentationFormat>Widescreen</PresentationFormat>
  <Paragraphs>487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2</cp:revision>
  <dcterms:created xsi:type="dcterms:W3CDTF">2026-09-23T18:34:35Z</dcterms:created>
  <dcterms:modified xsi:type="dcterms:W3CDTF">2026-09-23T18:47:22Z</dcterms:modified>
</cp:coreProperties>
</file>